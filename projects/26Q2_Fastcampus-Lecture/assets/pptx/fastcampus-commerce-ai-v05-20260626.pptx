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video" Target="../media/media-29-2.mp4"/><Relationship Id="rId3" Type="http://schemas.microsoft.com/office/2007/relationships/media" Target="../media/media-29-2.mp4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78992"/>
            <a:ext cx="548640" cy="411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FASTCAMPUS  ·  AI 실무 특강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실무 AI 적용 사례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커머스 Shopping Agent를 AI로 — 지표 분석부터 PRD·와이어프레임·프로토타입·데모 영상까지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4041648"/>
            <a:ext cx="7863840" cy="7315"/>
          </a:xfrm>
          <a:prstGeom prst="rect">
            <a:avLst/>
          </a:prstGeom>
          <a:solidFill>
            <a:srgbClr val="3A3A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FastCampus</a:t>
            </a:r>
            <a:pPr indent="0" marL="0">
              <a:buNone/>
            </a:pPr>
            <a:r>
              <a:rPr lang="en-US" sz="125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·   10주 과정 수강생 대상 실무 특강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4439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차성재</a:t>
            </a:r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—  패션 플랫폼 M사 Agentic AI PM · 시립대·아주대 AI부문 겸임교수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오늘의 여정 — 분석에서 구현까지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산업(커머스)의 지표·Agent 관점으로 신규 서비스를 직접 만들어본다.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81328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813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PART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4813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커머스 실무의 언어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0" y="14813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지표 → 유저 임팩트로 번역하는 노하우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048256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048256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0482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PART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0482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Agent 벤치마크 + 지면 전략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37760" y="20482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Alexa·Clova 비교 · Home/SRP/PLP/PDP 매트릭스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615184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615184"/>
            <a:ext cx="54864" cy="475488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61518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PART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26151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데이터로 검증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37760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mock 데이터로 코호트·퍼널·인사이트 분석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182112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182112"/>
            <a:ext cx="54864" cy="475488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1821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PART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31821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설계 → 구현 (Claude Code)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37760" y="31821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작성 노하우 → 와이어프레임 → 프로토타입 → 데모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749040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749040"/>
            <a:ext cx="54864" cy="47548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37490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PART 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28800" y="37490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정렬 — 한 PRD, 세 청중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937760" y="3749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디자이너·개발자·리더십을 이해시키는 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도구: Claude Desktop의 Claude Code  ·  데모 제품: Shopping Mate (독립 신규 Shopping Agent 앱)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이번 특강은 — 실무 적용 단계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개념이 아니라, 내 도메인에 바로 옮길 수 있는 워크플로우를 함께 만든다.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대상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10주 과정을 거의 다 소화한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실제 참여 수강생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트랙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마케팅/콘텐츠 · 로컬커머스/O2O · 문화/콘텐츠 · 에듀테크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EAF2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554480"/>
            <a:ext cx="54864" cy="23774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C9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이번 강의의 전환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개념 소개 →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실무 워크플로우 시연 + 직접 제작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점심 메이트 →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Shopping Mate (커머스 Agent)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만들기 →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지표 분석으로 ‘왜·무엇을’ 먼저 정의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도구 →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Desktop의 Claude Code 중심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데모는 커머스(Shopping Mate)로 통일하되, 마지막에 트랙별 응용 가이드로 내 도메인에 연결한다.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오늘의 핵심 — 하나를 끝까지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마지막 수업이니, 많이 보여주기보다 ‘당신이 다시 할 수 있게’에 집중합니다.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EAF2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" cy="23317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6824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C99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✓ 깊게 (Core)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048256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토큰 → 지면 전략 → 데이터 근거
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PRD → 시안 → 프로토타입·데모 → 정렬
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하나의 사례(Shopping Mate)를 끊김 없이.
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도구는 Claude Code 하나로 통일.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6824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○ 가져가기 (핸드아웃)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2048256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벤치마크 심화(Alexa/Clova 디테일)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리서치 정량·메트릭 출처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Confluence storage format 변환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트랙별 응용 전체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→ 덱(34장)·플레이북에 다 있습니다.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필요할 때 꺼내 쓰세요.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‘무엇을 안 다루는지’ 먼저 말하는 게 전문가입니다. 적게 가르치고, 확실히 가져가게.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548640" cy="411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179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spc="-50" kern="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커머스 실무의 언어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지표를 ‘유저가 느끼는 가치’로 번역하는 노하우 — 분석의 출발점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커머스 핵심 지표 지도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PM·마케터가 매일 보는 지표 — 무엇을 측정하고 왜 보는가.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지표</a:t>
                      </a:r>
                      <a:endParaRPr lang="en-US" sz="12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정의</a:t>
                      </a:r>
                      <a:endParaRPr lang="en-US" sz="12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왜 보는가</a:t>
                      </a:r>
                      <a:endParaRPr lang="en-US" sz="12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GMV</a:t>
                      </a:r>
                      <a:endParaRPr lang="en-US" sz="12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총 거래액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사업 규모·성장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전환율 (CVR)</a:t>
                      </a:r>
                      <a:endParaRPr lang="en-US" sz="12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방문 대비 구매 비율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퍼널 효율의 핵심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AOV (객단가)</a:t>
                      </a:r>
                      <a:endParaRPr lang="en-US" sz="12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주문당 평균 금액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수익성·번들/업셀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재구매율·리텐션</a:t>
                      </a:r>
                      <a:endParaRPr lang="en-US" sz="12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다시 사는 비율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LTV·정착(코호트)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장바구니 이탈률</a:t>
                      </a:r>
                      <a:endParaRPr lang="en-US" sz="12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담고 안 사는 비율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결제 마찰 진단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CAC · LTV</a:t>
                      </a:r>
                      <a:endParaRPr lang="en-US" sz="12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획득 비용 · 생애 가치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성장의 단위 경제성</a:t>
                      </a:r>
                      <a:endParaRPr lang="en-US" sz="12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지표는 ‘숫자’가 아니라 ‘질문’이다 — 이 숫자가 흔들리면 유저가 무엇을 못 느끼는가?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지표 → 유저 임팩트로 번역하기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숫자 한 줄을 ‘유저가 느끼는 가치’ 한 줄로 바꾸는 연습.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72768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727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전환율 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57276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57276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필요한 걸 빠르게 찾아 결정했다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139696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139696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1396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결정 시간 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13969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13969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고민·비교 피로가 줄었다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2706624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706624"/>
            <a:ext cx="54864" cy="475488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7066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장바구니 이탈 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27066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270662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‘왜 사야 하는지’ 근거가 분명했다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273552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273552"/>
            <a:ext cx="54864" cy="47548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재구매율 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327355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32735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지난 좋은 경험이 다음 구매로 이어졌다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 일: 지표 목표를 유저 가치 가설로 번역 → 그 가설을 검증할 기능을 설계한다.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무대: Shopping Agent라는 관점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‘검색·리스트’가 아니라 ‘의도 → 결정 근거’로 바꾸는 대화형 에이전트.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AS-IS — 검색·스크롤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1031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검색 → 수십 개 비교 → 리뷰 탐색 →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가격비교 → 보류/이탈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결정 근거가 머릿속에만 남고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세션에 휘발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EA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554480"/>
            <a:ext cx="54864" cy="23317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C99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TO-BE — Shopping Mate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21031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의도 입력 →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후보 3개로 압축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각 후보에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결정 근거(가격·리뷰요약·배송)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 → 담기,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근거 저장 → 재방문 복원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Shopping Mate = 독립 신규 Shopping Agent 앱 (쿠팡·Alexa·Clova는 벤치마크 레퍼런스).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548640" cy="411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179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spc="-50" kern="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Agent 벤치마크 분석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Amazon Alexa · Naver Clova · 리서치 기반 메트릭으로 비교 정의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벤치마크 ① Amazon Alexa for Shopping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음성 대화형 쇼핑 — 재주문·추천 중심.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544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입력/인터랙션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55448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음성 대화 (핸즈프리). 텍스트 보조.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57984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1579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강점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15798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재주문·정기구매·간편 추가에 최적 (반복 구매).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7614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약점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76148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음성 한계로 비교·결정 근거 제시가 약함.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36499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핵심 메트릭(추정)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36499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재주문율 · 음성 주문 성공률 · 활성 사용 빈도.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출처: 공개 자료·리서치 종합 (AI 구조화). 실제 수치는 강의 시 리서치 캡처로 보강.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벤치마크 ② Naver Clova Store Shopping Agent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한국 커머스 맥락 — 스토어 연계 추천.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544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입력/인터랙션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55448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음성/텍스트 + 네이버 스토어 생태계.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57984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1579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강점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15798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한국 커머스 맥락·스토어 상품·결제 연동.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7614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약점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76148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에이전트 ‘결정 근거 요약’의 일관성은 보통.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36499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핵심 메트릭(추정)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36499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스토어 전환 · 추천 클릭률 · 연동 구매.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출처: 공개 자료·리서치 종합 (AI 구조화). 실제 수치는 강의 시 리서치 캡처로 보강.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벤치마크 비교표 — 기능 × 메트릭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Alexa vs Clova vs Shopping Mate(목표) — 차별점을 표로 명확히 정의.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737360"/>
                <a:gridCol w="3200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관점</a:t>
                      </a:r>
                      <a:endParaRPr lang="en-US" sz="11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Alexa (Shopping)</a:t>
                      </a:r>
                      <a:endParaRPr lang="en-US" sz="11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Clova Store</a:t>
                      </a:r>
                      <a:endParaRPr lang="en-US" sz="11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Shopping Mate (목표)</a:t>
                      </a:r>
                      <a:endParaRPr lang="en-US" sz="11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입력</a:t>
                      </a:r>
                      <a:endParaRPr lang="en-US" sz="11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음성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음성/텍스트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텍스트 의도+조건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추천</a:t>
                      </a:r>
                      <a:endParaRPr lang="en-US" sz="11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재주문·추천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스토어 추천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의도기반 후보 3+근거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결정 근거</a:t>
                      </a:r>
                      <a:endParaRPr lang="en-US" sz="11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약함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보통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강함(가격·리뷰·배송)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한국 맥락</a:t>
                      </a:r>
                      <a:endParaRPr lang="en-US" sz="11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낮음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높음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높음(로켓·가격비교)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핵심 메트릭</a:t>
                      </a:r>
                      <a:endParaRPr lang="en-US" sz="11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재주문율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스토어 전환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상세→장바구니 CVR·결정시간</a:t>
                      </a:r>
                      <a:endParaRPr lang="en-US" sz="11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차별점 = ‘결정 근거 투명성 + 한국 커머스 맥락’ → 측정은 상세→장바구니 CVR·결정 시간으로.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리서치 기반 메트릭 가설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최신 리서치(구글 Deep Research)를 근거로 ‘Agent가 바라볼 메트릭’을 정의.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72768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7007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탐색 효율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13969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후보 압축률 · 결정 시간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 과부하 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572768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572768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3483864" y="17007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결정 품질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83864" y="213969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채택률 · 비교 사용률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83864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 기반 결정 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572768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1572768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17007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전환·유지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81344" y="213969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상세→장바구니 CVR · 재구매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행동·정착으로 연결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리서치 원본 캡처는 강의 시 인용 (assets/research/). 본 도표는 가설 정리를 AI로 시각화한 것.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지면별 Agent 활용 매트릭스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어느 지면에 무엇을 — 다 넣지 말고, 이탈·임팩트 큰 지면부터 1차 범위.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219456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지면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Agent 활용 가능성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핵심 메트릭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범위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Home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맥락 기반 선제 제안 (가격변동·지난 탐색)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홈→탐색 전환·알림 CTR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v2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SRP 검색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모호 질의 의도 보정·조건 제안·순위 근거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검색→클릭 CTR·0건율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1차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PLP 목록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후보 N→3 압축·나란히 비교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목록→상세·비교 사용률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1차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PDP 상세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리뷰 요약·조건 적합 이유·대안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상세→장바구니 CVR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1차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Cart·Checkout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 재확인·번들·이탈 복구·마찰 제거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결제 완료율·AOV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v2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Post 구매후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재구매 리마인드·CS 자동응대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재구매율·자동해결률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v2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Shopping Mate 1차 범위 = SRP·PLP·PDP. ‘다 하기’가 아니라 ‘이탈 큰 지면부터’가 실무.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지면별 시안 — 코드 기반 (Figma 아님)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시스템 토큰 기반 코드 시안. 각 지면의 파란 박스가 Agent 적용 지점.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04288" y="1371600"/>
            <a:ext cx="4535424" cy="2688336"/>
          </a:xfrm>
          <a:prstGeom prst="roundRect">
            <a:avLst>
              <a:gd name="adj" fmla="val 3401"/>
            </a:avLst>
          </a:prstGeom>
          <a:solidFill>
            <a:srgbClr val="F5F5F7"/>
          </a:solidFill>
          <a:ln w="12700">
            <a:solidFill>
              <a:srgbClr val="E8E8ED"/>
            </a:solidFill>
            <a:prstDash val="solid"/>
          </a:ln>
        </p:spPr>
      </p:sp>
      <p:pic>
        <p:nvPicPr>
          <p:cNvPr id="8" name="Image 0" descr="/Users/musinsa/smilechacha/ai-native-pm/projects/26Q2_Fastcampus-Lecture/assets/references/sm-surfaces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016" y="1481328"/>
            <a:ext cx="4315968" cy="2505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코드: workshop/shopping-mate/wireframes/surfaces.html  ·  Claude Code로 생성·갱신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548640" cy="411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179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spc="-50" kern="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데이터로 검증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mock 데이터로 코호트·퍼널·인사이트 분석 — 측정 로깅까지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mock 데이터 + 측정 로깅 설계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분석을 하려면 ‘무엇을 어디서 기록할지’부터 — 이벤트 로깅이 분석의 입력.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824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이벤트 로그 (User Flow 매핑)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agent_open → intent_submit → candidates_view → candidate_select → compare_view → add_to_cart → checkout → repurchase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743200"/>
            <a:ext cx="54864" cy="10058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712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코호트 분석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32186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가입 주차별 재구매 리텐션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37560" y="274320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2743200"/>
            <a:ext cx="54864" cy="1005840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6" name="Text 14"/>
          <p:cNvSpPr/>
          <p:nvPr/>
        </p:nvSpPr>
        <p:spPr>
          <a:xfrm>
            <a:off x="3483864" y="28712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퍼널 분석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83864" y="32186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open→checkout 단계별 이탈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274320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2743200"/>
            <a:ext cx="54864" cy="10058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28712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인사이트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1344" y="32186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최대 이탈 구간 → 개선 우선순위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mock 데이터셋·노트북은 analysis/ 에 생성 — 강의 중 Claude Code로 함께 분석한다.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코호트 · 퍼널 분석 (AI와 함께)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mock 데이터로 본 재구매 리텐션과 구매 퍼널 이탈 구간.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72768" y="1463040"/>
            <a:ext cx="5998464" cy="2779776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8E8ED"/>
            </a:solidFill>
            <a:prstDash val="solid"/>
          </a:ln>
        </p:spPr>
      </p:sp>
      <p:pic>
        <p:nvPicPr>
          <p:cNvPr id="8" name="Image 0" descr="/Users/musinsa/smilechacha/ai-native-pm/projects/26Q2_Fastcampus-Lecture/analysis/outputs/sm-cohort-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572768"/>
            <a:ext cx="5760720" cy="26023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최대 이탈 = 비교/상세 → 장바구니 구간. 결정 근거 카드를 상세 상단 고정 → A/B 가설.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인사이트 → 액션 (개선 우선순위)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분석은 ‘발견’이 아니라 ‘다음에 무엇을 만들지’로 끝나야 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비교/상세 이탈 −17%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5727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 결정 근거 카드를 상세 상단 고정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09560" y="1719072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249424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2494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W1 재구매 42→51%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2494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 구매 근거 저장 → 재방문 리마인드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09560" y="2395728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0066CC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F5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926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결정 시간 6.5분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9260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 후보 3개 압축 + 1줄 추천 이유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09560" y="3072384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F8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우선순위가 다음 단계 PRD의 핵심 스코프가 된다.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548640" cy="411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179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spc="-50" kern="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설계 → 구현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토큰 → PRD → 와이어프레임 → 프로토타입 → 데모 (with Claude Code)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먼저, 디자인 토큰부터 — 웹 claude-design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코딩 없이 웹에서 디자인 토큰 폴더를 만들어 다운로드 → Claude Code로 코드화.</a:t>
            </a:r>
            <a:endParaRPr lang="en-US" sz="1200" dirty="0"/>
          </a:p>
        </p:txBody>
      </p:sp>
      <p:pic>
        <p:nvPicPr>
          <p:cNvPr id="7" name="Image 0" descr="/Users/musinsa/smilechacha/ai-native-pm/projects/26Q2_Fastcampus-Lecture/assets/references/getdesignmd-download-high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4206240" cy="2633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330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getdesign.md — Download DESIGN.md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0" y="1517904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0" y="1517904"/>
            <a:ext cx="54864" cy="7315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1" name="Text 8"/>
          <p:cNvSpPr/>
          <p:nvPr/>
        </p:nvSpPr>
        <p:spPr>
          <a:xfrm>
            <a:off x="5193792" y="15910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① 웹에서 고르기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93792" y="1901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getdesign.md에서 원하는 디자인 선택 (예: apple)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0" y="2359152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</p:sp>
      <p:sp>
        <p:nvSpPr>
          <p:cNvPr id="14" name="Shape 11"/>
          <p:cNvSpPr/>
          <p:nvPr/>
        </p:nvSpPr>
        <p:spPr>
          <a:xfrm>
            <a:off x="5029200" y="2359152"/>
            <a:ext cx="54864" cy="7315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5" name="Text 12"/>
          <p:cNvSpPr/>
          <p:nvPr/>
        </p:nvSpPr>
        <p:spPr>
          <a:xfrm>
            <a:off x="5193792" y="2432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② 다운로드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93792" y="27432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Download DESIGN.md / 토큰 폴더 → 작업 폴더에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320040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</p:sp>
      <p:sp>
        <p:nvSpPr>
          <p:cNvPr id="18" name="Shape 15"/>
          <p:cNvSpPr/>
          <p:nvPr/>
        </p:nvSpPr>
        <p:spPr>
          <a:xfrm>
            <a:off x="5029200" y="3200400"/>
            <a:ext cx="54864" cy="731520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9" name="Text 16"/>
          <p:cNvSpPr/>
          <p:nvPr/>
        </p:nvSpPr>
        <p:spPr>
          <a:xfrm>
            <a:off x="5193792" y="3273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③ Claude Code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93792" y="3584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“이 DESIGN.md를 tokens(json/css/js)로 코드화·검증”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이게 모든 시안의 기반. 준비된 예시: docs/design-system/ (Apple 토큰, 그대로 재사용 가능).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Shopping Mate PRD — 핵심 요약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분석으로 정한 ‘왜·무엇을’을 PRD로 고정 (prd/PRD-shopping-mate.md).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72768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727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문제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5727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탐색 과부하 · 결정 근거 부족 · 재구매 약화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39696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39696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396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솔루션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139696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의도 → 후보 3 + 결정 근거 → 비교 → 담기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706624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706624"/>
            <a:ext cx="54864" cy="475488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7066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핵심 지표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270662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상세→장바구니 CVR 22→30% · 결정 6.5→2분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73552"/>
            <a:ext cx="7863840" cy="475488"/>
          </a:xfrm>
          <a:prstGeom prst="roundRect">
            <a:avLst>
              <a:gd name="adj" fmla="val 19231"/>
            </a:avLst>
          </a:pr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273552"/>
            <a:ext cx="54864" cy="47548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Agent 정책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327355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 없는 단정 금지 · 가격/재고 불확실 명시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PRD는 Claude Desktop으로 작성 — 분석 산출물(지표·인사이트)을 그대로 입력으로.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Agent 정책 &amp; 가드레일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에이전트 제품은 ‘무엇을 하지 말까’가 신뢰를 만든다.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7276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7276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근거 없는 단정 금지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280" y="157276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이유는 가격·리뷰·배송 등 ‘근거’와 함께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176272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76272"/>
            <a:ext cx="54864" cy="51206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7627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불확실성 명시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217627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가격·재고가 불확실하면 단정 대신 ‘확인 필요’ 표기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779776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779776"/>
            <a:ext cx="54864" cy="512064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7797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과장·강요 금지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277977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‘무조건 사세요’ 금지 — 선택은 사용자에게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7863840" cy="512064"/>
          </a:xfrm>
          <a:prstGeom prst="roundRect">
            <a:avLst>
              <a:gd name="adj" fmla="val 17857"/>
            </a:avLst>
          </a:pr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8328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3832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폴백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83280" y="33832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후보 부족 시 조건 완화 재시도 → 인기 카테고리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가드레일을 PRD §정책에 명시 → 프롬프트·QA의 기준이 된다.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작성 노하우 ① — 읽히는 문서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두괄식 · 중복 제거 · 표 양식 — 세 가지만 지켜도 문서가 바뀐다.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72768"/>
            <a:ext cx="54864" cy="219456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719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두괄식 (BLUF)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6384" y="2157984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결론부터. 모든 섹션을 결론 한 줄로 시작.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‘분석 끝에 X’ → ‘X 하자. 이유는…’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572768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572768"/>
            <a:ext cx="54864" cy="2194560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3" name="Text 11"/>
          <p:cNvSpPr/>
          <p:nvPr/>
        </p:nvSpPr>
        <p:spPr>
          <a:xfrm>
            <a:off x="3483864" y="1719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중복 제거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83864" y="2157984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사실은 한 곳(SSOT)만. 다시 읽기 패스로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반복 통합. 표↔본문 중복이면 본문은 해석만.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572768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572768"/>
            <a:ext cx="54864" cy="219456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1719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표 양식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81344" y="2157984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비교/정의/매핑은 표로. 첫 열=기준,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끝 열=액션/근거. 빈 셀 금지(— 표기).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다시 읽기 패스: 같은 단어·수치가 3회+ 반복되면 통합 후보. 두괄식 + 중복 0 = 신뢰.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작성 노하우 ② — Confluence 양식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발행처가 Confluence면 Storage Format(XHTML)을 고려해 표·패널을 설계.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Markdown</a:t>
                      </a:r>
                      <a:endParaRPr lang="en-US" sz="10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Storage Format</a:t>
                      </a:r>
                      <a:endParaRPr lang="en-US" sz="105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&lt;table&gt;&lt;tr&gt;&lt;th&gt;…&lt;/th&gt;&lt;/tr&gt;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결론/주의 박스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ac:name="info|note|warning"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접이식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ac:name="expand"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이미지(첨부)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&lt;ac:image&gt;&lt;ri:attachment/&gt;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코드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ac:name="code"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937760" y="1481328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D1D1F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591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결론 패널 (info macro)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19202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&lt;ac:structured-macro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ac:name="info"&gt;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&lt;ac:rich-text-body&gt;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&lt;p&gt;&lt;strong&gt;결론:&lt;/strong&gt;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상세→장바구니 CVR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22→30% 목표.&lt;/p&gt;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&lt;/ac:rich-text-body&gt;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&lt;/ac:structured-macro&gt;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원본은 GitHub MD(SSOT). 발행 시 변환 → /publish-wiki. 이미지는 페이지 첨부로 참조.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작성 노하우 ③ — 시안·영상 임베드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Figma 대신 디자인 시스템 토큰 기반 코드 시안. 로컬 저장 후 본문에 임베드.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72768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7007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① 코드 시안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22860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HTML(토큰) → PNG 캡처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1572768"/>
            <a:ext cx="164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33472" y="1572768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2633472" y="1572768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2761488" y="17007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② 로컬 저장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61488" y="22860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prd/assets/ 상대경로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62272" y="1572768"/>
            <a:ext cx="164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26864" y="1572768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4626864" y="1572768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7007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③ 임베드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![시안](assets/...png)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55664" y="1572768"/>
            <a:ext cx="164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0256" y="1572768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0256" y="1572768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17007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5CF6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④ 데모 영상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48272" y="22860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프로토타입 → MP4 링크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20040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EAF2F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2004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C99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GitHub·VS Code·Confluence 모두에서 안 깨짐 — 같은 이미지를 강의·문서·발행에 재사용.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파이프라인: assets/build/shoot.js (시안) · record-proto.js (데모 영상).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집중 역할 — ‘시안·영상 임베드 PRD 작성가’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Code에 그대로 붙여 쓰는 역할 정의 (플레이북 §6).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7863840" cy="2697480"/>
          </a:xfrm>
          <a:prstGeom prst="roundRect">
            <a:avLst>
              <a:gd name="adj" fmla="val 3390"/>
            </a:avLst>
          </a:prstGeom>
          <a:solidFill>
            <a:srgbClr val="1D1D1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27632"/>
            <a:ext cx="7406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역할: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너는 ‘시안·영상 임베드 PRD 작성가’다.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두괄식: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섹션 결론 한 줄로 시작, 최상단 ‘결론부터’ 블록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중복 제거: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사실은 한 곳만, 다시 읽고 통합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표 우선: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비교/정의/매핑은 표 (첫 열=기준, 끝 열=액션)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Agent 범위: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지면별 매트릭스 → 이탈 큰 1~2개 지면부터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시안·영상: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 시안(토큰) → prd/assets/ 로컬 임베드 + 데모 MP4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지표: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Baseline→Target→측정(로깅) 3종 세트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발행: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MD=SSOT, Confluence는 Storage Format으로 변환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전문: docs/guides/prd-authoring-playbook.md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와이어프레임 — User Flow 계층 보드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PRD를 User Flow 단계별로 분리한 모바일 시안 (Figma 스타일).</a:t>
            </a:r>
            <a:endParaRPr lang="en-US" sz="1200" dirty="0"/>
          </a:p>
        </p:txBody>
      </p:sp>
      <p:pic>
        <p:nvPicPr>
          <p:cNvPr id="7" name="Image 0" descr="/Users/musinsa/smilechacha/ai-native-pm/projects/26Q2_Fastcampus-Lecture/assets/references/sm-wireframes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17904"/>
            <a:ext cx="1335024" cy="2724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6110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 화면 · 4 단계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31720" y="1517904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2331720" y="1517904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1" name="Text 8"/>
          <p:cNvSpPr/>
          <p:nvPr/>
        </p:nvSpPr>
        <p:spPr>
          <a:xfrm>
            <a:off x="2514600" y="1572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 · 진입 &amp; 의도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14600" y="18288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Splash · 대화형 의도 입력 (F-01)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331720" y="2176272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14" name="Shape 11"/>
          <p:cNvSpPr/>
          <p:nvPr/>
        </p:nvSpPr>
        <p:spPr>
          <a:xfrm>
            <a:off x="2331720" y="2176272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5" name="Text 12"/>
          <p:cNvSpPr/>
          <p:nvPr/>
        </p:nvSpPr>
        <p:spPr>
          <a:xfrm>
            <a:off x="2514600" y="22311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 · AI 후보 생성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14600" y="24871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로딩 · 후보 3 + 결정 근거 (F-02·F-05)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331720" y="2834640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18" name="Shape 15"/>
          <p:cNvSpPr/>
          <p:nvPr/>
        </p:nvSpPr>
        <p:spPr>
          <a:xfrm>
            <a:off x="2331720" y="2834640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9" name="Text 16"/>
          <p:cNvSpPr/>
          <p:nvPr/>
        </p:nvSpPr>
        <p:spPr>
          <a:xfrm>
            <a:off x="2514600" y="28895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 · 비교 &amp; 결정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514600" y="31455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차이 하이라이트 비교 → 선택 (F-03)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331720" y="3493008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22" name="Shape 19"/>
          <p:cNvSpPr/>
          <p:nvPr/>
        </p:nvSpPr>
        <p:spPr>
          <a:xfrm>
            <a:off x="2331720" y="3493008"/>
            <a:ext cx="54864" cy="5486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23" name="Text 20"/>
          <p:cNvSpPr/>
          <p:nvPr/>
        </p:nvSpPr>
        <p:spPr>
          <a:xfrm>
            <a:off x="2514600" y="3547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 · 상세 &amp; 담기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514600" y="380390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근거 저장 → 장바구니 (F-04·F-05)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계층: Flow stage → Screen frame → Component(디자인 시스템) · workshop/shopping-mate/wireframes/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프로토타입 &amp; 데모 영상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동작 HTML → 클릭 흐름을 하이라이트 적용 MP4로 녹화.</a:t>
            </a:r>
            <a:endParaRPr lang="en-US" sz="1200" dirty="0"/>
          </a:p>
        </p:txBody>
      </p:sp>
      <p:pic>
        <p:nvPicPr>
          <p:cNvPr id="7" name="Image 0" descr="/Users/musinsa/smilechacha/ai-native-pm/projects/26Q2_Fastcampus-Lecture/assets/references/sm-candi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1463040" cy="2798064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31720" y="1417320"/>
            <a:ext cx="1463040" cy="2798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31720" y="42336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▶ 클릭 데모 (MP4, 20초)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160520" y="1481328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동작 프로토타입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868B"/>
                </a:solidFill>
              </a:rPr>
              <a:t>단일 HTML · 디자인 토큰 적용 · 6화면 User Flow 상태기계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데모 영상 (하이라이트 적용)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868B"/>
                </a:solidFill>
              </a:rPr>
              <a:t>자동 커서가 의도→후보→비교→담기를 클릭으로 시연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868B"/>
                </a:solidFill>
              </a:rPr>
              <a:t>Playwright 녹화 → ffmpeg H.264 MP4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재현 파이프라인
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node record-proto.js &lt;proto&gt; &lt;out.mp4&gt;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파일: workshop/shopping-mate/prototype/index.html (?demo=1) · demo-shopping-mate.mp4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정리 — 분석에서 데모까지 한 흐름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지표·Agent 분석으로 ‘왜·무엇을’을 정한 뒤, Claude Code로 끝까지 잇는다.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353312" cy="178308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91640"/>
            <a:ext cx="54864" cy="178308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0136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402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분석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260604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지표·벤치마크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코호트·퍼널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47672" y="169164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67712" y="1691640"/>
            <a:ext cx="1353312" cy="178308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2267712" y="1691640"/>
            <a:ext cx="54864" cy="178308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180136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77440" y="22402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260604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문제·솔루션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지표·정책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75304" y="169164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95344" y="1691640"/>
            <a:ext cx="1353312" cy="178308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895344" y="1691640"/>
            <a:ext cx="54864" cy="178308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/>
        </p:spPr>
      </p:sp>
      <p:sp>
        <p:nvSpPr>
          <p:cNvPr id="21" name="Text 19"/>
          <p:cNvSpPr/>
          <p:nvPr/>
        </p:nvSpPr>
        <p:spPr>
          <a:xfrm>
            <a:off x="4005072" y="180136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97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05072" y="22402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Wireframe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05072" y="260604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User Flow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계층 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02936" y="169164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22976" y="1691640"/>
            <a:ext cx="1353312" cy="178308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522976" y="1691640"/>
            <a:ext cx="54864" cy="1783080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27" name="Text 25"/>
          <p:cNvSpPr/>
          <p:nvPr/>
        </p:nvSpPr>
        <p:spPr>
          <a:xfrm>
            <a:off x="5632704" y="180136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32704" y="22402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Prototype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32704" y="260604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단계별 동작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HTML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30568" y="169164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68B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50608" y="1691640"/>
            <a:ext cx="1353312" cy="1783080"/>
          </a:xfrm>
          <a:prstGeom prst="roundRect">
            <a:avLst>
              <a:gd name="adj" fmla="val 6757"/>
            </a:avLst>
          </a:prstGeom>
          <a:solidFill>
            <a:srgbClr val="F5F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7150608" y="1691640"/>
            <a:ext cx="54864" cy="17830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7260336" y="180136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60336" y="224028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Demo MP4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260336" y="260604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클릭·하이라이트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녹화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도구는 Claude Desktop의 Claude Code 하나로 — PRD부터 데모 영상까지 한 자리에서.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548640" cy="4114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179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997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PART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spc="-50" kern="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정렬 — 한 PRD, 세 청중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디자이너·개발자·리더십을 같은 문서, 다른 ‘렌즈’로 이해시킨다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같은 PRD, 다른 질문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청중은 자기 질문의 답이 첫 30초에 안 보이면 신뢰를 닫는다.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72768"/>
            <a:ext cx="54864" cy="23774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719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🎨 디자이너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15798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이걸로 화면을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그릴 수 있나?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3017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보여줄 것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시안·User Flow·예외상태·카피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572768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572768"/>
            <a:ext cx="54864" cy="23774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3483864" y="1719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⚙️ 개발자/EM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83864" y="215798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기간·리소스로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만들 수 있나?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83864" y="3017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보여줄 것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명세·로깅·범위·NFR·가드레일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572768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1572768"/>
            <a:ext cx="54864" cy="2377440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1719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👔 리더십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81344" y="215798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투자할 가치가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있나?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1344" y="3017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보여줄 것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BLUF·데모·지표·차별점·리스크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정렬의 기술 = 하나의 SSOT(PRD)를 청중별 렌즈로 다르게 보여주는 것.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산출물 × 청중 — 무엇이 누구를 설득하나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산출물도 청중마다 증명하는 게 다르다. ◎ = 가장 강한 무기.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산출물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디자이너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개발자/EM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리더십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2-Pager / BLUF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맥락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범위 감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◎ 30초 결정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PRD 본문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◎ 화면·플로우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◎ 명세·NFR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핵심 지표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코드 기반 시안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◎ 시안 착수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화면 수·상태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완성도 신뢰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동작 프로토타입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UX 검증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◎ 살아있는 명세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‘된다’ 체감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데모 영상(MP4)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UX 흐름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스코프 윤곽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◎ 감정적 확신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코호트·퍼널</a:t>
                      </a:r>
                      <a:endParaRPr lang="en-US" sz="11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◎ 로깅 설계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CC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◎ 임팩트 근거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미팅 운영: 리더십(BLUF+데모 5분) → 디자이너(시안 비동기) → 개발자(프로토+로깅) → 3관점 평가로 Approved.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합의의 증거 — 3관점 평가 Approved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‘좋아요’가 아니라 각 관점 기준 통과로 합의를 객관화한다.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7863840" cy="676656"/>
          </a:xfrm>
          <a:prstGeom prst="roundRect">
            <a:avLst>
              <a:gd name="adj" fmla="val 13514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72768"/>
            <a:ext cx="54864" cy="67665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7276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디자이너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572768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질문 없이 시안 착수 가능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 MECE · User Flow · 예외상태 · 카피 가이드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7863840" cy="676656"/>
          </a:xfrm>
          <a:prstGeom prst="roundRect">
            <a:avLst>
              <a:gd name="adj" fmla="val 13514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359152"/>
            <a:ext cx="54864" cy="67665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5915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개발자/EM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2359152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T-사이징 + 릴리즈 게이트 합의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범위(In/Out) · 측정 로깅 · NFR · 가드레일·폴백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145536"/>
            <a:ext cx="7863840" cy="676656"/>
          </a:xfrm>
          <a:prstGeom prst="roundRect">
            <a:avLst>
              <a:gd name="adj" fmla="val 13514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145536"/>
            <a:ext cx="54864" cy="676656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4553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리더십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145536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착수 승인 + 게이트 동의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BLUF 30초 · 지표 Baseline→Target · 데모 · 리스크/롤백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3관점 각 20점+ → Approved. 기준: docs/evaluation/ · 비동기 리뷰: AI Doc Feedback Loop.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617720"/>
            <a:ext cx="7863840" cy="731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 AI 적용 사례  ·  FastCampus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2062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부록: 내 트랙에 옮기기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509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Shopping Mate에서 배운 분석→설계→구현을 자기 도메인으로.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794760" cy="1078992"/>
          </a:xfrm>
          <a:prstGeom prst="roundRect">
            <a:avLst>
              <a:gd name="adj" fmla="val 8475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72768"/>
            <a:ext cx="54864" cy="107899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00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마케팅/콘텐츠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0665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추천 Agent · CTR·체류·전환 메트릭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572768"/>
            <a:ext cx="3794760" cy="1078992"/>
          </a:xfrm>
          <a:prstGeom prst="roundRect">
            <a:avLst>
              <a:gd name="adj" fmla="val 8475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572768"/>
            <a:ext cx="54864" cy="107899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1700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로컬커머스/O2O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73752" y="20665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주변 매장 추천 Agent · 방문·재방문·객단가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07208"/>
            <a:ext cx="3794760" cy="1078992"/>
          </a:xfrm>
          <a:prstGeom prst="roundRect">
            <a:avLst>
              <a:gd name="adj" fmla="val 8475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07208"/>
            <a:ext cx="54864" cy="10789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2935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문화/콘텐츠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3009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공연·전시 추천 Agent · 예매 전환·재구매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07208"/>
            <a:ext cx="3794760" cy="1078992"/>
          </a:xfrm>
          <a:prstGeom prst="roundRect">
            <a:avLst>
              <a:gd name="adj" fmla="val 8475"/>
            </a:avLst>
          </a:pr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2807208"/>
            <a:ext cx="54864" cy="1078992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2935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에듀테크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73752" y="33009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학습 코스 추천 Agent · 완주율·재수강·NPS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공통 골격은 같다: 의도 → 후보 압축 → 결정 근거 → 측정 가능한 지표.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40" kern="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오늘 함께 만든 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972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3736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지표·벤치마크 분석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9768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커머스 메트릭 → 유저 임팩트, Alexa·Clova 비교 정의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데이터 검증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mock 코호트·퍼널로 이탈 구간·개선 우선순위 도출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설계 → 구현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→ 와이어프레임 → 프로토타입 → 데모 영상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Claude Code 워크플로우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분석부터 데모까지 한 도구로 잇는 실무 흐름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9144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69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내 산업의 지표로, AI와 함께 만드는 실무.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차성재  |  FastCampus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시대, AI PM의 새로운 무기</dc:title>
  <dc:subject>PptxGenJS Presentation</dc:subject>
  <dc:creator>차성재</dc:creator>
  <cp:lastModifiedBy>차성재</cp:lastModifiedBy>
  <cp:revision>1</cp:revision>
  <dcterms:created xsi:type="dcterms:W3CDTF">2026-06-26T06:52:49Z</dcterms:created>
  <dcterms:modified xsi:type="dcterms:W3CDTF">2026-06-26T06:52:49Z</dcterms:modified>
</cp:coreProperties>
</file>