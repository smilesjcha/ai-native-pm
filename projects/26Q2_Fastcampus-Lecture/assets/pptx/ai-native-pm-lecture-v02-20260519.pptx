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9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06" d="100"/>
          <a:sy n="206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7996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6DAFC-C4E8-ACB6-AA95-B720E6BDA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63DAD6-4CDA-B302-8791-53E502E23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AF4B8E-58B2-7D3B-1AD0-79C18C687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0DEC8-05B6-3324-5123-54F438A846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099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milesjcha/ai-native-pm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80160"/>
            <a:ext cx="914400" cy="3657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 NATIVE 시대,</a:t>
            </a:r>
            <a:endParaRPr lang="en-US" sz="3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 PM의 새로운 무기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글로벌 PM 트렌드  ·  기획 문서 계층  ·  AI 도구 협업  ·  프로토타입 데모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FastCampus  |  2026.05.19  |  차성재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오늘의 여정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374904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🎤  강의  30분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PM의 본질과 고유 역할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3가지 시대: Feature → Product-Led → AI Native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기획 문서 계층과 Why→What→How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도구 협업 마스터 플랜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라이브 데모: PRD + 프로토타입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374904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36576" cy="25603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89204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💻  실습  60분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아이디어 → PRD 재료 (5개 항목)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Manyfast.io로 PRD 초안 생성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Code로 HTML 프로토타입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배포까지 (Replit / Lovable / Vercel)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오늘의 목표:  PRD + 동작하는 프로토타입을 직접 만들어 가기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PM 채용 공고에서</a:t>
            </a:r>
            <a:endParaRPr lang="en-US" sz="36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가장 많이 추가된</a:t>
            </a:r>
            <a:endParaRPr lang="en-US" sz="36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36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키워드는?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2024  vs 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💡 손 들기 유도:  "AI?  프로토타이핑?  데이터?"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AI, PM 채용의 뉴노멀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ProductBoard PM Hiring Report 기반 분석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622524"/>
              </p:ext>
            </p:extLst>
          </p:nvPr>
        </p:nvGraphicFramePr>
        <p:xfrm>
          <a:off x="1097280" y="1686726"/>
          <a:ext cx="6949440" cy="14173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AI 언급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프로토타이핑 우대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프롬프트 역량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2024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23%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15%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5%</a:t>
                      </a:r>
                      <a:endParaRPr lang="en-US" sz="15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2026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B35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67%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B35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52%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6B35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38%</a:t>
                      </a:r>
                      <a:endParaRPr lang="en-US" sz="15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314976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약 3배 증가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출처: PM 채용 트렌드 리포트 2024-2026, 글로벌 채용 플랫폼 데이터 종합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AI가 PM을</a:t>
            </a:r>
            <a:endParaRPr lang="en-US" sz="3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대체하는 게 아닙니다.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97280" y="2514600"/>
            <a:ext cx="6949440" cy="6858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097280" y="251460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AI를 쓰는 PM이, 안 쓰는 PM을 대체합니다.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그렇다면, PM만의 고유한 역할은 무엇인가?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PM만이 할 수 있는 고유한 역할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개발자도 PRD를 쓸 수 있고, AI가 코드도 만들어주는 시대 — PM의 본질이 더 중요해졌다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25892"/>
            <a:ext cx="457200" cy="50292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62589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6258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도메인 이해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383280" y="162589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실제 산업 현장의 맥락을 파악하고, 현재 상태에서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유의미한 방향성을 정의하는 능력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80160" y="2174532"/>
            <a:ext cx="722376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40080" y="2284260"/>
            <a:ext cx="457200" cy="50292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22842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2842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비즈니스 판단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22842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수익성 · 신규 고객 확장력 · 대표/이사회/투자자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기대치를 종합하여 제품 방향을 결정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80160" y="2832900"/>
            <a:ext cx="722376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40080" y="2942628"/>
            <a:ext cx="457200" cy="50292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0080" y="29426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294262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제약 조건 내 최적화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83280" y="294262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주어진 예산 · 기간 · 개발 인력 안에서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최대 아웃풋을 내는 현실적 스코프 설계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280160" y="3491268"/>
            <a:ext cx="722376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40080" y="3600996"/>
            <a:ext cx="457200" cy="50292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60099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360099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기능 수준의 우선순위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383280" y="360099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기능 하나하나에 P0/P1/P2를 매기고,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무엇을 먼저 만들지 결정하는 판단력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AI는 실행 속도를 높여주지만, 무엇을 실행할지 결정하는 것은 PM이다.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 시대, PM의 본질 = 맥락 설계자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286583"/>
            <a:ext cx="3749040" cy="2743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1378023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AI가 잘하는 것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789503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시장 데이터 수집 · 경쟁사 분석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구조화 · 기능 명세 초안 작성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프로토타입 코드 생성 (HTML/React)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KPI 프레임워크 제안 · 지표 설계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 시나리오 · 엣지 케이스 도출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86583"/>
            <a:ext cx="3749040" cy="2743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846320" y="1378023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PM만이 해야 하는 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789503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"이것을 왜 지금 해야 하는가" 판단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트레이드오프 결정 (범위 vs 일정 vs 품질)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이해관계자 합의와 우선순위 조율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자사 데이터 해석과 비즈니스 판단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Go / No-Go 의사결정과 리스크 관리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AI는 최고의 부사수. 하지만 방향을 정하는 건 PM이다.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PM의 3가지 시대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16811"/>
            <a:ext cx="2514600" cy="2743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1426539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Era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682571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Feature PM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066619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~2019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368371"/>
            <a:ext cx="2240280" cy="182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2459811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기능 정의자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779851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Jira · Word · PPT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054171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⏱ 분기 단위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316811"/>
            <a:ext cx="2514600" cy="2743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520440" y="1426539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Era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1682571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Product-Led PM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2066619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2020~24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20440" y="2368371"/>
            <a:ext cx="2240280" cy="182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520440" y="2459811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성장 설계자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0440" y="2779851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Notion · Figma · A/B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3054171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⏱ 2주 스프린트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316811"/>
            <a:ext cx="2514600" cy="2743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63640" y="1426539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Era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1682571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 Native PM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63640" y="2066619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2025~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2368371"/>
            <a:ext cx="2240280" cy="182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263640" y="2459811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맥락 설계자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2779851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· Cursor · Manyfast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3054171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⏱ 시간~일 단위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Dennis Yang (Chime PM): Claude Code로 20분 만에 프로토타입 → 팀 미팅에서 실제 동작 시연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"Tell"에서 "Show"로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3682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PM의 역할 변화: 문서로 설명하던 시대에서, 만들어서 보여주는 시대로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606081"/>
              </p:ext>
            </p:extLst>
          </p:nvPr>
        </p:nvGraphicFramePr>
        <p:xfrm>
          <a:off x="457200" y="1520094"/>
          <a:ext cx="8229600" cy="18745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시대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기존 방식 (Tell)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새로운 방식 (Show)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Feature PM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PRD 문서로 설명 → 개발팀에 전달 → 분기 후 결과 확인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5E7EB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—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Product-Led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Figma 프로토타입 의뢰 → A/B 테스트 → 2주 스프린트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5E7EB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—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AI Native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5E7EB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—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프롬프트 → PRD → 프로토타입 직접 생성 → 시간 단위 검증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3668934"/>
            <a:ext cx="7863840" cy="502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40080" y="3668934"/>
            <a:ext cx="36576" cy="5029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822960" y="366893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바이브 프로토타이핑 (Vibe Prototyping) — 텍스트 프롬프트만으로 기능적 소프트웨어를 생성하는 새로운 패러다임  (Forbes, 2026)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무엇이 바뀌었나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761178"/>
              </p:ext>
            </p:extLst>
          </p:nvPr>
        </p:nvGraphicFramePr>
        <p:xfrm>
          <a:off x="365760" y="1414296"/>
          <a:ext cx="8412480" cy="23774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구분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Before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After (AI Native)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문서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Word → Notion, 수동 작성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→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AI가 PRD 초안 생성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프로토타입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디자이너/개발자에게 의뢰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→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PM이 직접 AI로 생성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검증 속도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 주 (기획→개발→출시)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→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 시간 (즉시 확인)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PM 역할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기능 전달자 (Tell)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→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맥락 설계자 (Show)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검증 주기</a:t>
                      </a:r>
                      <a:endParaRPr lang="en-US" sz="13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분기 1회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→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주 단위 반복</a:t>
                      </a:r>
                      <a:endParaRPr lang="en-US" sz="13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 Native PM의 3가지 무기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01319"/>
            <a:ext cx="786384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301319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301319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프롬프팅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91840" y="1301319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코딩이 아니라, AI에게 의도를 정확히 전달하는 능력.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맥락(Context)을 잘 구조화하는 것이 핵심.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078559"/>
            <a:ext cx="786384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1520" y="2078559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🧩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2078559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 활용점 정의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91840" y="2078559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"이 제품에서 AI가 어디서 가치를 만드는가?"를 설계.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대체할 수 있는 작업 vs PM이 판단할 작업을 구분.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855799"/>
            <a:ext cx="786384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2855799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2855799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빠른 검증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91840" y="2855799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"만들어서 확인하기"를 일상화하는 습관.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→ 프로토타입 → 피드백을 시간 단위로 반복.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코드를 쓸 줄 몰라도 됩니다. AI에게 무엇을 시킬지 알면 됩니다.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기획 문서의 계층 구조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9495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아래 → 위 참조, 위 → 아래 링크  |  PRD가 SSOT (Single Source of Truth)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588485"/>
            <a:ext cx="411480" cy="3840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588485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L0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88720" y="1542765"/>
            <a:ext cx="7315200" cy="47548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88720" y="1542765"/>
            <a:ext cx="36576" cy="475488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371600" y="1542765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2-Pager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1542765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왜 이걸 하는가?  (리더십 승인용)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018253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246853"/>
            <a:ext cx="411480" cy="38404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246853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L1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188720" y="2201133"/>
            <a:ext cx="7315200" cy="475488"/>
          </a:xfrm>
          <a:prstGeom prst="rect">
            <a:avLst/>
          </a:prstGeom>
          <a:solidFill>
            <a:srgbClr val="FFF7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88720" y="2201133"/>
            <a:ext cx="36576" cy="4754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371600" y="2201133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PRD  (SSOT)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0" y="2201133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무엇을, 왜, 누구를 위해 만드는가?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2676621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2905221"/>
            <a:ext cx="411480" cy="3840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" y="2905221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L2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188720" y="2859501"/>
            <a:ext cx="7315200" cy="47548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188720" y="2859501"/>
            <a:ext cx="36576" cy="475488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371600" y="2859501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Specs · HLD · LLD · ADR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0" y="2859501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어떻게 보이고, 어떻게 구현하고, 왜 그렇게 결정했는가?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88720" y="3334989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563589"/>
            <a:ext cx="411480" cy="3840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40080" y="3563589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L3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188720" y="3517869"/>
            <a:ext cx="7315200" cy="47548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188720" y="3517869"/>
            <a:ext cx="36576" cy="475488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371600" y="3517869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Ops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114800" y="3517869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어떻게 출시 · 운영 · 모니터링하는가?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참고: Specs = 와이어프레임/UX 흐름  |  HLD = 상위 설계  |  LLD = 상세 설계  |  ADR = 의사결정 기록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PRD의 핵심: Why → What → How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89866"/>
            <a:ext cx="822960" cy="5943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489866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Why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00200" y="1489866"/>
            <a:ext cx="6903720" cy="594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783080" y="148986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왜 이 문제를 풀어야 하는가?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48986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§3 문제 정의 · 비즈니스 근거 · 데이터 증거 · 사용자 VOC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312826"/>
            <a:ext cx="822960" cy="59436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2312826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What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00200" y="2312826"/>
            <a:ext cx="6903720" cy="594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783080" y="231282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무엇을 만드는가?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31282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§4-§6 솔루션 · 페르소나 · 범위(In/Out) · 기능 명세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135786"/>
            <a:ext cx="822960" cy="59436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135786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How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600200" y="3135786"/>
            <a:ext cx="6903720" cy="5943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783080" y="313578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어떻게 성공을 측정하는가?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13578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§11 KPI · 실험 설계 · 롤아웃 전략 · Release Gate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Why가 흔들리면, What과 How는 의미가 없다. 항상 Why부터.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PRD 품질 검증: 3가지 관점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19951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Approved 상태 전환을 위한 3-관점 평가 프레임워크  |  각 관점 최소 기준 통과 필수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588107"/>
            <a:ext cx="786384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588107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👔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1588107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리더십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908147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 프로젝트에 투자할 가치가 있는가?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588107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전략 정합성 · 문제 정의 명확성 · ROI 합리성 · 시장 적합성 · 우선순위 정당성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411067"/>
            <a:ext cx="786384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2411067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2411067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디자이너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731107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 PRD만으로 와이어프레임을 그릴 수 있는가?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411067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시나리오 완전성 · UI/UX 플로우 · 가드레일/예외 · 컴포넌트 명세 · P0/P1 기능 정의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234027"/>
            <a:ext cx="7863840" cy="6858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1520" y="3234027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3234027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EM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554067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 범위를 주어진 기간/리소스로 만들 수 있는가?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3234027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성공 지표 측정 가능성 · 비용 추정 · 공수 산정(MD/MM) · 스코프 실현성 · NFR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각 관점 35점 만점, 23점 이상 통과  |  상세 기준: docs/evaluation/ 참조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AI가 각 단계를 어떻게 바꾸는가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939338"/>
              </p:ext>
            </p:extLst>
          </p:nvPr>
        </p:nvGraphicFramePr>
        <p:xfrm>
          <a:off x="457200" y="1444524"/>
          <a:ext cx="8229600" cy="23774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단계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기존 소요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AI Native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주요 도구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2-Pager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Claude, Gemini Deep Research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PRD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1~2주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수시간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Manyfast, Claude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Wireframe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Figma AI (Make), v0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Prototype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수십분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Claude Code, Cursor, Replit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배포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6B35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수분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Vercel, Replit, Lovable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전체 흐름: 아이디어 → PRD → 와이어프레임 → 프로토타입 → 배포까지 하루 안에 가능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5개 핵심 입력 — PRD의 씨앗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74609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전체를 쓸 필요 없습니다. 이 5가지만 명확하면 AI가 나머지를 채워줍니다.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556292"/>
            <a:ext cx="347472" cy="347472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5562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51971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서비스명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0" y="151971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뭐라고 부를까?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0" y="151971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직관적이고 기억하기 쉬운 이름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031780"/>
            <a:ext cx="347472" cy="347472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20317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199520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타겟 유저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34640" y="199520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누구를 위한 건가?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0" y="199520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행동 패턴까지 구체적으로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507268"/>
            <a:ext cx="347472" cy="347472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0080" y="25072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24706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핵심 문제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34640" y="24706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어떤 문제를 해결하나?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52160" y="24706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정량 수치가 있으면 강력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2982756"/>
            <a:ext cx="347472" cy="347472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29827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29461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 활용점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834640" y="29461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어디서 가치를 만드나?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52160" y="29461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대체할 구체적 작업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3458244"/>
            <a:ext cx="347472" cy="347472"/>
          </a:xfrm>
          <a:prstGeom prst="ellipse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40080" y="34582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34216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성공 기준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834640" y="34216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어떻게 성공을 아나?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852160" y="34216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측정 가능한 숫자로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3988596"/>
            <a:ext cx="7863840" cy="4114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40080" y="3988596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이 5개만 명확하면 AI가 나머지를 채워줍니다  →  실습 Step 1에서 직접 작성!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AI 도구 협업: 마스터 플랜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9024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하나의 도구가 아닌, 여러 AI 도구를 조합하여 PM 워크플로우를 가속화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444524"/>
            <a:ext cx="7863840" cy="3840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14445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리서치 → PRD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4445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Claude + Gemini Deep Research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77840" y="144452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시장/경쟁 분석 → 구조화된 PRD 초안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920012"/>
            <a:ext cx="786384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77240" y="19200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PRD → 와이어프레임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192001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Claude + Figma AI (Make)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77840" y="19200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기반 자동 UI 레이아웃 생성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395500"/>
            <a:ext cx="7863840" cy="3840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77240" y="23955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PRD → 프로토타입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23955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Claude Code + Cursor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77840" y="23955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PRD에서 동작하는 HTML/React 앱 생성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870988"/>
            <a:ext cx="7863840" cy="38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77240" y="28709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디자인 → 코드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28709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Figma + Google Stitch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77840" y="28709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Figma 디자인을 코드로 변환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346476"/>
            <a:ext cx="7863840" cy="38404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77240" y="33464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프로토타입 → 배포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33464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Replit / Lovable / Vercel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334647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1-click 배포로 외부 공유 가능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핵심: 어떤 도구를 쓰느냐가 아니라, PM이 '무엇을' 지시할지를 아는 것이 경쟁력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실전 도구 조합 예시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0322"/>
            <a:ext cx="786384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159604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Workflow A:  기획 → 프로토타입 → 배포 (오늘 실습)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96180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(리서치)  →  Manyfast (PRD)  →  Claude Code (프로토타입)  →  Vercel / Replit (배포)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28184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5개 입력 → PRD 초안(~5분) → HTML 생성(~15분) → 배포(~2분)  =  총 30분 이내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830482"/>
            <a:ext cx="786384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287620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Workflow B:  디자인 중심 (Figma 활용)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24196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(PRD)  →  Figma AI / Make (와이어프레임)  →  Google Stitch (코드 변환)  →  Lovable (배포)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56200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디자인 시스템이 중요한 B2C 서비스에 적합  |  Figma → 코드 자동 변환으로 개발 공수 절감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💡 Google AI Studio: Gemini 기반 프롬프트 테스트 · 멀티모달 분석에 활용 가능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데모: 오늘의 점심 메이트 — PRD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57879"/>
            <a:ext cx="4754880" cy="502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557879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🎯  문제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94560" y="1557879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직장인 12분 × 250일 = 연 50시간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'뭐 먹지?' 고민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79671"/>
            <a:ext cx="475488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2179671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💡  솔루션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2179671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기분 + 예산 + 위치 →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맞춤 메뉴 3개 추천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801463"/>
            <a:ext cx="4754880" cy="502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2801463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📊  KPI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2801463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추천 수락률 60%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재사용률 주 3회, NPS 40+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423255"/>
            <a:ext cx="475488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31520" y="3423255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🤖  AI 모델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3423255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Haiku — 월 $15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p95 응답 &lt; 2초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📋  화면 공유: PRD.md 라이브 시연</a:t>
            </a:r>
            <a:endParaRPr lang="en-US" sz="10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7E7AB74-1DDF-648C-CCFB-C0CD20C5E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118" y="457200"/>
            <a:ext cx="3625882" cy="203790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B848197-CF7B-EE18-AF0E-B152578476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4391"/>
          <a:stretch>
            <a:fillRect/>
          </a:stretch>
        </p:blipFill>
        <p:spPr>
          <a:xfrm>
            <a:off x="6944397" y="1492592"/>
            <a:ext cx="2199603" cy="31937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데모: 프로토타입 — 15분 만에 완성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5052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단일 HTML 파일, 외부 API 없음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기분 선택 → 예산 선택 → AI 추천 결과 3개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모바일 반응형, 실제 버튼 동작 포함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6가지 기분 × 3가지 예산 = 54개 메뉴 데이터</a:t>
            </a:r>
            <a:endParaRPr lang="en-US" sz="13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수락/거절 피드백 UI 포함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📱  화면 공유: 프로토타입 라이브 시연  |  demo-prototype.html</a:t>
            </a:r>
            <a:endParaRPr lang="en-US" sz="1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DF1E66C-AD0F-206E-1FA7-19FC62ADF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47" y="639556"/>
            <a:ext cx="2157973" cy="386438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이제 여러분 차례입니다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914400" cy="3657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아이디어  →  PRD  →  프로토타입  →  배포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60분 안에 직접 체험합니다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0" y="3291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완성도가 아닙니다.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과정을 경험하는 것이 목적입니다.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🕐  잠시 쉬고, 19:20에 실습 시작!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554480"/>
            <a:ext cx="914400" cy="3657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WORKSHOP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내 아이디어를 60분 만에 프로토타입으로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19:20 ~ 20:20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실습 흐름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61053"/>
            <a:ext cx="1005840" cy="38404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561053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Step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542765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10분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1542765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환경 세팅 + 트랙 선택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0" y="1542765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Manyfast · Claude · 메모장 준비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091405"/>
            <a:ext cx="1005840" cy="38404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2091405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Step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073117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15분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073117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아이디어 → PRD 재료 (5개 항목)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2073117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서비스명/타겟/문제/AI활용/성공기준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621757"/>
            <a:ext cx="1005840" cy="38404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621757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Step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2603469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15분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2603469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Manyfast.io → PRD 초안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0" y="2603469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생성 + 검수 포인트 확인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152109"/>
            <a:ext cx="1005840" cy="38404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" y="3152109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Step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3133821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15분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51760" y="3133821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Claude → HTML 프로토타입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0" y="3133821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프롬프트 → 생성 → 확인 → 배포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682461"/>
            <a:ext cx="1005840" cy="3840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0080" y="3682461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Buffer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28800" y="3664173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5분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51760" y="3664173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저장 + 발표 준비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0" y="3664173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결과물 저장, 엘리베이터 피치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Step 0: 환경 세팅 + 트랙 선택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445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☐  Manyfast.io 로그인 완료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102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☐  Claude</a:t>
            </a:r>
            <a:r>
              <a:rPr lang="ko-KR" alt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altLang="ko-KR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Desktop</a:t>
            </a:r>
            <a:r>
              <a:rPr lang="ko-KR" alt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altLang="ko-KR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or</a:t>
            </a:r>
            <a:r>
              <a:rPr lang="ko-KR" alt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altLang="ko-KR" sz="1300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VSCode</a:t>
            </a:r>
            <a:r>
              <a:rPr lang="ko-KR" alt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altLang="ko-KR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+</a:t>
            </a:r>
            <a:r>
              <a:rPr lang="ko-KR" alt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altLang="ko-KR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Code </a:t>
            </a:r>
            <a:r>
              <a:rPr lang="en-US" altLang="ko-KR" sz="1300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접속</a:t>
            </a:r>
            <a:endParaRPr lang="en-US" alt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760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☐  </a:t>
            </a:r>
            <a:r>
              <a:rPr lang="en-US" altLang="ko-KR" sz="1300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메모장</a:t>
            </a:r>
            <a:r>
              <a:rPr lang="en-US" altLang="ko-KR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or Notion </a:t>
            </a:r>
            <a:r>
              <a:rPr lang="en-US" altLang="ko-KR" sz="1300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준비</a:t>
            </a:r>
            <a:endParaRPr lang="en-US" altLang="ko-KR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5418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☐  </a:t>
            </a:r>
            <a:r>
              <a:rPr lang="ko-KR" alt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제공 </a:t>
            </a:r>
            <a:r>
              <a:rPr lang="en-US" altLang="ko-KR" sz="1300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github</a:t>
            </a:r>
            <a:r>
              <a:rPr lang="en-US" altLang="ko-KR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ko-KR" altLang="en-US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연동 기반 </a:t>
            </a:r>
            <a:r>
              <a:rPr lang="en-US" altLang="ko-KR" sz="1300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작업</a:t>
            </a:r>
            <a:r>
              <a:rPr lang="en-US" altLang="ko-KR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altLang="ko-KR" sz="1300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폴더</a:t>
            </a:r>
            <a:r>
              <a:rPr lang="en-US" altLang="ko-KR" sz="13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altLang="ko-KR" sz="1300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생성</a:t>
            </a:r>
            <a:endParaRPr lang="en-US" altLang="ko-KR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444524"/>
            <a:ext cx="3749040" cy="10515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937760" y="14902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🟢  공통 트랙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81028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강사 주제 따라가기 (오늘의 점심 메이트)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처음 해보는 분 추천!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678964"/>
            <a:ext cx="3749040" cy="10515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754880" y="2678964"/>
            <a:ext cx="36576" cy="105156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983480" y="27246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🔵  자유 트랙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304472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본인 아이디어로 자율 진행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기능 1개로 좁히기!</a:t>
            </a:r>
            <a:endParaRPr lang="en-US" sz="11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A725ECFF-EC3B-AC16-72DA-BDF08C44DDAF}"/>
              </a:ext>
            </a:extLst>
          </p:cNvPr>
          <p:cNvSpPr/>
          <p:nvPr/>
        </p:nvSpPr>
        <p:spPr>
          <a:xfrm>
            <a:off x="886968" y="29273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hlinkClick r:id="rId3"/>
              </a:rPr>
              <a:t>https://github.com/smilesjcha/ai-native-pm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Step 1: 5개 항목 채우기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353462"/>
            <a:ext cx="749808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97280" y="153634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  서비스명:  ___________________________________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94782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2.  타겟 유저:  ___________________________________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35930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3.  핵심 문제:  ___________________________________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277078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4.  AI 활용점:  ___________________________________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18226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5.  성공 기준:  ___________________________________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14238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⏱  10분 안에 채워주세요!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Step 1: 예시 — 오늘의 점심 메이트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489488"/>
            <a:ext cx="7498080" cy="25603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1489488"/>
            <a:ext cx="36576" cy="256032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97280" y="16723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1.  서비스명:</a:t>
            </a:r>
            <a:r>
              <a:rPr lang="en-US" sz="14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오늘의 점심 메이트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08384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2.  타겟 유저:</a:t>
            </a:r>
            <a:r>
              <a:rPr lang="en-US" sz="14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점심 메뉴 고민이 많은 직장인 (강남/판교 오피스)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49532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3.  핵심 문제:</a:t>
            </a:r>
            <a:r>
              <a:rPr lang="en-US" sz="14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매일 '뭐 먹지?' 고민에 12분 낭비, 65% 같은 메뉴 반복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90680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4.  AI 활용점:</a:t>
            </a:r>
            <a:r>
              <a:rPr lang="en-US" sz="14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기분/예산 기반 맞춤 메뉴 3개 추천 (Claude Haiku)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31828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5.  성공 기준:</a:t>
            </a:r>
            <a:r>
              <a:rPr lang="en-US" sz="14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추천 수락률 60%, 주간 재사용 3회 이상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Step 1: 짝꿍 피드백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7637" y="1551457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옆 사람에게 보여주세요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828800" y="2321517"/>
            <a:ext cx="5486400" cy="10972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011680" y="2412957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"이 서비스를 당장 쓸 것 같나요?"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2915877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네 → 좋은 신호! 🎯    |    글쎄 → 핵심 문제 다시 점검 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💡  짝꿍의 첫 반응이 냉담하면, 문제 정의를 더 날카롭게 다듬어보세요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Step 2: Manyfast.io → PRD 초안 생성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581306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altLang="ko-KR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  </a:t>
            </a:r>
            <a:r>
              <a:rPr lang="en-US" altLang="ko-KR" sz="1400" b="1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새</a:t>
            </a:r>
            <a:r>
              <a:rPr lang="en-US" altLang="ko-KR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altLang="ko-KR" sz="1400" b="1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프로젝트</a:t>
            </a:r>
            <a:r>
              <a:rPr lang="en-US" altLang="ko-KR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altLang="ko-KR" sz="1400" b="1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생성</a:t>
            </a:r>
            <a:r>
              <a:rPr lang="en-US" altLang="ko-KR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(</a:t>
            </a:r>
            <a:r>
              <a:rPr lang="en-US" altLang="ko-KR" sz="1400" b="1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프로젝트명</a:t>
            </a:r>
            <a:r>
              <a:rPr lang="en-US" altLang="ko-KR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altLang="ko-KR" sz="1400" b="1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입력</a:t>
            </a:r>
            <a:r>
              <a:rPr lang="en-US" altLang="ko-KR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)</a:t>
            </a:r>
            <a:endParaRPr lang="en-US" altLang="ko-KR" sz="1400" dirty="0"/>
          </a:p>
          <a:p>
            <a:pPr>
              <a:lnSpc>
                <a:spcPct val="140000"/>
              </a:lnSpc>
            </a:pPr>
            <a:r>
              <a:rPr lang="en-US" altLang="ko-KR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2.  5개 </a:t>
            </a:r>
            <a:r>
              <a:rPr lang="en-US" altLang="ko-KR" sz="1400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항목을</a:t>
            </a:r>
            <a:r>
              <a:rPr lang="en-US" altLang="ko-KR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altLang="ko-KR" sz="1400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프로젝트</a:t>
            </a:r>
            <a:r>
              <a:rPr lang="en-US" altLang="ko-KR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altLang="ko-KR" sz="1400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설명에</a:t>
            </a:r>
            <a:r>
              <a:rPr lang="en-US" altLang="ko-KR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altLang="ko-KR" sz="1400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붙여넣기</a:t>
            </a:r>
            <a:endParaRPr lang="en-US" altLang="ko-KR" sz="1400" dirty="0"/>
          </a:p>
          <a:p>
            <a:pPr>
              <a:lnSpc>
                <a:spcPct val="140000"/>
              </a:lnSpc>
            </a:pPr>
            <a:r>
              <a:rPr lang="en-US" altLang="ko-KR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3.  PRD </a:t>
            </a:r>
            <a:r>
              <a:rPr lang="en-US" altLang="ko-KR" sz="1400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생성</a:t>
            </a:r>
            <a:r>
              <a:rPr lang="en-US" altLang="ko-KR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altLang="ko-KR" sz="1400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실행</a:t>
            </a:r>
            <a:r>
              <a:rPr lang="en-US" altLang="ko-KR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(~1분 </a:t>
            </a:r>
            <a:r>
              <a:rPr lang="en-US" altLang="ko-KR" sz="1400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소요</a:t>
            </a:r>
            <a:r>
              <a:rPr lang="en-US" altLang="ko-KR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)</a:t>
            </a:r>
            <a:endParaRPr lang="en-US" altLang="ko-KR" sz="1400" dirty="0"/>
          </a:p>
          <a:p>
            <a:pPr>
              <a:lnSpc>
                <a:spcPct val="140000"/>
              </a:lnSpc>
            </a:pPr>
            <a:r>
              <a:rPr lang="en-US" altLang="ko-KR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4.  PRD </a:t>
            </a:r>
            <a:r>
              <a:rPr lang="ko-KR" altLang="en-US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내용 및 기능명세서 </a:t>
            </a:r>
            <a:r>
              <a:rPr lang="en-US" altLang="ko-KR" sz="1400" b="1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복사</a:t>
            </a:r>
            <a:endParaRPr lang="en-US" altLang="ko-KR" sz="1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CF28749-CC8C-DC51-D69F-BFC901CC8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101" y="1179576"/>
            <a:ext cx="4826049" cy="30587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9FCD8-8265-D5F3-BC01-88C2E233E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AB8CF3-7382-1AF9-EC68-1E018EFEABF0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F0A133-D8BD-74C0-DAD0-32D9733FE97B}"/>
              </a:ext>
            </a:extLst>
          </p:cNvPr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5AACFD0-5D45-BDEC-4653-FD35CC888D43}"/>
              </a:ext>
            </a:extLst>
          </p:cNvPr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Step 2: VS Code + Claude → PRD </a:t>
            </a:r>
            <a:r>
              <a:rPr lang="ko-KR" alt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업데이트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F87E65B-DEB4-01D4-AD0B-3EC611F4EE5C}"/>
              </a:ext>
            </a:extLst>
          </p:cNvPr>
          <p:cNvSpPr/>
          <p:nvPr/>
        </p:nvSpPr>
        <p:spPr>
          <a:xfrm>
            <a:off x="640080" y="1334832"/>
            <a:ext cx="458415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1.  VS Code</a:t>
            </a:r>
            <a:r>
              <a:rPr lang="ko-KR" altLang="en-US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에서 </a:t>
            </a:r>
            <a:r>
              <a:rPr lang="en-US" altLang="ko-KR" sz="1400" b="1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Github</a:t>
            </a:r>
            <a:r>
              <a:rPr lang="en-US" altLang="ko-KR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Project </a:t>
            </a:r>
            <a:r>
              <a:rPr lang="ko-KR" altLang="en-US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불러오기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2.  Claude</a:t>
            </a:r>
            <a:r>
              <a:rPr lang="ko-KR" altLang="en-US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altLang="ko-KR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Code</a:t>
            </a:r>
            <a:r>
              <a:rPr lang="ko-KR" altLang="en-US" sz="1400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에</a:t>
            </a:r>
            <a:r>
              <a:rPr lang="ko-KR" altLang="en-US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기존 </a:t>
            </a:r>
            <a:r>
              <a:rPr lang="en-US" altLang="ko-KR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</a:t>
            </a:r>
            <a:r>
              <a:rPr lang="ko-KR" altLang="en-US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상품요구정의서 초안 넣고 </a:t>
            </a:r>
            <a:r>
              <a:rPr lang="en-US" altLang="ko-KR" sz="1400" dirty="0" err="1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PRD.md</a:t>
            </a:r>
            <a:r>
              <a:rPr lang="ko-KR" altLang="en-US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양식에 맞춰서 작성해달라고 요청하기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3.  PRD </a:t>
            </a:r>
            <a:r>
              <a:rPr lang="ko-KR" altLang="en-US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평가</a:t>
            </a:r>
            <a:r>
              <a:rPr lang="en-US" altLang="ko-KR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(1.</a:t>
            </a:r>
            <a:r>
              <a:rPr lang="ko-KR" altLang="en-US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대표</a:t>
            </a:r>
            <a:r>
              <a:rPr lang="en-US" altLang="ko-KR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/</a:t>
            </a:r>
            <a:r>
              <a:rPr lang="ko-KR" altLang="en-US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임원</a:t>
            </a:r>
            <a:r>
              <a:rPr lang="en-US" altLang="ko-KR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,</a:t>
            </a:r>
            <a:r>
              <a:rPr lang="ko-KR" altLang="en-US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altLang="ko-KR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2.</a:t>
            </a:r>
            <a:r>
              <a:rPr lang="ko-KR" altLang="en-US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개발 리드</a:t>
            </a:r>
            <a:r>
              <a:rPr lang="en-US" altLang="ko-KR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,</a:t>
            </a:r>
            <a:r>
              <a:rPr lang="ko-KR" altLang="en-US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altLang="ko-KR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3.</a:t>
            </a:r>
            <a:r>
              <a:rPr lang="ko-KR" altLang="en-US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디자이너</a:t>
            </a:r>
            <a:r>
              <a:rPr lang="en-US" altLang="ko-KR" sz="1400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4.  Claude </a:t>
            </a:r>
            <a:r>
              <a:rPr lang="ko-KR" altLang="en-US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피드백 기반</a:t>
            </a:r>
            <a:r>
              <a:rPr lang="en-US" altLang="ko-KR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,</a:t>
            </a:r>
            <a:r>
              <a:rPr lang="ko-KR" altLang="en-US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추가 인사이트 얻은 부분 작성하여 </a:t>
            </a:r>
            <a:r>
              <a:rPr lang="en-US" altLang="ko-KR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PRD </a:t>
            </a:r>
            <a:r>
              <a:rPr lang="ko-KR" altLang="en-US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문서 개선 작업 요청 </a:t>
            </a:r>
            <a:r>
              <a:rPr lang="en-US" altLang="ko-KR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(AI </a:t>
            </a:r>
            <a:r>
              <a:rPr lang="ko-KR" altLang="en-US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개선안 </a:t>
            </a:r>
            <a:r>
              <a:rPr lang="en-US" altLang="ko-KR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+</a:t>
            </a:r>
            <a:r>
              <a:rPr lang="ko-KR" altLang="en-US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직접 개선안</a:t>
            </a:r>
            <a:r>
              <a:rPr lang="en-US" altLang="ko-KR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ko-KR" altLang="en-US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업데이트</a:t>
            </a:r>
            <a:r>
              <a:rPr lang="en-US" altLang="ko-KR" sz="1400" b="1" dirty="0">
                <a:solidFill>
                  <a:srgbClr val="11111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)</a:t>
            </a:r>
            <a:endParaRPr lang="en-US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C0F48F7-9D3E-0C50-9972-547C12D18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472" y="1121534"/>
            <a:ext cx="3059615" cy="351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0951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Step 2: PRD 검수 포인트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8672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생성한 PRD를 그대로 쓰지 마세요. PM의 검증이 반드시 필요합니다.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41006"/>
            <a:ext cx="786384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64100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✅  문제 정의에 구체적 수치가 있는가?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93361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✗ </a:t>
            </a:r>
            <a:r>
              <a:rPr lang="en-US" sz="1100" dirty="0">
                <a:solidFill>
                  <a:srgbClr val="DC262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사용자들이 불편해한다</a:t>
            </a: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→   </a:t>
            </a:r>
            <a:r>
              <a:rPr lang="en-US" sz="1100" b="1" dirty="0">
                <a:solidFill>
                  <a:srgbClr val="16A3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✓ </a:t>
            </a:r>
            <a:r>
              <a:rPr lang="en-US" sz="1100" dirty="0">
                <a:solidFill>
                  <a:srgbClr val="16A3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직장인 82%가 매일 12분 소비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418246"/>
            <a:ext cx="786384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1520" y="241824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✅  In Scope / Out of Scope가 구분되어 있는가?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71085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✗ </a:t>
            </a:r>
            <a:r>
              <a:rPr lang="en-US" sz="1100" dirty="0">
                <a:solidFill>
                  <a:srgbClr val="DC262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추천 기능 구현</a:t>
            </a: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→   </a:t>
            </a:r>
            <a:r>
              <a:rPr lang="en-US" sz="1100" b="1" dirty="0">
                <a:solidFill>
                  <a:srgbClr val="16A3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✓ </a:t>
            </a:r>
            <a:r>
              <a:rPr lang="en-US" sz="1100" dirty="0">
                <a:solidFill>
                  <a:srgbClr val="16A3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In: 개인 추천 / Out: 그룹, 예약, 결제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195486"/>
            <a:ext cx="7863840" cy="6400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19548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✅  성공 지표에 측정 가능한 숫자가 있는가?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48809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✗ </a:t>
            </a:r>
            <a:r>
              <a:rPr lang="en-US" sz="1100" dirty="0">
                <a:solidFill>
                  <a:srgbClr val="DC262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사용자 만족도 향상</a:t>
            </a: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→   </a:t>
            </a:r>
            <a:r>
              <a:rPr lang="en-US" sz="1100" b="1" dirty="0">
                <a:solidFill>
                  <a:srgbClr val="16A3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✓ </a:t>
            </a:r>
            <a:r>
              <a:rPr lang="en-US" sz="1100" dirty="0">
                <a:solidFill>
                  <a:srgbClr val="16A3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수락률 60%, NPS 40+, WAU 1000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원칙: 구체적 &gt; 추상적  |  숫자 &gt; 형용사  |  링크 &gt; 복사  (PRD 작성 5대 원칙)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Step 3: Claude → 프로토타입 생성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44146"/>
            <a:ext cx="7863840" cy="237744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1627026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 PRD를 기반으로 모바일 웹 UI 프로토타입을
HTML 단일 파일로 만들어줘.
</a:t>
            </a: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[서비스명]: </a:t>
            </a:r>
            <a:r>
              <a:rPr lang="en-US" sz="12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오늘의 점심 메이트
</a:t>
            </a: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[핵심 기능]: </a:t>
            </a:r>
            <a:r>
              <a:rPr lang="en-US" sz="12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기분 선택 → 예산 선택 → 메뉴 3개 추천
</a:t>
            </a: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[조건]: </a:t>
            </a:r>
            <a:r>
              <a:rPr lang="en-US" sz="12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단일 HTML / 모바일 반응형 / 한국어 UI
</a:t>
            </a: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[디자인]: </a:t>
            </a:r>
            <a:r>
              <a:rPr lang="en-US" sz="12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모던 카드형 UI, 따뜻한 컬러 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4223619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💡 프롬프트를 복사해서 Claude.ai 또는 Claude Code에 붙여넣기  |  필요시 수정 프롬프트 추가</a:t>
            </a:r>
            <a:endParaRPr lang="en-US" sz="11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C923250-40DB-C51F-1501-47252C17D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497" y="1145722"/>
            <a:ext cx="1878146" cy="290337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F94515F-B2C4-5F4A-ADCA-640562477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3643" y="1145722"/>
            <a:ext cx="1621317" cy="290337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Step 3: 트러블슈팅</a:t>
            </a:r>
            <a:endParaRPr lang="en-US" sz="2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445316"/>
              </p:ext>
            </p:extLst>
          </p:nvPr>
        </p:nvGraphicFramePr>
        <p:xfrm>
          <a:off x="457200" y="1588107"/>
          <a:ext cx="8229600" cy="217627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문제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anumGothic Bold" pitchFamily="34" charset="0"/>
                          <a:ea typeface="NanumGothic Bold" pitchFamily="34" charset="-122"/>
                          <a:cs typeface="NanumGothic Bold" pitchFamily="34" charset="-120"/>
                        </a:rPr>
                        <a:t>해결 방법</a:t>
                      </a:r>
                      <a:endParaRPr lang="en-US" sz="1200" dirty="0">
                        <a:latin typeface="NanumGothic Bold" charset="0"/>
                        <a:ea typeface="NanumGothic Bold" charset="0"/>
                        <a:cs typeface="NanumGothi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HTML 파일이 안 열림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확장자가 .html인지 확인, 브라우저로 드래그 앤 드롭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화면이 하얗게만 나옴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Claude에게 '콘솔 오류 확인해줘' 재요청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디자인이 깨져 보임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'모바일 375px에 맞게 CSS 수정해줘' 재요청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응답이 중간에 끊김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'이어서 작성해줘' 또는 '남은 부분 완성해줘' 입력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기능이 동작하지 않음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NanumGothic" pitchFamily="34" charset="0"/>
                          <a:ea typeface="NanumGothic" pitchFamily="34" charset="-122"/>
                          <a:cs typeface="NanumGothic" pitchFamily="34" charset="-120"/>
                        </a:rPr>
                        <a:t>'버튼 클릭 이벤트가 작동하도록 JS 수정해줘' 재요청</a:t>
                      </a:r>
                      <a:endParaRPr lang="en-US" sz="1200" dirty="0">
                        <a:latin typeface="NanumGothic" charset="0"/>
                        <a:ea typeface="NanumGothic" charset="0"/>
                        <a:cs typeface="Nanum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💡 AI 응답이 마음에 안 들면? → 더 구체적인 지시를 추가하면 됩니다 ("~처럼 바꿔줘")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보너스: 프로토타입 배포하기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3682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만든 프로토타입을 외부에 공유하고 싶다면? 1-click 배포 서비스를 활용하세요.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520094"/>
            <a:ext cx="2514600" cy="23774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161153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Replit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023014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HTML 파일 업로드 → 즉시 배포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무료 플랜으로 충분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845974"/>
            <a:ext cx="2240280" cy="182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293741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추천: 빠른 테스트 공유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83280" y="1520094"/>
            <a:ext cx="2514600" cy="23774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520440" y="161153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Lovable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2023014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프롬프트 기반 앱 생성 + 자동 배포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디자인까지 담당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20440" y="2845974"/>
            <a:ext cx="2240280" cy="182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520440" y="293741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추천: 비개발자 친화적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520094"/>
            <a:ext cx="2514600" cy="23774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263640" y="161153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Vercel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023014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Git 연동 자동 배포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프로덕션 수준 호스팅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2845974"/>
            <a:ext cx="2240280" cy="182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263640" y="293741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추천: 개발팀 협업 시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오늘 실습에서는 로컬 HTML 파일로 충분합니다. 배포는 선택사항!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Next Level: AI 자동화로 생산성 높이기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58092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Claude는 요청하면 다 해주지만, 자주 하는 작업을 자동화하면 속도가 달라집니다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489488"/>
            <a:ext cx="7863840" cy="53035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13232" y="1562640"/>
            <a:ext cx="457200" cy="38404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13232" y="15626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Lv.1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48948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대화형 사용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1489488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Claude에게 하나씩 요청  →  PRD 생성, 프로토타입 제작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06640" y="15352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6B35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← 지금 여기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129568"/>
            <a:ext cx="7863840" cy="53035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713232" y="2202720"/>
            <a:ext cx="457200" cy="38404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13232" y="22027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Lv.2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212956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MCP + Skill 세팅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2129568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MCP: Jira·Slack 등 외부 서비스 연결  |  Skill: PM별 자주 쓰는 명령 미리 등록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769648"/>
            <a:ext cx="7863840" cy="53035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713232" y="2842800"/>
            <a:ext cx="457200" cy="38404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13232" y="28428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Lv.3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276964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Agent + Plugin 구성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60" y="2769648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Agent: 복잡한 작업을 자동 수행하는 AI 비서  |  Plugin: MCP+Skill을 묶어 원클릭 실행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409728"/>
            <a:ext cx="7863840" cy="530352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13232" y="3482880"/>
            <a:ext cx="457200" cy="38404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13232" y="34828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Lv.4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71600" y="340972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PM 조직 통합 자동화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66160" y="3409728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팀 공통 Skill·Agent·Plugin을 표준화  →  온보딩 1일 내 세팅 완료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자동화는 한 번에 하는 게 아닙니다. 반복되는 작업부터 하나씩 — 그게 PM의 생산성입니다.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Case: AI Doc Feedback Loop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Lv.4 "PM 조직 통합 자동화"의 실사례 — AI가 빠르게 쓰는 만큼, 사람 피드백도 같은 속도로 다시 AI에게.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491000"/>
            <a:ext cx="3749040" cy="2743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77240" y="1582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AS-IS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856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피드백이 4채널에 분산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3139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Confluence 인라인 댓글
· GitHub PR Review
· Slack DM / 쓰레드
· 회의 노트
</a:t>
            </a: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PM이 통합 정리에 </a:t>
            </a:r>
            <a:r>
              <a:rPr lang="en-US" sz="12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 5~10시간</a:t>
            </a: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소요</a:t>
            </a:r>
            <a:endParaRPr lang="en-US" sz="12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동일 </a:t>
            </a:r>
            <a:r>
              <a:rPr lang="en-US" sz="1200" dirty="0" err="1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피드백</a:t>
            </a: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</a:t>
            </a:r>
            <a:r>
              <a:rPr lang="en-US" sz="1200" b="1" dirty="0" err="1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재발생률</a:t>
            </a:r>
            <a:r>
              <a:rPr lang="en-US" sz="12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30%+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506114"/>
            <a:ext cx="3749040" cy="274320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506114"/>
            <a:ext cx="36576" cy="274320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892040" y="159755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2400E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TO-BE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87187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웹 한 화면 + 저장 한 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2329074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· 좌·중·우 3패널 (트리 / MD / 코멘트)
· 6카테고리 × 2계층 자동 태깅
· '피드백 저장' 클릭 한 번에
</a:t>
            </a:r>
            <a:r>
              <a:rPr lang="en-US" sz="1200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 → 원본+이력 MD
    → AI 개선 요약 MD (카테고리별 3개)
</a:t>
            </a:r>
            <a:r>
              <a:rPr lang="en-US" sz="1200" dirty="0">
                <a:solidFill>
                  <a:srgbClr val="92400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사이클 타임 </a:t>
            </a:r>
            <a:r>
              <a:rPr lang="en-US" sz="12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1~2일 → 1~2시간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6B3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빠르게 쓰는 만큼, 사람 피드백도 같은 속도로 다시 AI에게 흘려보내는 "루프"가 필요합니다.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분류 체계: 6카테고리 × 2계층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모든 피드백·AI 개선안·점수 시각화가 이 분류 체계를 공유합니다.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59013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High-Level Context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43061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프로젝트·프로덕트 세계관 · 전략 판단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01898" y="1642330"/>
            <a:ext cx="1511405" cy="793487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901898" y="1755345"/>
            <a:ext cx="1511405" cy="302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정책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01898" y="2149746"/>
            <a:ext cx="1511405" cy="226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Policy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22138" y="1642330"/>
            <a:ext cx="1511405" cy="793487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822138" y="1755345"/>
            <a:ext cx="1511405" cy="302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컨텍스트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22138" y="2149746"/>
            <a:ext cx="1511405" cy="226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Context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42378" y="1642330"/>
            <a:ext cx="1511405" cy="793487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742378" y="1755345"/>
            <a:ext cx="1511405" cy="302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문제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42378" y="2149746"/>
            <a:ext cx="1511405" cy="226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Problem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551251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Low-Level Spec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2935299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UX · 코드 구현을 위한 상세 정책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01898" y="2634568"/>
            <a:ext cx="1511405" cy="793487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901898" y="2747583"/>
            <a:ext cx="1511405" cy="302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해결점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901898" y="3141984"/>
            <a:ext cx="1511405" cy="226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Solution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22138" y="2634568"/>
            <a:ext cx="1511405" cy="793487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822138" y="2747583"/>
            <a:ext cx="1511405" cy="302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기능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22138" y="3141984"/>
            <a:ext cx="1511405" cy="226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Feature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42378" y="2634568"/>
            <a:ext cx="1511405" cy="793487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742378" y="2747583"/>
            <a:ext cx="1511405" cy="302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화면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742378" y="3141984"/>
            <a:ext cx="1511405" cy="226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Screen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3611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📄  피드백 저장 시 산출되는 두 종류 MD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3977640"/>
            <a:ext cx="3931920" cy="56692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40080" y="3977640"/>
            <a:ext cx="36576" cy="566928"/>
          </a:xfrm>
          <a:prstGeom prst="rect">
            <a:avLst/>
          </a:prstGeom>
          <a:solidFill>
            <a:srgbClr val="1F88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804672" y="399592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원본 + 피드백 이력 MD
</a:t>
            </a:r>
            <a:r>
              <a:rPr lang="en-US" sz="10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카테고리별 시각·작성자·본문 누적 테이블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3977640"/>
            <a:ext cx="3794760" cy="566928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709160" y="3977640"/>
            <a:ext cx="36576" cy="56692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873752" y="399592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92400E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AI 개선 요약 MD
</a:t>
            </a:r>
            <a:r>
              <a:rPr lang="en-US" sz="1000" dirty="0">
                <a:solidFill>
                  <a:srgbClr val="92400E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카테고리별 핵심 정리 1줄 + 개선안 3개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데모: Local-first 웹 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3682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Express + Vanilla JS · Claude/Codex CLI 자동 연동 · MD 호환 (GitHub/VS Code에서도 깨짐 없음)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468329"/>
            <a:ext cx="1463040" cy="21488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541481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문서 트리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834089"/>
            <a:ext cx="1325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projects</a:t>
            </a:r>
            <a:endParaRPr lang="en-US" sz="8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26Q2_AI-Doc-...</a:t>
            </a:r>
            <a:endParaRPr lang="en-US" sz="8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prd</a:t>
            </a:r>
            <a:endParaRPr lang="en-US" sz="8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📄 PRD.md</a:t>
            </a:r>
            <a:endParaRPr lang="en-US" sz="8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📄 2pager.md</a:t>
            </a:r>
            <a:endParaRPr lang="en-US" sz="8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📁 specs</a:t>
            </a:r>
            <a:endParaRPr lang="en-US" sz="8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📁 26Q2_Fastcampus</a:t>
            </a:r>
            <a:endParaRPr lang="en-US" sz="8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docs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194560" y="1468329"/>
            <a:ext cx="42062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331720" y="1578057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# AI Doc Feedback Loop PRD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31720" y="1971249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## §3. Problem Definition  💬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31720" y="2273001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피드백 4채널 분산 → PM 주 5~10h 수작업. AI 초안 30분 vs 반영본 3시간+ ...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31720" y="2794209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## §4. Solution Proposed  💬 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31720" y="3095961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저장 한 번에 (원본+이력) + (AI 개선안 3개) 두 MD 자동 산출 ...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92240" y="1468329"/>
            <a:ext cx="2103120" cy="21488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583680" y="1541481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피드백 (4)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1852377"/>
            <a:ext cx="1920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583680" y="1852377"/>
            <a:ext cx="54864" cy="3657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693408" y="1879809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5CF6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정책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223760" y="1879809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Designer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693408" y="2035257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PII 처리 정책 명시 필요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583680" y="2273001"/>
            <a:ext cx="1920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583680" y="2273001"/>
            <a:ext cx="54864" cy="3657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693408" y="2300433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F444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문제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223760" y="2300433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693408" y="2455881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P2 영향 수치 근거는?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583680" y="2693625"/>
            <a:ext cx="1920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583680" y="2693625"/>
            <a:ext cx="54864" cy="3657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693408" y="2721057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97316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기능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223760" y="2721057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693408" y="2876505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F-04 자동/수동 토글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583680" y="3114249"/>
            <a:ext cx="19202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583680" y="3114249"/>
            <a:ext cx="54864" cy="3657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693408" y="3141681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B6D4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화면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223760" y="3141681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Designer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693408" y="3297129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우측 패널 폭 340 → 380?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40080" y="3633795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①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" y="38130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코멘트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(6카테고리)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12848" y="3633795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②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212848" y="38130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[피드백 저장]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클릭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785616" y="3633795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③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785616" y="38130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Claude/Codex CLI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자동 호출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58384" y="3633795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④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58384" y="38130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2종 MD 생성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(원본+이력 / 개선안 3개)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31152" y="3633795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⑤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931152" y="381304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Desktop에서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다음 리비전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0080" y="43205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Code: projects/26Q2_AI-Doc-Feedback-Loop/app  ·  cd app &amp;&amp; npm install &amp;&amp; npm start  ·  http://localhost:5174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오늘 여러분이 만든 것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737360" y="1371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PRD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74720" y="1371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AI가 구조화한 제품 기획서 — Why/What/How 프레임워크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Prototype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1965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15분 만에 만든 동작하는 모바일 웹 데모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3736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Workflow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2560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아이디어 → PRD → 프로토타입 → 배포 반복 프로세스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3736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6B35"/>
                </a:solidFill>
                <a:latin typeface="NanumGothicExtraBold" pitchFamily="34" charset="0"/>
                <a:ea typeface="NanumGothicExtraBold" pitchFamily="34" charset="-122"/>
                <a:cs typeface="NanumGothicExtraBold" pitchFamily="34" charset="-120"/>
              </a:rPr>
              <a:t>PM의 역할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3154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시대에도 변하지 않는 PM의 4가지 고유 역량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914400" cy="3657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NanumGothic Bold" pitchFamily="34" charset="0"/>
                <a:ea typeface="NanumGothic Bold" pitchFamily="34" charset="-122"/>
                <a:cs typeface="NanumGothic Bold" pitchFamily="34" charset="-120"/>
              </a:rPr>
              <a:t>AI NATIVE 시대, 여러분은 이미 준비되었습니다.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76072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차성재  |  FastCampus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Q&amp;A  ·  피드백  ·  네트워킹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3129</Words>
  <Application>Microsoft Macintosh PowerPoint</Application>
  <PresentationFormat>화면 슬라이드 쇼(16:9)</PresentationFormat>
  <Paragraphs>544</Paragraphs>
  <Slides>38</Slides>
  <Notes>38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4" baseType="lpstr">
      <vt:lpstr>NanumGothic</vt:lpstr>
      <vt:lpstr>NanumGothic Bold</vt:lpstr>
      <vt:lpstr>NanumGothicExtraBold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NATIVE 시대, AI PM의 새로운 무기</dc:title>
  <dc:subject>PptxGenJS Presentation</dc:subject>
  <dc:creator>차성재</dc:creator>
  <cp:lastModifiedBy>A4794</cp:lastModifiedBy>
  <cp:revision>5</cp:revision>
  <dcterms:created xsi:type="dcterms:W3CDTF">2026-05-18T01:33:52Z</dcterms:created>
  <dcterms:modified xsi:type="dcterms:W3CDTF">2026-05-19T02:39:42Z</dcterms:modified>
</cp:coreProperties>
</file>