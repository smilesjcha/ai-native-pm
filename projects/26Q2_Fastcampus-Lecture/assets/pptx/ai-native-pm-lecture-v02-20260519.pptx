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280160"/>
            <a:ext cx="914400" cy="36576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1417320"/>
            <a:ext cx="7863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3800" dirty="0">
                <a:solidFill>
                  <a:srgbClr val="FFFFFF"/>
                </a:solidFill>
                <a:latin typeface="NanumGothic ExtraBold" pitchFamily="34" charset="0"/>
                <a:ea typeface="NanumGothic ExtraBold" pitchFamily="34" charset="-122"/>
                <a:cs typeface="NanumGothic ExtraBold" pitchFamily="34" charset="-120"/>
              </a:rPr>
              <a:t>AI NATIVE 시대,</a:t>
            </a:r>
            <a:endParaRPr lang="en-US" sz="38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3800" dirty="0">
                <a:solidFill>
                  <a:srgbClr val="FFFFFF"/>
                </a:solidFill>
                <a:latin typeface="NanumGothic ExtraBold" pitchFamily="34" charset="0"/>
                <a:ea typeface="NanumGothic ExtraBold" pitchFamily="34" charset="-122"/>
                <a:cs typeface="NanumGothic ExtraBold" pitchFamily="34" charset="-120"/>
              </a:rPr>
              <a:t>AI PM의 새로운 무기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640080" y="301752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글로벌 PM 트렌드  ·  기획 문서 계층  ·  AI 도구 협업  ·  프로토타입 데모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6B35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FastCampus  |  2026.04.16  |  차성재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66928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11111"/>
                </a:solidFill>
                <a:latin typeface="NanumGothic ExtraBold" pitchFamily="34" charset="0"/>
                <a:ea typeface="NanumGothic ExtraBold" pitchFamily="34" charset="-122"/>
                <a:cs typeface="NanumGothic ExtraBold" pitchFamily="34" charset="-120"/>
              </a:rPr>
              <a:t>오늘의 여정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40080" y="1143000"/>
            <a:ext cx="3749040" cy="2560320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23444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11111"/>
                </a:solidFill>
                <a:latin typeface="NanumGothic ExtraBold" pitchFamily="34" charset="0"/>
                <a:ea typeface="NanumGothic ExtraBold" pitchFamily="34" charset="-122"/>
                <a:cs typeface="NanumGothic ExtraBold" pitchFamily="34" charset="-120"/>
              </a:rPr>
              <a:t>🎤  강의  30분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22960" y="1645920"/>
            <a:ext cx="33832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45000"/>
              </a:lnSpc>
              <a:buSzPct val="100000"/>
              <a:buChar char="•"/>
            </a:pPr>
            <a:r>
              <a:rPr lang="en-US" sz="1200" dirty="0">
                <a:solidFill>
                  <a:srgbClr val="2A2A2A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PM의 본질과 고유 역할</a:t>
            </a:r>
            <a:endParaRPr lang="en-US" sz="1200" dirty="0"/>
          </a:p>
          <a:p>
            <a:pPr marL="342900" indent="-342900">
              <a:lnSpc>
                <a:spcPct val="145000"/>
              </a:lnSpc>
              <a:buSzPct val="100000"/>
              <a:buChar char="•"/>
            </a:pPr>
            <a:r>
              <a:rPr lang="en-US" sz="1200" dirty="0">
                <a:solidFill>
                  <a:srgbClr val="2A2A2A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3가지 시대: Feature → Product-Led → AI Native</a:t>
            </a:r>
            <a:endParaRPr lang="en-US" sz="1200" dirty="0"/>
          </a:p>
          <a:p>
            <a:pPr marL="342900" indent="-342900">
              <a:lnSpc>
                <a:spcPct val="145000"/>
              </a:lnSpc>
              <a:buSzPct val="100000"/>
              <a:buChar char="•"/>
            </a:pPr>
            <a:r>
              <a:rPr lang="en-US" sz="1200" dirty="0">
                <a:solidFill>
                  <a:srgbClr val="2A2A2A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기획 문서 계층과 Why→What→How</a:t>
            </a:r>
            <a:endParaRPr lang="en-US" sz="1200" dirty="0"/>
          </a:p>
          <a:p>
            <a:pPr marL="342900" indent="-342900">
              <a:lnSpc>
                <a:spcPct val="145000"/>
              </a:lnSpc>
              <a:buSzPct val="100000"/>
              <a:buChar char="•"/>
            </a:pPr>
            <a:r>
              <a:rPr lang="en-US" sz="1200" dirty="0">
                <a:solidFill>
                  <a:srgbClr val="2A2A2A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AI 도구 협업 마스터 플랜</a:t>
            </a:r>
            <a:endParaRPr lang="en-US" sz="1200" dirty="0"/>
          </a:p>
          <a:p>
            <a:pPr marL="342900" indent="-342900">
              <a:lnSpc>
                <a:spcPct val="145000"/>
              </a:lnSpc>
              <a:buSzPct val="100000"/>
              <a:buChar char="•"/>
            </a:pPr>
            <a:r>
              <a:rPr lang="en-US" sz="1200" dirty="0">
                <a:solidFill>
                  <a:srgbClr val="2A2A2A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라이브 데모: PRD + 프로토타입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663440" y="1143000"/>
            <a:ext cx="3749040" cy="2560320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9" name="Shape 7"/>
          <p:cNvSpPr/>
          <p:nvPr/>
        </p:nvSpPr>
        <p:spPr>
          <a:xfrm>
            <a:off x="4663440" y="1143000"/>
            <a:ext cx="36576" cy="2560320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123444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6B35"/>
                </a:solidFill>
                <a:latin typeface="NanumGothic ExtraBold" pitchFamily="34" charset="0"/>
                <a:ea typeface="NanumGothic ExtraBold" pitchFamily="34" charset="-122"/>
                <a:cs typeface="NanumGothic ExtraBold" pitchFamily="34" charset="-120"/>
              </a:rPr>
              <a:t>💻  실습  60분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892040" y="1645920"/>
            <a:ext cx="33832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45000"/>
              </a:lnSpc>
              <a:buSzPct val="100000"/>
              <a:buChar char="•"/>
            </a:pPr>
            <a:r>
              <a:rPr lang="en-US" sz="1200" dirty="0">
                <a:solidFill>
                  <a:srgbClr val="2A2A2A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아이디어 → PRD 재료 (5개 항목)</a:t>
            </a:r>
            <a:endParaRPr lang="en-US" sz="1200" dirty="0"/>
          </a:p>
          <a:p>
            <a:pPr marL="342900" indent="-342900">
              <a:lnSpc>
                <a:spcPct val="145000"/>
              </a:lnSpc>
              <a:buSzPct val="100000"/>
              <a:buChar char="•"/>
            </a:pPr>
            <a:r>
              <a:rPr lang="en-US" sz="1200" dirty="0">
                <a:solidFill>
                  <a:srgbClr val="2A2A2A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Manyfast.io로 PRD 초안 생성</a:t>
            </a:r>
            <a:endParaRPr lang="en-US" sz="1200" dirty="0"/>
          </a:p>
          <a:p>
            <a:pPr marL="342900" indent="-342900">
              <a:lnSpc>
                <a:spcPct val="145000"/>
              </a:lnSpc>
              <a:buSzPct val="100000"/>
              <a:buChar char="•"/>
            </a:pPr>
            <a:r>
              <a:rPr lang="en-US" sz="1200" dirty="0">
                <a:solidFill>
                  <a:srgbClr val="2A2A2A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Claude Code로 HTML 프로토타입</a:t>
            </a:r>
            <a:endParaRPr lang="en-US" sz="1200" dirty="0"/>
          </a:p>
          <a:p>
            <a:pPr marL="342900" indent="-342900">
              <a:lnSpc>
                <a:spcPct val="145000"/>
              </a:lnSpc>
              <a:buSzPct val="100000"/>
              <a:buChar char="•"/>
            </a:pPr>
            <a:r>
              <a:rPr lang="en-US" sz="1200" dirty="0">
                <a:solidFill>
                  <a:srgbClr val="2A2A2A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배포까지 (Replit / Lovable / Vercel)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40080" y="432054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오늘의 목표:  PRD + 동작하는 프로토타입을 직접 만들어 가기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822960"/>
            <a:ext cx="78638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5000"/>
              </a:lnSpc>
              <a:buNone/>
            </a:pPr>
            <a:r>
              <a:rPr lang="en-US" sz="3600" dirty="0">
                <a:solidFill>
                  <a:srgbClr val="111111"/>
                </a:solidFill>
                <a:latin typeface="NanumGothic ExtraBold" pitchFamily="34" charset="0"/>
                <a:ea typeface="NanumGothic ExtraBold" pitchFamily="34" charset="-122"/>
                <a:cs typeface="NanumGothic ExtraBold" pitchFamily="34" charset="-120"/>
              </a:rPr>
              <a:t>PM 채용 공고에서</a:t>
            </a:r>
            <a:endParaRPr lang="en-US" sz="3600" dirty="0"/>
          </a:p>
          <a:p>
            <a:pPr algn="ctr" indent="0" marL="0">
              <a:lnSpc>
                <a:spcPct val="135000"/>
              </a:lnSpc>
              <a:buNone/>
            </a:pPr>
            <a:r>
              <a:rPr lang="en-US" sz="3600" dirty="0">
                <a:solidFill>
                  <a:srgbClr val="111111"/>
                </a:solidFill>
                <a:latin typeface="NanumGothic ExtraBold" pitchFamily="34" charset="0"/>
                <a:ea typeface="NanumGothic ExtraBold" pitchFamily="34" charset="-122"/>
                <a:cs typeface="NanumGothic ExtraBold" pitchFamily="34" charset="-120"/>
              </a:rPr>
              <a:t>가장 많이 추가된</a:t>
            </a:r>
            <a:endParaRPr lang="en-US" sz="3600" dirty="0"/>
          </a:p>
          <a:p>
            <a:pPr algn="ctr" indent="0" marL="0">
              <a:lnSpc>
                <a:spcPct val="135000"/>
              </a:lnSpc>
              <a:buNone/>
            </a:pPr>
            <a:r>
              <a:rPr lang="en-US" sz="3600" dirty="0">
                <a:solidFill>
                  <a:srgbClr val="111111"/>
                </a:solidFill>
                <a:latin typeface="NanumGothic ExtraBold" pitchFamily="34" charset="0"/>
                <a:ea typeface="NanumGothic ExtraBold" pitchFamily="34" charset="-122"/>
                <a:cs typeface="NanumGothic ExtraBold" pitchFamily="34" charset="-120"/>
              </a:rPr>
              <a:t>키워드는?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640080" y="320040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6B35"/>
                </a:solidFill>
                <a:latin typeface="NanumGothic Bold" pitchFamily="34" charset="0"/>
                <a:ea typeface="NanumGothic Bold" pitchFamily="34" charset="-122"/>
                <a:cs typeface="NanumGothic Bold" pitchFamily="34" charset="-120"/>
              </a:rPr>
              <a:t>2024  vs  2026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432054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💡 손 들기 유도:  "AI?  프로토타이핑?  데이터?"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66928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11111"/>
                </a:solidFill>
                <a:latin typeface="NanumGothic ExtraBold" pitchFamily="34" charset="0"/>
                <a:ea typeface="NanumGothic ExtraBold" pitchFamily="34" charset="-122"/>
                <a:cs typeface="NanumGothic ExtraBold" pitchFamily="34" charset="-120"/>
              </a:rPr>
              <a:t>AI, PM 채용의 뉴노멀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40080" y="109728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ProductBoard PM Hiring Report 기반 분석</a:t>
            </a:r>
            <a:endParaRPr lang="en-US" sz="1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097280" y="1097280"/>
          <a:ext cx="694944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920240"/>
                <a:gridCol w="1920240"/>
                <a:gridCol w="1920240"/>
              </a:tblGrid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500" dirty="0">
                        <a:latin typeface="NanumGothic" charset="0"/>
                        <a:ea typeface="NanumGothic" charset="0"/>
                        <a:cs typeface="Nanum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NanumGothic Bold" pitchFamily="34" charset="0"/>
                          <a:ea typeface="NanumGothic Bold" pitchFamily="34" charset="-122"/>
                          <a:cs typeface="NanumGothic Bold" pitchFamily="34" charset="-120"/>
                        </a:rPr>
                        <a:t>AI 언급</a:t>
                      </a:r>
                      <a:endParaRPr lang="en-US" sz="1500" dirty="0">
                        <a:latin typeface="NanumGothic Bold" charset="0"/>
                        <a:ea typeface="NanumGothic Bold" charset="0"/>
                        <a:cs typeface="NanumGothi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NanumGothic Bold" pitchFamily="34" charset="0"/>
                          <a:ea typeface="NanumGothic Bold" pitchFamily="34" charset="-122"/>
                          <a:cs typeface="NanumGothic Bold" pitchFamily="34" charset="-120"/>
                        </a:rPr>
                        <a:t>프로토타이핑 우대</a:t>
                      </a:r>
                      <a:endParaRPr lang="en-US" sz="1500" dirty="0">
                        <a:latin typeface="NanumGothic Bold" charset="0"/>
                        <a:ea typeface="NanumGothic Bold" charset="0"/>
                        <a:cs typeface="NanumGothi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NanumGothic Bold" pitchFamily="34" charset="0"/>
                          <a:ea typeface="NanumGothic Bold" pitchFamily="34" charset="-122"/>
                          <a:cs typeface="NanumGothic Bold" pitchFamily="34" charset="-120"/>
                        </a:rPr>
                        <a:t>프롬프트 역량</a:t>
                      </a:r>
                      <a:endParaRPr lang="en-US" sz="1500" dirty="0">
                        <a:latin typeface="NanumGothic Bold" charset="0"/>
                        <a:ea typeface="NanumGothic Bold" charset="0"/>
                        <a:cs typeface="NanumGothi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000000"/>
                          </a:solidFill>
                          <a:latin typeface="NanumGothic Bold" pitchFamily="34" charset="0"/>
                          <a:ea typeface="NanumGothic Bold" pitchFamily="34" charset="-122"/>
                          <a:cs typeface="NanumGothic Bold" pitchFamily="34" charset="-120"/>
                        </a:rPr>
                        <a:t>2024</a:t>
                      </a:r>
                      <a:endParaRPr lang="en-US" sz="1500" dirty="0">
                        <a:latin typeface="NanumGothic Bold" charset="0"/>
                        <a:ea typeface="NanumGothic Bold" charset="0"/>
                        <a:cs typeface="NanumGothi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000000"/>
                          </a:solidFill>
                          <a:latin typeface="NanumGothic" pitchFamily="34" charset="0"/>
                          <a:ea typeface="NanumGothic" pitchFamily="34" charset="-122"/>
                          <a:cs typeface="NanumGothic" pitchFamily="34" charset="-120"/>
                        </a:rPr>
                        <a:t>23%</a:t>
                      </a:r>
                      <a:endParaRPr lang="en-US" sz="1500" dirty="0">
                        <a:latin typeface="NanumGothic" charset="0"/>
                        <a:ea typeface="NanumGothic" charset="0"/>
                        <a:cs typeface="Nanum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000000"/>
                          </a:solidFill>
                          <a:latin typeface="NanumGothic" pitchFamily="34" charset="0"/>
                          <a:ea typeface="NanumGothic" pitchFamily="34" charset="-122"/>
                          <a:cs typeface="NanumGothic" pitchFamily="34" charset="-120"/>
                        </a:rPr>
                        <a:t>15%</a:t>
                      </a:r>
                      <a:endParaRPr lang="en-US" sz="1500" dirty="0">
                        <a:latin typeface="NanumGothic" charset="0"/>
                        <a:ea typeface="NanumGothic" charset="0"/>
                        <a:cs typeface="Nanum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000000"/>
                          </a:solidFill>
                          <a:latin typeface="NanumGothic" pitchFamily="34" charset="0"/>
                          <a:ea typeface="NanumGothic" pitchFamily="34" charset="-122"/>
                          <a:cs typeface="NanumGothic" pitchFamily="34" charset="-120"/>
                        </a:rPr>
                        <a:t>5%</a:t>
                      </a:r>
                      <a:endParaRPr lang="en-US" sz="1500" dirty="0">
                        <a:latin typeface="NanumGothic" charset="0"/>
                        <a:ea typeface="NanumGothic" charset="0"/>
                        <a:cs typeface="Nanum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000000"/>
                          </a:solidFill>
                          <a:latin typeface="NanumGothic Bold" pitchFamily="34" charset="0"/>
                          <a:ea typeface="NanumGothic Bold" pitchFamily="34" charset="-122"/>
                          <a:cs typeface="NanumGothic Bold" pitchFamily="34" charset="-120"/>
                        </a:rPr>
                        <a:t>2026</a:t>
                      </a:r>
                      <a:endParaRPr lang="en-US" sz="1500" dirty="0">
                        <a:latin typeface="NanumGothic Bold" charset="0"/>
                        <a:ea typeface="NanumGothic Bold" charset="0"/>
                        <a:cs typeface="NanumGothi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6B35"/>
                          </a:solidFill>
                          <a:latin typeface="NanumGothic Bold" pitchFamily="34" charset="0"/>
                          <a:ea typeface="NanumGothic Bold" pitchFamily="34" charset="-122"/>
                          <a:cs typeface="NanumGothic Bold" pitchFamily="34" charset="-120"/>
                        </a:rPr>
                        <a:t>67%</a:t>
                      </a:r>
                      <a:endParaRPr lang="en-US" sz="1500" dirty="0">
                        <a:latin typeface="NanumGothic Bold" charset="0"/>
                        <a:ea typeface="NanumGothic Bold" charset="0"/>
                        <a:cs typeface="NanumGothi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6B35"/>
                          </a:solidFill>
                          <a:latin typeface="NanumGothic Bold" pitchFamily="34" charset="0"/>
                          <a:ea typeface="NanumGothic Bold" pitchFamily="34" charset="-122"/>
                          <a:cs typeface="NanumGothic Bold" pitchFamily="34" charset="-120"/>
                        </a:rPr>
                        <a:t>52%</a:t>
                      </a:r>
                      <a:endParaRPr lang="en-US" sz="1500" dirty="0">
                        <a:latin typeface="NanumGothic Bold" charset="0"/>
                        <a:ea typeface="NanumGothic Bold" charset="0"/>
                        <a:cs typeface="NanumGothi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6B35"/>
                          </a:solidFill>
                          <a:latin typeface="NanumGothic Bold" pitchFamily="34" charset="0"/>
                          <a:ea typeface="NanumGothic Bold" pitchFamily="34" charset="-122"/>
                          <a:cs typeface="NanumGothic Bold" pitchFamily="34" charset="-120"/>
                        </a:rPr>
                        <a:t>38%</a:t>
                      </a:r>
                      <a:endParaRPr lang="en-US" sz="1500" dirty="0">
                        <a:latin typeface="NanumGothic Bold" charset="0"/>
                        <a:ea typeface="NanumGothic Bold" charset="0"/>
                        <a:cs typeface="NanumGothi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640080" y="25603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6B35"/>
                </a:solidFill>
                <a:latin typeface="NanumGothic ExtraBold" pitchFamily="34" charset="0"/>
                <a:ea typeface="NanumGothic ExtraBold" pitchFamily="34" charset="-122"/>
                <a:cs typeface="NanumGothic ExtraBold" pitchFamily="34" charset="-120"/>
              </a:rPr>
              <a:t>약 3배 증가</a:t>
            </a:r>
            <a:endParaRPr lang="en-US" sz="2800" dirty="0"/>
          </a:p>
        </p:txBody>
      </p:sp>
      <p:sp>
        <p:nvSpPr>
          <p:cNvPr id="8" name="Text 5"/>
          <p:cNvSpPr/>
          <p:nvPr/>
        </p:nvSpPr>
        <p:spPr>
          <a:xfrm>
            <a:off x="640080" y="432054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출처: PM 채용 트렌드 리포트 2024-2026, 글로벌 채용 플랫폼 데이터 종합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863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3400" dirty="0">
                <a:solidFill>
                  <a:srgbClr val="FFFFFF"/>
                </a:solidFill>
                <a:latin typeface="NanumGothic ExtraBold" pitchFamily="34" charset="0"/>
                <a:ea typeface="NanumGothic ExtraBold" pitchFamily="34" charset="-122"/>
                <a:cs typeface="NanumGothic ExtraBold" pitchFamily="34" charset="-120"/>
              </a:rPr>
              <a:t>AI가 PM을</a:t>
            </a:r>
            <a:endParaRPr lang="en-US" sz="34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3400" dirty="0">
                <a:solidFill>
                  <a:srgbClr val="FFFFFF"/>
                </a:solidFill>
                <a:latin typeface="NanumGothic ExtraBold" pitchFamily="34" charset="0"/>
                <a:ea typeface="NanumGothic ExtraBold" pitchFamily="34" charset="-122"/>
                <a:cs typeface="NanumGothic ExtraBold" pitchFamily="34" charset="-120"/>
              </a:rPr>
              <a:t>대체하는 게 아닙니다.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1097280" y="2514600"/>
            <a:ext cx="6949440" cy="685800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4" name="Text 2"/>
          <p:cNvSpPr/>
          <p:nvPr/>
        </p:nvSpPr>
        <p:spPr>
          <a:xfrm>
            <a:off x="1097280" y="2514600"/>
            <a:ext cx="6949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NanumGothic ExtraBold" pitchFamily="34" charset="0"/>
                <a:ea typeface="NanumGothic ExtraBold" pitchFamily="34" charset="-122"/>
                <a:cs typeface="NanumGothic ExtraBold" pitchFamily="34" charset="-120"/>
              </a:rPr>
              <a:t>AI를 쓰는 PM이, 안 쓰는 PM을 대체합니다.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640080" y="356616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그렇다면, PM만의 고유한 역할은 무엇인가?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66928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11111"/>
                </a:solidFill>
                <a:latin typeface="NanumGothic ExtraBold" pitchFamily="34" charset="0"/>
                <a:ea typeface="NanumGothic ExtraBold" pitchFamily="34" charset="-122"/>
                <a:cs typeface="NanumGothic ExtraBold" pitchFamily="34" charset="-120"/>
              </a:rPr>
              <a:t>PM만이 할 수 있는 고유한 역할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40080" y="109728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개발자도 PRD를 쓸 수 있고, AI가 코드도 만들어주는 시대 — PM의 본질이 더 중요해졌다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" y="1051560"/>
            <a:ext cx="457200" cy="50292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051560"/>
            <a:ext cx="457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NanumGothic ExtraBold" pitchFamily="34" charset="0"/>
                <a:ea typeface="NanumGothic ExtraBold" pitchFamily="34" charset="-122"/>
                <a:cs typeface="NanumGothic ExtraBold" pitchFamily="34" charset="-120"/>
              </a:rPr>
              <a:t>01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280160" y="105156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11111"/>
                </a:solidFill>
                <a:latin typeface="NanumGothic ExtraBold" pitchFamily="34" charset="0"/>
                <a:ea typeface="NanumGothic ExtraBold" pitchFamily="34" charset="-122"/>
                <a:cs typeface="NanumGothic ExtraBold" pitchFamily="34" charset="-120"/>
              </a:rPr>
              <a:t>도메인 이해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3383280" y="1051560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실제 산업 현장의 맥락을 파악하고, 현재 상태에서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유의미한 방향성을 정의하는 능력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1280160" y="1600200"/>
            <a:ext cx="7223760" cy="9144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11" name="Shape 9"/>
          <p:cNvSpPr/>
          <p:nvPr/>
        </p:nvSpPr>
        <p:spPr>
          <a:xfrm>
            <a:off x="640080" y="1709928"/>
            <a:ext cx="457200" cy="50292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" y="1709928"/>
            <a:ext cx="457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NanumGothic ExtraBold" pitchFamily="34" charset="0"/>
                <a:ea typeface="NanumGothic ExtraBold" pitchFamily="34" charset="-122"/>
                <a:cs typeface="NanumGothic ExtraBold" pitchFamily="34" charset="-120"/>
              </a:rPr>
              <a:t>02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280160" y="170992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11111"/>
                </a:solidFill>
                <a:latin typeface="NanumGothic ExtraBold" pitchFamily="34" charset="0"/>
                <a:ea typeface="NanumGothic ExtraBold" pitchFamily="34" charset="-122"/>
                <a:cs typeface="NanumGothic ExtraBold" pitchFamily="34" charset="-120"/>
              </a:rPr>
              <a:t>비즈니스 판단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383280" y="1709928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수익성 · 신규 고객 확장력 · 대표/이사회/투자자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기대치를 종합하여 제품 방향을 결정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280160" y="2258568"/>
            <a:ext cx="7223760" cy="9144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16" name="Shape 14"/>
          <p:cNvSpPr/>
          <p:nvPr/>
        </p:nvSpPr>
        <p:spPr>
          <a:xfrm>
            <a:off x="640080" y="2368296"/>
            <a:ext cx="457200" cy="50292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2368296"/>
            <a:ext cx="457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NanumGothic ExtraBold" pitchFamily="34" charset="0"/>
                <a:ea typeface="NanumGothic ExtraBold" pitchFamily="34" charset="-122"/>
                <a:cs typeface="NanumGothic ExtraBold" pitchFamily="34" charset="-120"/>
              </a:rPr>
              <a:t>03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280160" y="2368296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11111"/>
                </a:solidFill>
                <a:latin typeface="NanumGothic ExtraBold" pitchFamily="34" charset="0"/>
                <a:ea typeface="NanumGothic ExtraBold" pitchFamily="34" charset="-122"/>
                <a:cs typeface="NanumGothic ExtraBold" pitchFamily="34" charset="-120"/>
              </a:rPr>
              <a:t>제약 조건 내 최적화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3383280" y="2368296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주어진 예산 · 기간 · 개발 인력 안에서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최대 아웃풋을 내는 현실적 스코프 설계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1280160" y="2916936"/>
            <a:ext cx="7223760" cy="9144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21" name="Shape 19"/>
          <p:cNvSpPr/>
          <p:nvPr/>
        </p:nvSpPr>
        <p:spPr>
          <a:xfrm>
            <a:off x="640080" y="3026664"/>
            <a:ext cx="457200" cy="50292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3026664"/>
            <a:ext cx="457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NanumGothic ExtraBold" pitchFamily="34" charset="0"/>
                <a:ea typeface="NanumGothic ExtraBold" pitchFamily="34" charset="-122"/>
                <a:cs typeface="NanumGothic ExtraBold" pitchFamily="34" charset="-120"/>
              </a:rPr>
              <a:t>04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280160" y="3026664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11111"/>
                </a:solidFill>
                <a:latin typeface="NanumGothic ExtraBold" pitchFamily="34" charset="0"/>
                <a:ea typeface="NanumGothic ExtraBold" pitchFamily="34" charset="-122"/>
                <a:cs typeface="NanumGothic ExtraBold" pitchFamily="34" charset="-120"/>
              </a:rPr>
              <a:t>기능 수준의 우선순위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3383280" y="3026664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기능 하나하나에 P0/P1/P2를 매기고,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무엇을 먼저 만들지 결정하는 판단력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640080" y="432054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6B35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AI는 실행 속도를 높여주지만, 무엇을 실행할지 결정하는 것은 PM이다.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66928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11111"/>
                </a:solidFill>
                <a:latin typeface="NanumGothic ExtraBold" pitchFamily="34" charset="0"/>
                <a:ea typeface="NanumGothic ExtraBold" pitchFamily="34" charset="-122"/>
                <a:cs typeface="NanumGothic ExtraBold" pitchFamily="34" charset="-120"/>
              </a:rPr>
              <a:t>AI 시대, PM의 본질 = 맥락 설계자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40080" y="1143000"/>
            <a:ext cx="3749040" cy="2743200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234440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NanumGothic ExtraBold" pitchFamily="34" charset="0"/>
                <a:ea typeface="NanumGothic ExtraBold" pitchFamily="34" charset="-122"/>
                <a:cs typeface="NanumGothic ExtraBold" pitchFamily="34" charset="-120"/>
              </a:rPr>
              <a:t>AI가 잘하는 것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" y="1645920"/>
            <a:ext cx="33832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시장 데이터 수집 · 경쟁사 분석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PRD 구조화 · 기능 명세 초안 작성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프로토타입 코드 생성 (HTML/React)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KPI 프레임워크 제안 · 지표 설계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사용자 시나리오 · 엣지 케이스 도출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663440" y="1143000"/>
            <a:ext cx="3749040" cy="27432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9" name="Text 7"/>
          <p:cNvSpPr/>
          <p:nvPr/>
        </p:nvSpPr>
        <p:spPr>
          <a:xfrm>
            <a:off x="4846320" y="1234440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6B35"/>
                </a:solidFill>
                <a:latin typeface="NanumGothic ExtraBold" pitchFamily="34" charset="0"/>
                <a:ea typeface="NanumGothic ExtraBold" pitchFamily="34" charset="-122"/>
                <a:cs typeface="NanumGothic ExtraBold" pitchFamily="34" charset="-120"/>
              </a:rPr>
              <a:t>PM만이 해야 하는 것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846320" y="1645920"/>
            <a:ext cx="33832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"이것을 왜 지금 해야 하는가" 판단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트레이드오프 결정 (범위 vs 일정 vs 품질)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이해관계자 합의와 우선순위 조율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자사 데이터 해석과 비즈니스 판단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Go / No-Go 의사결정과 리스크 관리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40080" y="432054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6B35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AI는 최고의 부사수. 하지만 방향을 정하는 건 PM이다.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66928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11111"/>
                </a:solidFill>
                <a:latin typeface="NanumGothic ExtraBold" pitchFamily="34" charset="0"/>
                <a:ea typeface="NanumGothic ExtraBold" pitchFamily="34" charset="-122"/>
                <a:cs typeface="NanumGothic ExtraBold" pitchFamily="34" charset="-120"/>
              </a:rPr>
              <a:t>PM의 3가지 시대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40080" y="1143000"/>
            <a:ext cx="2514600" cy="2743200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252728"/>
            <a:ext cx="2240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Era 1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77240" y="150876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11111"/>
                </a:solidFill>
                <a:latin typeface="NanumGothic ExtraBold" pitchFamily="34" charset="0"/>
                <a:ea typeface="NanumGothic ExtraBold" pitchFamily="34" charset="-122"/>
                <a:cs typeface="NanumGothic ExtraBold" pitchFamily="34" charset="-120"/>
              </a:rPr>
              <a:t>Feature PM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77240" y="1892808"/>
            <a:ext cx="2240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~2019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777240" y="2194560"/>
            <a:ext cx="2240280" cy="18288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10" name="Text 8"/>
          <p:cNvSpPr/>
          <p:nvPr/>
        </p:nvSpPr>
        <p:spPr>
          <a:xfrm>
            <a:off x="777240" y="228600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11111"/>
                </a:solidFill>
                <a:latin typeface="NanumGothic Bold" pitchFamily="34" charset="0"/>
                <a:ea typeface="NanumGothic Bold" pitchFamily="34" charset="-122"/>
                <a:cs typeface="NanumGothic Bold" pitchFamily="34" charset="-120"/>
              </a:rPr>
              <a:t>기능 정의자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77240" y="2606040"/>
            <a:ext cx="2240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Jira · Word · PPT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77240" y="2880360"/>
            <a:ext cx="2240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⏱ 분기 단위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383280" y="1143000"/>
            <a:ext cx="2514600" cy="2743200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14" name="Text 12"/>
          <p:cNvSpPr/>
          <p:nvPr/>
        </p:nvSpPr>
        <p:spPr>
          <a:xfrm>
            <a:off x="3520440" y="1252728"/>
            <a:ext cx="2240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Era 2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520440" y="150876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11111"/>
                </a:solidFill>
                <a:latin typeface="NanumGothic ExtraBold" pitchFamily="34" charset="0"/>
                <a:ea typeface="NanumGothic ExtraBold" pitchFamily="34" charset="-122"/>
                <a:cs typeface="NanumGothic ExtraBold" pitchFamily="34" charset="-120"/>
              </a:rPr>
              <a:t>Product-Led PM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3520440" y="1892808"/>
            <a:ext cx="2240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2020~24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520440" y="2194560"/>
            <a:ext cx="2240280" cy="18288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18" name="Text 16"/>
          <p:cNvSpPr/>
          <p:nvPr/>
        </p:nvSpPr>
        <p:spPr>
          <a:xfrm>
            <a:off x="3520440" y="228600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11111"/>
                </a:solidFill>
                <a:latin typeface="NanumGothic Bold" pitchFamily="34" charset="0"/>
                <a:ea typeface="NanumGothic Bold" pitchFamily="34" charset="-122"/>
                <a:cs typeface="NanumGothic Bold" pitchFamily="34" charset="-120"/>
              </a:rPr>
              <a:t>성장 설계자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3520440" y="2606040"/>
            <a:ext cx="2240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Notion · Figma · A/B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520440" y="2880360"/>
            <a:ext cx="2240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⏱ 2주 스프린트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126480" y="1143000"/>
            <a:ext cx="2514600" cy="27432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22" name="Text 20"/>
          <p:cNvSpPr/>
          <p:nvPr/>
        </p:nvSpPr>
        <p:spPr>
          <a:xfrm>
            <a:off x="6263640" y="1252728"/>
            <a:ext cx="2240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6B35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Era 3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263640" y="150876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NanumGothic ExtraBold" pitchFamily="34" charset="0"/>
                <a:ea typeface="NanumGothic ExtraBold" pitchFamily="34" charset="-122"/>
                <a:cs typeface="NanumGothic ExtraBold" pitchFamily="34" charset="-120"/>
              </a:rPr>
              <a:t>AI Native PM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6263640" y="1892808"/>
            <a:ext cx="2240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2025~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263640" y="2194560"/>
            <a:ext cx="2240280" cy="18288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26" name="Text 24"/>
          <p:cNvSpPr/>
          <p:nvPr/>
        </p:nvSpPr>
        <p:spPr>
          <a:xfrm>
            <a:off x="6263640" y="228600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NanumGothic Bold" pitchFamily="34" charset="0"/>
                <a:ea typeface="NanumGothic Bold" pitchFamily="34" charset="-122"/>
                <a:cs typeface="NanumGothic Bold" pitchFamily="34" charset="-120"/>
              </a:rPr>
              <a:t>맥락 설계자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263640" y="2606040"/>
            <a:ext cx="2240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Claude · Cursor · Manyfast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263640" y="2880360"/>
            <a:ext cx="2240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6B35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⏱ 시간~일 단위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40080" y="432054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Dennis Yang (Chime PM): Claude Code로 20분 만에 프로토타입 → 팀 미팅에서 실제 동작 시연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66928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11111"/>
                </a:solidFill>
                <a:latin typeface="NanumGothic ExtraBold" pitchFamily="34" charset="0"/>
                <a:ea typeface="NanumGothic ExtraBold" pitchFamily="34" charset="-122"/>
                <a:cs typeface="NanumGothic ExtraBold" pitchFamily="34" charset="-120"/>
              </a:rPr>
              <a:t>"Tell"에서 "Show"로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40080" y="109728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PM의 역할 변화: 문서로 설명하던 시대에서, 만들어서 보여주는 시대로</a:t>
            </a:r>
            <a:endParaRPr lang="en-US" sz="1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3429000"/>
                <a:gridCol w="342900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NanumGothic Bold" pitchFamily="34" charset="0"/>
                          <a:ea typeface="NanumGothic Bold" pitchFamily="34" charset="-122"/>
                          <a:cs typeface="NanumGothic Bold" pitchFamily="34" charset="-120"/>
                        </a:rPr>
                        <a:t>시대</a:t>
                      </a:r>
                      <a:endParaRPr lang="en-US" sz="1200" dirty="0">
                        <a:latin typeface="NanumGothic Bold" charset="0"/>
                        <a:ea typeface="NanumGothic Bold" charset="0"/>
                        <a:cs typeface="NanumGothi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NanumGothic Bold" pitchFamily="34" charset="0"/>
                          <a:ea typeface="NanumGothic Bold" pitchFamily="34" charset="-122"/>
                          <a:cs typeface="NanumGothic Bold" pitchFamily="34" charset="-120"/>
                        </a:rPr>
                        <a:t>기존 방식 (Tell)</a:t>
                      </a:r>
                      <a:endParaRPr lang="en-US" sz="1200" dirty="0">
                        <a:latin typeface="NanumGothic Bold" charset="0"/>
                        <a:ea typeface="NanumGothic Bold" charset="0"/>
                        <a:cs typeface="NanumGothi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NanumGothic Bold" pitchFamily="34" charset="0"/>
                          <a:ea typeface="NanumGothic Bold" pitchFamily="34" charset="-122"/>
                          <a:cs typeface="NanumGothic Bold" pitchFamily="34" charset="-120"/>
                        </a:rPr>
                        <a:t>새로운 방식 (Show)</a:t>
                      </a:r>
                      <a:endParaRPr lang="en-US" sz="1200" dirty="0">
                        <a:latin typeface="NanumGothic Bold" charset="0"/>
                        <a:ea typeface="NanumGothic Bold" charset="0"/>
                        <a:cs typeface="NanumGothi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NanumGothic Bold" pitchFamily="34" charset="0"/>
                          <a:ea typeface="NanumGothic Bold" pitchFamily="34" charset="-122"/>
                          <a:cs typeface="NanumGothic Bold" pitchFamily="34" charset="-120"/>
                        </a:rPr>
                        <a:t>Feature PM</a:t>
                      </a:r>
                      <a:endParaRPr lang="en-US" sz="1200" dirty="0">
                        <a:latin typeface="NanumGothic Bold" charset="0"/>
                        <a:ea typeface="NanumGothic Bold" charset="0"/>
                        <a:cs typeface="NanumGothi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NanumGothic" pitchFamily="34" charset="0"/>
                          <a:ea typeface="NanumGothic" pitchFamily="34" charset="-122"/>
                          <a:cs typeface="NanumGothic" pitchFamily="34" charset="-120"/>
                        </a:rPr>
                        <a:t>PRD 문서로 설명 → 개발팀에 전달 → 분기 후 결과 확인</a:t>
                      </a:r>
                      <a:endParaRPr lang="en-US" sz="1200" dirty="0">
                        <a:latin typeface="NanumGothic" charset="0"/>
                        <a:ea typeface="NanumGothic" charset="0"/>
                        <a:cs typeface="Nanum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E5E7EB"/>
                          </a:solidFill>
                          <a:latin typeface="NanumGothic" pitchFamily="34" charset="0"/>
                          <a:ea typeface="NanumGothic" pitchFamily="34" charset="-122"/>
                          <a:cs typeface="NanumGothic" pitchFamily="34" charset="-120"/>
                        </a:rPr>
                        <a:t>—</a:t>
                      </a:r>
                      <a:endParaRPr lang="en-US" sz="1200" dirty="0">
                        <a:latin typeface="NanumGothic" charset="0"/>
                        <a:ea typeface="NanumGothic" charset="0"/>
                        <a:cs typeface="Nanum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NanumGothic Bold" pitchFamily="34" charset="0"/>
                          <a:ea typeface="NanumGothic Bold" pitchFamily="34" charset="-122"/>
                          <a:cs typeface="NanumGothic Bold" pitchFamily="34" charset="-120"/>
                        </a:rPr>
                        <a:t>Product-Led</a:t>
                      </a:r>
                      <a:endParaRPr lang="en-US" sz="1200" dirty="0">
                        <a:latin typeface="NanumGothic Bold" charset="0"/>
                        <a:ea typeface="NanumGothic Bold" charset="0"/>
                        <a:cs typeface="NanumGothi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NanumGothic" pitchFamily="34" charset="0"/>
                          <a:ea typeface="NanumGothic" pitchFamily="34" charset="-122"/>
                          <a:cs typeface="NanumGothic" pitchFamily="34" charset="-120"/>
                        </a:rPr>
                        <a:t>Figma 프로토타입 의뢰 → A/B 테스트 → 2주 스프린트</a:t>
                      </a:r>
                      <a:endParaRPr lang="en-US" sz="1200" dirty="0">
                        <a:latin typeface="NanumGothic" charset="0"/>
                        <a:ea typeface="NanumGothic" charset="0"/>
                        <a:cs typeface="Nanum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E5E7EB"/>
                          </a:solidFill>
                          <a:latin typeface="NanumGothic" pitchFamily="34" charset="0"/>
                          <a:ea typeface="NanumGothic" pitchFamily="34" charset="-122"/>
                          <a:cs typeface="NanumGothic" pitchFamily="34" charset="-120"/>
                        </a:rPr>
                        <a:t>—</a:t>
                      </a:r>
                      <a:endParaRPr lang="en-US" sz="1200" dirty="0">
                        <a:latin typeface="NanumGothic" charset="0"/>
                        <a:ea typeface="NanumGothic" charset="0"/>
                        <a:cs typeface="Nanum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6B35"/>
                          </a:solidFill>
                          <a:latin typeface="NanumGothic Bold" pitchFamily="34" charset="0"/>
                          <a:ea typeface="NanumGothic Bold" pitchFamily="34" charset="-122"/>
                          <a:cs typeface="NanumGothic Bold" pitchFamily="34" charset="-120"/>
                        </a:rPr>
                        <a:t>AI Native</a:t>
                      </a:r>
                      <a:endParaRPr lang="en-US" sz="1200" dirty="0">
                        <a:latin typeface="NanumGothic Bold" charset="0"/>
                        <a:ea typeface="NanumGothic Bold" charset="0"/>
                        <a:cs typeface="NanumGothi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E5E7EB"/>
                          </a:solidFill>
                          <a:latin typeface="NanumGothic" pitchFamily="34" charset="0"/>
                          <a:ea typeface="NanumGothic" pitchFamily="34" charset="-122"/>
                          <a:cs typeface="NanumGothic" pitchFamily="34" charset="-120"/>
                        </a:rPr>
                        <a:t>—</a:t>
                      </a:r>
                      <a:endParaRPr lang="en-US" sz="1200" dirty="0">
                        <a:latin typeface="NanumGothic" charset="0"/>
                        <a:ea typeface="NanumGothic" charset="0"/>
                        <a:cs typeface="Nanum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6B35"/>
                          </a:solidFill>
                          <a:latin typeface="NanumGothic Bold" pitchFamily="34" charset="0"/>
                          <a:ea typeface="NanumGothic Bold" pitchFamily="34" charset="-122"/>
                          <a:cs typeface="NanumGothic Bold" pitchFamily="34" charset="-120"/>
                        </a:rPr>
                        <a:t>프롬프트 → PRD → 프로토타입 직접 생성 → 시간 단위 검증</a:t>
                      </a:r>
                      <a:endParaRPr lang="en-US" sz="1200" dirty="0">
                        <a:latin typeface="NanumGothic Bold" charset="0"/>
                        <a:ea typeface="NanumGothic Bold" charset="0"/>
                        <a:cs typeface="NanumGothi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640080" y="3200400"/>
            <a:ext cx="7863840" cy="502920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8" name="Shape 5"/>
          <p:cNvSpPr/>
          <p:nvPr/>
        </p:nvSpPr>
        <p:spPr>
          <a:xfrm>
            <a:off x="640080" y="3200400"/>
            <a:ext cx="36576" cy="502920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9" name="Text 6"/>
          <p:cNvSpPr/>
          <p:nvPr/>
        </p:nvSpPr>
        <p:spPr>
          <a:xfrm>
            <a:off x="822960" y="320040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2A2A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바이브 프로토타이핑 (Vibe Prototyping) — 텍스트 프롬프트만으로 기능적 소프트웨어를 생성하는 새로운 패러다임  (Forbes, 2026)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66928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11111"/>
                </a:solidFill>
                <a:latin typeface="NanumGothic ExtraBold" pitchFamily="34" charset="0"/>
                <a:ea typeface="NanumGothic ExtraBold" pitchFamily="34" charset="-122"/>
                <a:cs typeface="NanumGothic ExtraBold" pitchFamily="34" charset="-120"/>
              </a:rPr>
              <a:t>무엇이 바뀌었나</a:t>
            </a:r>
            <a:endParaRPr lang="en-US" sz="26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51560"/>
          <a:ext cx="841248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2651760"/>
                <a:gridCol w="274320"/>
                <a:gridCol w="429768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NanumGothic Bold" pitchFamily="34" charset="0"/>
                          <a:ea typeface="NanumGothic Bold" pitchFamily="34" charset="-122"/>
                          <a:cs typeface="NanumGothic Bold" pitchFamily="34" charset="-120"/>
                        </a:rPr>
                        <a:t>구분</a:t>
                      </a:r>
                      <a:endParaRPr lang="en-US" sz="1300" dirty="0">
                        <a:latin typeface="NanumGothic Bold" charset="0"/>
                        <a:ea typeface="NanumGothic Bold" charset="0"/>
                        <a:cs typeface="NanumGothi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NanumGothic Bold" pitchFamily="34" charset="0"/>
                          <a:ea typeface="NanumGothic Bold" pitchFamily="34" charset="-122"/>
                          <a:cs typeface="NanumGothic Bold" pitchFamily="34" charset="-120"/>
                        </a:rPr>
                        <a:t>Before</a:t>
                      </a:r>
                      <a:endParaRPr lang="en-US" sz="1300" dirty="0">
                        <a:latin typeface="NanumGothic Bold" charset="0"/>
                        <a:ea typeface="NanumGothic Bold" charset="0"/>
                        <a:cs typeface="NanumGothi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>
                        <a:latin typeface="NanumGothic" charset="0"/>
                        <a:ea typeface="NanumGothic" charset="0"/>
                        <a:cs typeface="Nanum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NanumGothic Bold" pitchFamily="34" charset="0"/>
                          <a:ea typeface="NanumGothic Bold" pitchFamily="34" charset="-122"/>
                          <a:cs typeface="NanumGothic Bold" pitchFamily="34" charset="-120"/>
                        </a:rPr>
                        <a:t>After (AI Native)</a:t>
                      </a:r>
                      <a:endParaRPr lang="en-US" sz="1300" dirty="0">
                        <a:latin typeface="NanumGothic Bold" charset="0"/>
                        <a:ea typeface="NanumGothic Bold" charset="0"/>
                        <a:cs typeface="NanumGothi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NanumGothic Bold" pitchFamily="34" charset="0"/>
                          <a:ea typeface="NanumGothic Bold" pitchFamily="34" charset="-122"/>
                          <a:cs typeface="NanumGothic Bold" pitchFamily="34" charset="-120"/>
                        </a:rPr>
                        <a:t>문서</a:t>
                      </a:r>
                      <a:endParaRPr lang="en-US" sz="1300" dirty="0">
                        <a:latin typeface="NanumGothic Bold" charset="0"/>
                        <a:ea typeface="NanumGothic Bold" charset="0"/>
                        <a:cs typeface="NanumGothi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NanumGothic" pitchFamily="34" charset="0"/>
                          <a:ea typeface="NanumGothic" pitchFamily="34" charset="-122"/>
                          <a:cs typeface="NanumGothic" pitchFamily="34" charset="-120"/>
                        </a:rPr>
                        <a:t>Word → Notion, 수동 작성</a:t>
                      </a:r>
                      <a:endParaRPr lang="en-US" sz="1300" dirty="0">
                        <a:latin typeface="NanumGothic" charset="0"/>
                        <a:ea typeface="NanumGothic" charset="0"/>
                        <a:cs typeface="Nanum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NanumGothic" pitchFamily="34" charset="0"/>
                          <a:ea typeface="NanumGothic" pitchFamily="34" charset="-122"/>
                          <a:cs typeface="NanumGothic" pitchFamily="34" charset="-120"/>
                        </a:rPr>
                        <a:t>→</a:t>
                      </a:r>
                      <a:endParaRPr lang="en-US" sz="1300" dirty="0">
                        <a:latin typeface="NanumGothic" charset="0"/>
                        <a:ea typeface="NanumGothic" charset="0"/>
                        <a:cs typeface="Nanum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6B35"/>
                          </a:solidFill>
                          <a:latin typeface="NanumGothic" pitchFamily="34" charset="0"/>
                          <a:ea typeface="NanumGothic" pitchFamily="34" charset="-122"/>
                          <a:cs typeface="NanumGothic" pitchFamily="34" charset="-120"/>
                        </a:rPr>
                        <a:t>AI가 PRD 초안 생성</a:t>
                      </a:r>
                      <a:endParaRPr lang="en-US" sz="1300" dirty="0">
                        <a:latin typeface="NanumGothic" charset="0"/>
                        <a:ea typeface="NanumGothic" charset="0"/>
                        <a:cs typeface="Nanum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NanumGothic Bold" pitchFamily="34" charset="0"/>
                          <a:ea typeface="NanumGothic Bold" pitchFamily="34" charset="-122"/>
                          <a:cs typeface="NanumGothic Bold" pitchFamily="34" charset="-120"/>
                        </a:rPr>
                        <a:t>프로토타입</a:t>
                      </a:r>
                      <a:endParaRPr lang="en-US" sz="1300" dirty="0">
                        <a:latin typeface="NanumGothic Bold" charset="0"/>
                        <a:ea typeface="NanumGothic Bold" charset="0"/>
                        <a:cs typeface="NanumGothi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NanumGothic" pitchFamily="34" charset="0"/>
                          <a:ea typeface="NanumGothic" pitchFamily="34" charset="-122"/>
                          <a:cs typeface="NanumGothic" pitchFamily="34" charset="-120"/>
                        </a:rPr>
                        <a:t>디자이너/개발자에게 의뢰</a:t>
                      </a:r>
                      <a:endParaRPr lang="en-US" sz="1300" dirty="0">
                        <a:latin typeface="NanumGothic" charset="0"/>
                        <a:ea typeface="NanumGothic" charset="0"/>
                        <a:cs typeface="Nanum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NanumGothic" pitchFamily="34" charset="0"/>
                          <a:ea typeface="NanumGothic" pitchFamily="34" charset="-122"/>
                          <a:cs typeface="NanumGothic" pitchFamily="34" charset="-120"/>
                        </a:rPr>
                        <a:t>→</a:t>
                      </a:r>
                      <a:endParaRPr lang="en-US" sz="1300" dirty="0">
                        <a:latin typeface="NanumGothic" charset="0"/>
                        <a:ea typeface="NanumGothic" charset="0"/>
                        <a:cs typeface="Nanum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6B35"/>
                          </a:solidFill>
                          <a:latin typeface="NanumGothic" pitchFamily="34" charset="0"/>
                          <a:ea typeface="NanumGothic" pitchFamily="34" charset="-122"/>
                          <a:cs typeface="NanumGothic" pitchFamily="34" charset="-120"/>
                        </a:rPr>
                        <a:t>PM이 직접 AI로 생성</a:t>
                      </a:r>
                      <a:endParaRPr lang="en-US" sz="1300" dirty="0">
                        <a:latin typeface="NanumGothic" charset="0"/>
                        <a:ea typeface="NanumGothic" charset="0"/>
                        <a:cs typeface="Nanum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NanumGothic Bold" pitchFamily="34" charset="0"/>
                          <a:ea typeface="NanumGothic Bold" pitchFamily="34" charset="-122"/>
                          <a:cs typeface="NanumGothic Bold" pitchFamily="34" charset="-120"/>
                        </a:rPr>
                        <a:t>검증 속도</a:t>
                      </a:r>
                      <a:endParaRPr lang="en-US" sz="1300" dirty="0">
                        <a:latin typeface="NanumGothic Bold" charset="0"/>
                        <a:ea typeface="NanumGothic Bold" charset="0"/>
                        <a:cs typeface="NanumGothi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NanumGothic" pitchFamily="34" charset="0"/>
                          <a:ea typeface="NanumGothic" pitchFamily="34" charset="-122"/>
                          <a:cs typeface="NanumGothic" pitchFamily="34" charset="-120"/>
                        </a:rPr>
                        <a:t>수 주 (기획→개발→출시)</a:t>
                      </a:r>
                      <a:endParaRPr lang="en-US" sz="1300" dirty="0">
                        <a:latin typeface="NanumGothic" charset="0"/>
                        <a:ea typeface="NanumGothic" charset="0"/>
                        <a:cs typeface="Nanum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NanumGothic" pitchFamily="34" charset="0"/>
                          <a:ea typeface="NanumGothic" pitchFamily="34" charset="-122"/>
                          <a:cs typeface="NanumGothic" pitchFamily="34" charset="-120"/>
                        </a:rPr>
                        <a:t>→</a:t>
                      </a:r>
                      <a:endParaRPr lang="en-US" sz="1300" dirty="0">
                        <a:latin typeface="NanumGothic" charset="0"/>
                        <a:ea typeface="NanumGothic" charset="0"/>
                        <a:cs typeface="Nanum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6B35"/>
                          </a:solidFill>
                          <a:latin typeface="NanumGothic" pitchFamily="34" charset="0"/>
                          <a:ea typeface="NanumGothic" pitchFamily="34" charset="-122"/>
                          <a:cs typeface="NanumGothic" pitchFamily="34" charset="-120"/>
                        </a:rPr>
                        <a:t>수 시간 (즉시 확인)</a:t>
                      </a:r>
                      <a:endParaRPr lang="en-US" sz="1300" dirty="0">
                        <a:latin typeface="NanumGothic" charset="0"/>
                        <a:ea typeface="NanumGothic" charset="0"/>
                        <a:cs typeface="Nanum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NanumGothic Bold" pitchFamily="34" charset="0"/>
                          <a:ea typeface="NanumGothic Bold" pitchFamily="34" charset="-122"/>
                          <a:cs typeface="NanumGothic Bold" pitchFamily="34" charset="-120"/>
                        </a:rPr>
                        <a:t>PM 역할</a:t>
                      </a:r>
                      <a:endParaRPr lang="en-US" sz="1300" dirty="0">
                        <a:latin typeface="NanumGothic Bold" charset="0"/>
                        <a:ea typeface="NanumGothic Bold" charset="0"/>
                        <a:cs typeface="NanumGothi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NanumGothic" pitchFamily="34" charset="0"/>
                          <a:ea typeface="NanumGothic" pitchFamily="34" charset="-122"/>
                          <a:cs typeface="NanumGothic" pitchFamily="34" charset="-120"/>
                        </a:rPr>
                        <a:t>기능 전달자 (Tell)</a:t>
                      </a:r>
                      <a:endParaRPr lang="en-US" sz="1300" dirty="0">
                        <a:latin typeface="NanumGothic" charset="0"/>
                        <a:ea typeface="NanumGothic" charset="0"/>
                        <a:cs typeface="Nanum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NanumGothic" pitchFamily="34" charset="0"/>
                          <a:ea typeface="NanumGothic" pitchFamily="34" charset="-122"/>
                          <a:cs typeface="NanumGothic" pitchFamily="34" charset="-120"/>
                        </a:rPr>
                        <a:t>→</a:t>
                      </a:r>
                      <a:endParaRPr lang="en-US" sz="1300" dirty="0">
                        <a:latin typeface="NanumGothic" charset="0"/>
                        <a:ea typeface="NanumGothic" charset="0"/>
                        <a:cs typeface="Nanum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6B35"/>
                          </a:solidFill>
                          <a:latin typeface="NanumGothic" pitchFamily="34" charset="0"/>
                          <a:ea typeface="NanumGothic" pitchFamily="34" charset="-122"/>
                          <a:cs typeface="NanumGothic" pitchFamily="34" charset="-120"/>
                        </a:rPr>
                        <a:t>맥락 설계자 (Show)</a:t>
                      </a:r>
                      <a:endParaRPr lang="en-US" sz="1300" dirty="0">
                        <a:latin typeface="NanumGothic" charset="0"/>
                        <a:ea typeface="NanumGothic" charset="0"/>
                        <a:cs typeface="Nanum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NanumGothic Bold" pitchFamily="34" charset="0"/>
                          <a:ea typeface="NanumGothic Bold" pitchFamily="34" charset="-122"/>
                          <a:cs typeface="NanumGothic Bold" pitchFamily="34" charset="-120"/>
                        </a:rPr>
                        <a:t>검증 주기</a:t>
                      </a:r>
                      <a:endParaRPr lang="en-US" sz="1300" dirty="0">
                        <a:latin typeface="NanumGothic Bold" charset="0"/>
                        <a:ea typeface="NanumGothic Bold" charset="0"/>
                        <a:cs typeface="NanumGothi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NanumGothic" pitchFamily="34" charset="0"/>
                          <a:ea typeface="NanumGothic" pitchFamily="34" charset="-122"/>
                          <a:cs typeface="NanumGothic" pitchFamily="34" charset="-120"/>
                        </a:rPr>
                        <a:t>분기 1회</a:t>
                      </a:r>
                      <a:endParaRPr lang="en-US" sz="1300" dirty="0">
                        <a:latin typeface="NanumGothic" charset="0"/>
                        <a:ea typeface="NanumGothic" charset="0"/>
                        <a:cs typeface="Nanum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NanumGothic" pitchFamily="34" charset="0"/>
                          <a:ea typeface="NanumGothic" pitchFamily="34" charset="-122"/>
                          <a:cs typeface="NanumGothic" pitchFamily="34" charset="-120"/>
                        </a:rPr>
                        <a:t>→</a:t>
                      </a:r>
                      <a:endParaRPr lang="en-US" sz="1300" dirty="0">
                        <a:latin typeface="NanumGothic" charset="0"/>
                        <a:ea typeface="NanumGothic" charset="0"/>
                        <a:cs typeface="Nanum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6B35"/>
                          </a:solidFill>
                          <a:latin typeface="NanumGothic" pitchFamily="34" charset="0"/>
                          <a:ea typeface="NanumGothic" pitchFamily="34" charset="-122"/>
                          <a:cs typeface="NanumGothic" pitchFamily="34" charset="-120"/>
                        </a:rPr>
                        <a:t>주 단위 반복</a:t>
                      </a:r>
                      <a:endParaRPr lang="en-US" sz="1300" dirty="0">
                        <a:latin typeface="NanumGothic" charset="0"/>
                        <a:ea typeface="NanumGothic" charset="0"/>
                        <a:cs typeface="Nanum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66928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11111"/>
                </a:solidFill>
                <a:latin typeface="NanumGothic ExtraBold" pitchFamily="34" charset="0"/>
                <a:ea typeface="NanumGothic ExtraBold" pitchFamily="34" charset="-122"/>
                <a:cs typeface="NanumGothic ExtraBold" pitchFamily="34" charset="-120"/>
              </a:rPr>
              <a:t>AI Native PM의 3가지 무기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40080" y="1097280"/>
            <a:ext cx="7863840" cy="640080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097280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🎯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371600" y="109728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11111"/>
                </a:solidFill>
                <a:latin typeface="NanumGothic ExtraBold" pitchFamily="34" charset="0"/>
                <a:ea typeface="NanumGothic ExtraBold" pitchFamily="34" charset="-122"/>
                <a:cs typeface="NanumGothic ExtraBold" pitchFamily="34" charset="-120"/>
              </a:rPr>
              <a:t>프롬프팅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291840" y="1097280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코딩이 아니라, AI에게 의도를 정확히 전달하는 능력.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맥락(Context)을 잘 구조화하는 것이 핵심.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" y="1874520"/>
            <a:ext cx="7863840" cy="640080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1874520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🧩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1371600" y="187452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11111"/>
                </a:solidFill>
                <a:latin typeface="NanumGothic ExtraBold" pitchFamily="34" charset="0"/>
                <a:ea typeface="NanumGothic ExtraBold" pitchFamily="34" charset="-122"/>
                <a:cs typeface="NanumGothic ExtraBold" pitchFamily="34" charset="-120"/>
              </a:rPr>
              <a:t>AI 활용점 정의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3291840" y="1874520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"이 제품에서 AI가 어디서 가치를 만드는가?"를 설계.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AI가 대체할 수 있는 작업 vs PM이 판단할 작업을 구분.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" y="2651760"/>
            <a:ext cx="7863840" cy="640080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14" name="Text 12"/>
          <p:cNvSpPr/>
          <p:nvPr/>
        </p:nvSpPr>
        <p:spPr>
          <a:xfrm>
            <a:off x="731520" y="2651760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⚡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1371600" y="265176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11111"/>
                </a:solidFill>
                <a:latin typeface="NanumGothic ExtraBold" pitchFamily="34" charset="0"/>
                <a:ea typeface="NanumGothic ExtraBold" pitchFamily="34" charset="-122"/>
                <a:cs typeface="NanumGothic ExtraBold" pitchFamily="34" charset="-120"/>
              </a:rPr>
              <a:t>빠른 검증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3291840" y="2651760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"만들어서 확인하기"를 일상화하는 습관.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PRD → 프로토타입 → 피드백을 시간 단위로 반복.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40080" y="432054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6B35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코드를 쓸 줄 몰라도 됩니다. AI에게 무엇을 시킬지 알면 됩니다.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66928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11111"/>
                </a:solidFill>
                <a:latin typeface="NanumGothic ExtraBold" pitchFamily="34" charset="0"/>
                <a:ea typeface="NanumGothic ExtraBold" pitchFamily="34" charset="-122"/>
                <a:cs typeface="NanumGothic ExtraBold" pitchFamily="34" charset="-120"/>
              </a:rPr>
              <a:t>기획 문서의 계층 구조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40080" y="109728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아래 → 위 참조, 위 → 아래 링크  |  PRD가 SSOT (Single Source of Truth)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" y="1097280"/>
            <a:ext cx="411480" cy="384048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097280"/>
            <a:ext cx="411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NanumGothic Bold" pitchFamily="34" charset="0"/>
                <a:ea typeface="NanumGothic Bold" pitchFamily="34" charset="-122"/>
                <a:cs typeface="NanumGothic Bold" pitchFamily="34" charset="-120"/>
              </a:rPr>
              <a:t>L0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188720" y="1051560"/>
            <a:ext cx="7315200" cy="475488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9" name="Shape 7"/>
          <p:cNvSpPr/>
          <p:nvPr/>
        </p:nvSpPr>
        <p:spPr>
          <a:xfrm>
            <a:off x="1188720" y="1051560"/>
            <a:ext cx="36576" cy="475488"/>
          </a:xfrm>
          <a:prstGeom prst="rect">
            <a:avLst/>
          </a:prstGeom>
          <a:solidFill>
            <a:srgbClr val="6B7280"/>
          </a:solidFill>
          <a:ln/>
        </p:spPr>
      </p:sp>
      <p:sp>
        <p:nvSpPr>
          <p:cNvPr id="10" name="Text 8"/>
          <p:cNvSpPr/>
          <p:nvPr/>
        </p:nvSpPr>
        <p:spPr>
          <a:xfrm>
            <a:off x="1371600" y="1051560"/>
            <a:ext cx="2743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NanumGothic ExtraBold" pitchFamily="34" charset="0"/>
                <a:ea typeface="NanumGothic ExtraBold" pitchFamily="34" charset="-122"/>
                <a:cs typeface="NanumGothic ExtraBold" pitchFamily="34" charset="-120"/>
              </a:rPr>
              <a:t>2-Pager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114800" y="1051560"/>
            <a:ext cx="4297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왜 이걸 하는가?  (리더십 승인용)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188720" y="152704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</a:rPr>
              <a:t>↓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" y="1755648"/>
            <a:ext cx="411480" cy="384048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1755648"/>
            <a:ext cx="411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NanumGothic Bold" pitchFamily="34" charset="0"/>
                <a:ea typeface="NanumGothic Bold" pitchFamily="34" charset="-122"/>
                <a:cs typeface="NanumGothic Bold" pitchFamily="34" charset="-120"/>
              </a:rPr>
              <a:t>L1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1188720" y="1709928"/>
            <a:ext cx="7315200" cy="475488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6" name="Shape 14"/>
          <p:cNvSpPr/>
          <p:nvPr/>
        </p:nvSpPr>
        <p:spPr>
          <a:xfrm>
            <a:off x="1188720" y="1709928"/>
            <a:ext cx="36576" cy="475488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17" name="Text 15"/>
          <p:cNvSpPr/>
          <p:nvPr/>
        </p:nvSpPr>
        <p:spPr>
          <a:xfrm>
            <a:off x="1371600" y="1709928"/>
            <a:ext cx="2743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NanumGothic ExtraBold" pitchFamily="34" charset="0"/>
                <a:ea typeface="NanumGothic ExtraBold" pitchFamily="34" charset="-122"/>
                <a:cs typeface="NanumGothic ExtraBold" pitchFamily="34" charset="-120"/>
              </a:rPr>
              <a:t>PRD  (SSOT)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0" y="1709928"/>
            <a:ext cx="4297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무엇을, 왜, 누구를 위해 만드는가?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188720" y="218541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</a:rPr>
              <a:t>↓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40080" y="2414016"/>
            <a:ext cx="411480" cy="384048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2414016"/>
            <a:ext cx="411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NanumGothic Bold" pitchFamily="34" charset="0"/>
                <a:ea typeface="NanumGothic Bold" pitchFamily="34" charset="-122"/>
                <a:cs typeface="NanumGothic Bold" pitchFamily="34" charset="-120"/>
              </a:rPr>
              <a:t>L2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1188720" y="2368296"/>
            <a:ext cx="7315200" cy="475488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23" name="Shape 21"/>
          <p:cNvSpPr/>
          <p:nvPr/>
        </p:nvSpPr>
        <p:spPr>
          <a:xfrm>
            <a:off x="1188720" y="2368296"/>
            <a:ext cx="36576" cy="475488"/>
          </a:xfrm>
          <a:prstGeom prst="rect">
            <a:avLst/>
          </a:prstGeom>
          <a:solidFill>
            <a:srgbClr val="6B7280"/>
          </a:solidFill>
          <a:ln/>
        </p:spPr>
      </p:sp>
      <p:sp>
        <p:nvSpPr>
          <p:cNvPr id="24" name="Text 22"/>
          <p:cNvSpPr/>
          <p:nvPr/>
        </p:nvSpPr>
        <p:spPr>
          <a:xfrm>
            <a:off x="1371600" y="2368296"/>
            <a:ext cx="2743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NanumGothic ExtraBold" pitchFamily="34" charset="0"/>
                <a:ea typeface="NanumGothic ExtraBold" pitchFamily="34" charset="-122"/>
                <a:cs typeface="NanumGothic ExtraBold" pitchFamily="34" charset="-120"/>
              </a:rPr>
              <a:t>Specs · HLD · LLD · ADR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4114800" y="2368296"/>
            <a:ext cx="4297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어떻게 보이고, 어떻게 구현하고, 왜 그렇게 결정했는가?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188720" y="284378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</a:rPr>
              <a:t>↓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40080" y="3072384"/>
            <a:ext cx="411480" cy="384048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28" name="Text 26"/>
          <p:cNvSpPr/>
          <p:nvPr/>
        </p:nvSpPr>
        <p:spPr>
          <a:xfrm>
            <a:off x="640080" y="3072384"/>
            <a:ext cx="411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NanumGothic Bold" pitchFamily="34" charset="0"/>
                <a:ea typeface="NanumGothic Bold" pitchFamily="34" charset="-122"/>
                <a:cs typeface="NanumGothic Bold" pitchFamily="34" charset="-120"/>
              </a:rPr>
              <a:t>L3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1188720" y="3026664"/>
            <a:ext cx="7315200" cy="475488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30" name="Shape 28"/>
          <p:cNvSpPr/>
          <p:nvPr/>
        </p:nvSpPr>
        <p:spPr>
          <a:xfrm>
            <a:off x="1188720" y="3026664"/>
            <a:ext cx="36576" cy="475488"/>
          </a:xfrm>
          <a:prstGeom prst="rect">
            <a:avLst/>
          </a:prstGeom>
          <a:solidFill>
            <a:srgbClr val="6B7280"/>
          </a:solidFill>
          <a:ln/>
        </p:spPr>
      </p:sp>
      <p:sp>
        <p:nvSpPr>
          <p:cNvPr id="31" name="Text 29"/>
          <p:cNvSpPr/>
          <p:nvPr/>
        </p:nvSpPr>
        <p:spPr>
          <a:xfrm>
            <a:off x="1371600" y="3026664"/>
            <a:ext cx="2743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NanumGothic ExtraBold" pitchFamily="34" charset="0"/>
                <a:ea typeface="NanumGothic ExtraBold" pitchFamily="34" charset="-122"/>
                <a:cs typeface="NanumGothic ExtraBold" pitchFamily="34" charset="-120"/>
              </a:rPr>
              <a:t>Ops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4114800" y="3026664"/>
            <a:ext cx="4297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어떻게 출시 · 운영 · 모니터링하는가?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40080" y="432054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참고: Specs = 와이어프레임/UX 흐름  |  HLD = 상위 설계  |  LLD = 상세 설계  |  ADR = 의사결정 기록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66928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11111"/>
                </a:solidFill>
                <a:latin typeface="NanumGothic ExtraBold" pitchFamily="34" charset="0"/>
                <a:ea typeface="NanumGothic ExtraBold" pitchFamily="34" charset="-122"/>
                <a:cs typeface="NanumGothic ExtraBold" pitchFamily="34" charset="-120"/>
              </a:rPr>
              <a:t>PRD의 핵심: Why → What → How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40080" y="1051560"/>
            <a:ext cx="822960" cy="594360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051560"/>
            <a:ext cx="822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NanumGothic ExtraBold" pitchFamily="34" charset="0"/>
                <a:ea typeface="NanumGothic ExtraBold" pitchFamily="34" charset="-122"/>
                <a:cs typeface="NanumGothic ExtraBold" pitchFamily="34" charset="-120"/>
              </a:rPr>
              <a:t>Why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1600200" y="1051560"/>
            <a:ext cx="6903720" cy="594360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8" name="Text 6"/>
          <p:cNvSpPr/>
          <p:nvPr/>
        </p:nvSpPr>
        <p:spPr>
          <a:xfrm>
            <a:off x="1783080" y="1051560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NanumGothic Bold" pitchFamily="34" charset="0"/>
                <a:ea typeface="NanumGothic Bold" pitchFamily="34" charset="-122"/>
                <a:cs typeface="NanumGothic Bold" pitchFamily="34" charset="-120"/>
              </a:rPr>
              <a:t>왜 이 문제를 풀어야 하는가?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754880" y="1051560"/>
            <a:ext cx="3657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§3 문제 정의 · 비즈니스 근거 · 데이터 증거 · 사용자 VOC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" y="1874520"/>
            <a:ext cx="822960" cy="59436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1874520"/>
            <a:ext cx="822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NanumGothic ExtraBold" pitchFamily="34" charset="0"/>
                <a:ea typeface="NanumGothic ExtraBold" pitchFamily="34" charset="-122"/>
                <a:cs typeface="NanumGothic ExtraBold" pitchFamily="34" charset="-120"/>
              </a:rPr>
              <a:t>What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1600200" y="1874520"/>
            <a:ext cx="6903720" cy="594360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13" name="Text 11"/>
          <p:cNvSpPr/>
          <p:nvPr/>
        </p:nvSpPr>
        <p:spPr>
          <a:xfrm>
            <a:off x="1783080" y="1874520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NanumGothic Bold" pitchFamily="34" charset="0"/>
                <a:ea typeface="NanumGothic Bold" pitchFamily="34" charset="-122"/>
                <a:cs typeface="NanumGothic Bold" pitchFamily="34" charset="-120"/>
              </a:rPr>
              <a:t>무엇을 만드는가?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754880" y="1874520"/>
            <a:ext cx="3657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§4-§6 솔루션 · 페르소나 · 범위(In/Out) · 기능 명세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40080" y="2697480"/>
            <a:ext cx="822960" cy="594360"/>
          </a:xfrm>
          <a:prstGeom prst="rect">
            <a:avLst/>
          </a:prstGeom>
          <a:solidFill>
            <a:srgbClr val="2A2A2A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2697480"/>
            <a:ext cx="822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NanumGothic ExtraBold" pitchFamily="34" charset="0"/>
                <a:ea typeface="NanumGothic ExtraBold" pitchFamily="34" charset="-122"/>
                <a:cs typeface="NanumGothic ExtraBold" pitchFamily="34" charset="-120"/>
              </a:rPr>
              <a:t>How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1600200" y="2697480"/>
            <a:ext cx="6903720" cy="594360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18" name="Text 16"/>
          <p:cNvSpPr/>
          <p:nvPr/>
        </p:nvSpPr>
        <p:spPr>
          <a:xfrm>
            <a:off x="1783080" y="2697480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NanumGothic Bold" pitchFamily="34" charset="0"/>
                <a:ea typeface="NanumGothic Bold" pitchFamily="34" charset="-122"/>
                <a:cs typeface="NanumGothic Bold" pitchFamily="34" charset="-120"/>
              </a:rPr>
              <a:t>어떻게 성공을 측정하는가?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754880" y="2697480"/>
            <a:ext cx="3657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§11 KPI · 실험 설계 · 롤아웃 전략 · Release Gate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40080" y="432054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6B35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Why가 흔들리면, What과 How는 의미가 없다. 항상 Why부터.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66928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11111"/>
                </a:solidFill>
                <a:latin typeface="NanumGothic ExtraBold" pitchFamily="34" charset="0"/>
                <a:ea typeface="NanumGothic ExtraBold" pitchFamily="34" charset="-122"/>
                <a:cs typeface="NanumGothic ExtraBold" pitchFamily="34" charset="-120"/>
              </a:rPr>
              <a:t>PRD 품질 검증: 3가지 관점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40080" y="109728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Approved 상태 전환을 위한 3-관점 평가 프레임워크  |  각 관점 최소 기준 통과 필수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" y="1051560"/>
            <a:ext cx="7863840" cy="685800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051560"/>
            <a:ext cx="411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👔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234440" y="1051560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NanumGothic ExtraBold" pitchFamily="34" charset="0"/>
                <a:ea typeface="NanumGothic ExtraBold" pitchFamily="34" charset="-122"/>
                <a:cs typeface="NanumGothic ExtraBold" pitchFamily="34" charset="-120"/>
              </a:rPr>
              <a:t>리더십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34440" y="137160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6B35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이 프로젝트에 투자할 가치가 있는가?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572000" y="105156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전략 정합성 · 문제 정의 명확성 · ROI 합리성 · 시장 적합성 · 우선순위 정당성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40080" y="1874520"/>
            <a:ext cx="7863840" cy="685800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1874520"/>
            <a:ext cx="411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🎨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1234440" y="1874520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NanumGothic ExtraBold" pitchFamily="34" charset="0"/>
                <a:ea typeface="NanumGothic ExtraBold" pitchFamily="34" charset="-122"/>
                <a:cs typeface="NanumGothic ExtraBold" pitchFamily="34" charset="-120"/>
              </a:rPr>
              <a:t>디자이너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234440" y="21945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6B35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이 PRD만으로 와이어프레임을 그릴 수 있는가?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572000" y="187452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시나리오 완전성 · UI/UX 플로우 · 가드레일/예외 · 컴포넌트 명세 · P0/P1 기능 정의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40080" y="2697480"/>
            <a:ext cx="7863840" cy="685800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17" name="Text 15"/>
          <p:cNvSpPr/>
          <p:nvPr/>
        </p:nvSpPr>
        <p:spPr>
          <a:xfrm>
            <a:off x="731520" y="2697480"/>
            <a:ext cx="411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⚙️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234440" y="2697480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NanumGothic ExtraBold" pitchFamily="34" charset="0"/>
                <a:ea typeface="NanumGothic ExtraBold" pitchFamily="34" charset="-122"/>
                <a:cs typeface="NanumGothic ExtraBold" pitchFamily="34" charset="-120"/>
              </a:rPr>
              <a:t>EM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234440" y="301752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6B35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이 범위를 주어진 기간/리소스로 만들 수 있는가?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0" y="269748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성공 지표 측정 가능성 · 비용 추정 · 공수 산정(MD/MM) · 스코프 실현성 · NFR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40080" y="432054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각 관점 35점 만점, 23점 이상 통과  |  상세 기준: docs/evaluation/ 참조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66928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11111"/>
                </a:solidFill>
                <a:latin typeface="NanumGothic ExtraBold" pitchFamily="34" charset="0"/>
                <a:ea typeface="NanumGothic ExtraBold" pitchFamily="34" charset="-122"/>
                <a:cs typeface="NanumGothic ExtraBold" pitchFamily="34" charset="-120"/>
              </a:rPr>
              <a:t>AI가 각 단계를 어떻게 바꾸는가</a:t>
            </a:r>
            <a:endParaRPr lang="en-US" sz="26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371600"/>
                <a:gridCol w="1371600"/>
                <a:gridCol w="438912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NanumGothic Bold" pitchFamily="34" charset="0"/>
                          <a:ea typeface="NanumGothic Bold" pitchFamily="34" charset="-122"/>
                          <a:cs typeface="NanumGothic Bold" pitchFamily="34" charset="-120"/>
                        </a:rPr>
                        <a:t>단계</a:t>
                      </a:r>
                      <a:endParaRPr lang="en-US" sz="1200" dirty="0">
                        <a:latin typeface="NanumGothic Bold" charset="0"/>
                        <a:ea typeface="NanumGothic Bold" charset="0"/>
                        <a:cs typeface="NanumGothi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NanumGothic Bold" pitchFamily="34" charset="0"/>
                          <a:ea typeface="NanumGothic Bold" pitchFamily="34" charset="-122"/>
                          <a:cs typeface="NanumGothic Bold" pitchFamily="34" charset="-120"/>
                        </a:rPr>
                        <a:t>기존 소요</a:t>
                      </a:r>
                      <a:endParaRPr lang="en-US" sz="1200" dirty="0">
                        <a:latin typeface="NanumGothic Bold" charset="0"/>
                        <a:ea typeface="NanumGothic Bold" charset="0"/>
                        <a:cs typeface="NanumGothi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NanumGothic Bold" pitchFamily="34" charset="0"/>
                          <a:ea typeface="NanumGothic Bold" pitchFamily="34" charset="-122"/>
                          <a:cs typeface="NanumGothic Bold" pitchFamily="34" charset="-120"/>
                        </a:rPr>
                        <a:t>AI Native</a:t>
                      </a:r>
                      <a:endParaRPr lang="en-US" sz="1200" dirty="0">
                        <a:latin typeface="NanumGothic Bold" charset="0"/>
                        <a:ea typeface="NanumGothic Bold" charset="0"/>
                        <a:cs typeface="NanumGothi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NanumGothic Bold" pitchFamily="34" charset="0"/>
                          <a:ea typeface="NanumGothic Bold" pitchFamily="34" charset="-122"/>
                          <a:cs typeface="NanumGothic Bold" pitchFamily="34" charset="-120"/>
                        </a:rPr>
                        <a:t>주요 도구</a:t>
                      </a:r>
                      <a:endParaRPr lang="en-US" sz="1200" dirty="0">
                        <a:latin typeface="NanumGothic Bold" charset="0"/>
                        <a:ea typeface="NanumGothic Bold" charset="0"/>
                        <a:cs typeface="NanumGothi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NanumGothic" pitchFamily="34" charset="0"/>
                          <a:ea typeface="NanumGothic" pitchFamily="34" charset="-122"/>
                          <a:cs typeface="NanumGothic" pitchFamily="34" charset="-120"/>
                        </a:rPr>
                        <a:t>2-Pager</a:t>
                      </a:r>
                      <a:endParaRPr lang="en-US" sz="1200" dirty="0">
                        <a:latin typeface="NanumGothic" charset="0"/>
                        <a:ea typeface="NanumGothic" charset="0"/>
                        <a:cs typeface="Nanum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NanumGothic" pitchFamily="34" charset="0"/>
                          <a:ea typeface="NanumGothic" pitchFamily="34" charset="-122"/>
                          <a:cs typeface="NanumGothic" pitchFamily="34" charset="-120"/>
                        </a:rPr>
                        <a:t>수일</a:t>
                      </a:r>
                      <a:endParaRPr lang="en-US" sz="1200" dirty="0">
                        <a:latin typeface="NanumGothic" charset="0"/>
                        <a:ea typeface="NanumGothic" charset="0"/>
                        <a:cs typeface="Nanum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6B35"/>
                          </a:solidFill>
                          <a:latin typeface="NanumGothic" pitchFamily="34" charset="0"/>
                          <a:ea typeface="NanumGothic" pitchFamily="34" charset="-122"/>
                          <a:cs typeface="NanumGothic" pitchFamily="34" charset="-120"/>
                        </a:rPr>
                        <a:t>수분</a:t>
                      </a:r>
                      <a:endParaRPr lang="en-US" sz="1200" dirty="0">
                        <a:latin typeface="NanumGothic" charset="0"/>
                        <a:ea typeface="NanumGothic" charset="0"/>
                        <a:cs typeface="Nanum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NanumGothic" pitchFamily="34" charset="0"/>
                          <a:ea typeface="NanumGothic" pitchFamily="34" charset="-122"/>
                          <a:cs typeface="NanumGothic" pitchFamily="34" charset="-120"/>
                        </a:rPr>
                        <a:t>Claude, Gemini Deep Research</a:t>
                      </a:r>
                      <a:endParaRPr lang="en-US" sz="1200" dirty="0">
                        <a:latin typeface="NanumGothic" charset="0"/>
                        <a:ea typeface="NanumGothic" charset="0"/>
                        <a:cs typeface="Nanum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NanumGothic" pitchFamily="34" charset="0"/>
                          <a:ea typeface="NanumGothic" pitchFamily="34" charset="-122"/>
                          <a:cs typeface="NanumGothic" pitchFamily="34" charset="-120"/>
                        </a:rPr>
                        <a:t>PRD</a:t>
                      </a:r>
                      <a:endParaRPr lang="en-US" sz="1200" dirty="0">
                        <a:latin typeface="NanumGothic" charset="0"/>
                        <a:ea typeface="NanumGothic" charset="0"/>
                        <a:cs typeface="Nanum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NanumGothic" pitchFamily="34" charset="0"/>
                          <a:ea typeface="NanumGothic" pitchFamily="34" charset="-122"/>
                          <a:cs typeface="NanumGothic" pitchFamily="34" charset="-120"/>
                        </a:rPr>
                        <a:t>1~2주</a:t>
                      </a:r>
                      <a:endParaRPr lang="en-US" sz="1200" dirty="0">
                        <a:latin typeface="NanumGothic" charset="0"/>
                        <a:ea typeface="NanumGothic" charset="0"/>
                        <a:cs typeface="Nanum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6B35"/>
                          </a:solidFill>
                          <a:latin typeface="NanumGothic" pitchFamily="34" charset="0"/>
                          <a:ea typeface="NanumGothic" pitchFamily="34" charset="-122"/>
                          <a:cs typeface="NanumGothic" pitchFamily="34" charset="-120"/>
                        </a:rPr>
                        <a:t>수시간</a:t>
                      </a:r>
                      <a:endParaRPr lang="en-US" sz="1200" dirty="0">
                        <a:latin typeface="NanumGothic" charset="0"/>
                        <a:ea typeface="NanumGothic" charset="0"/>
                        <a:cs typeface="Nanum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NanumGothic" pitchFamily="34" charset="0"/>
                          <a:ea typeface="NanumGothic" pitchFamily="34" charset="-122"/>
                          <a:cs typeface="NanumGothic" pitchFamily="34" charset="-120"/>
                        </a:rPr>
                        <a:t>Manyfast, Claude</a:t>
                      </a:r>
                      <a:endParaRPr lang="en-US" sz="1200" dirty="0">
                        <a:latin typeface="NanumGothic" charset="0"/>
                        <a:ea typeface="NanumGothic" charset="0"/>
                        <a:cs typeface="Nanum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NanumGothic" pitchFamily="34" charset="0"/>
                          <a:ea typeface="NanumGothic" pitchFamily="34" charset="-122"/>
                          <a:cs typeface="NanumGothic" pitchFamily="34" charset="-120"/>
                        </a:rPr>
                        <a:t>Wireframe</a:t>
                      </a:r>
                      <a:endParaRPr lang="en-US" sz="1200" dirty="0">
                        <a:latin typeface="NanumGothic" charset="0"/>
                        <a:ea typeface="NanumGothic" charset="0"/>
                        <a:cs typeface="Nanum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NanumGothic" pitchFamily="34" charset="0"/>
                          <a:ea typeface="NanumGothic" pitchFamily="34" charset="-122"/>
                          <a:cs typeface="NanumGothic" pitchFamily="34" charset="-120"/>
                        </a:rPr>
                        <a:t>수일</a:t>
                      </a:r>
                      <a:endParaRPr lang="en-US" sz="1200" dirty="0">
                        <a:latin typeface="NanumGothic" charset="0"/>
                        <a:ea typeface="NanumGothic" charset="0"/>
                        <a:cs typeface="Nanum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6B35"/>
                          </a:solidFill>
                          <a:latin typeface="NanumGothic" pitchFamily="34" charset="0"/>
                          <a:ea typeface="NanumGothic" pitchFamily="34" charset="-122"/>
                          <a:cs typeface="NanumGothic" pitchFamily="34" charset="-120"/>
                        </a:rPr>
                        <a:t>수분</a:t>
                      </a:r>
                      <a:endParaRPr lang="en-US" sz="1200" dirty="0">
                        <a:latin typeface="NanumGothic" charset="0"/>
                        <a:ea typeface="NanumGothic" charset="0"/>
                        <a:cs typeface="Nanum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NanumGothic" pitchFamily="34" charset="0"/>
                          <a:ea typeface="NanumGothic" pitchFamily="34" charset="-122"/>
                          <a:cs typeface="NanumGothic" pitchFamily="34" charset="-120"/>
                        </a:rPr>
                        <a:t>Figma AI (Make), v0</a:t>
                      </a:r>
                      <a:endParaRPr lang="en-US" sz="1200" dirty="0">
                        <a:latin typeface="NanumGothic" charset="0"/>
                        <a:ea typeface="NanumGothic" charset="0"/>
                        <a:cs typeface="Nanum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NanumGothic" pitchFamily="34" charset="0"/>
                          <a:ea typeface="NanumGothic" pitchFamily="34" charset="-122"/>
                          <a:cs typeface="NanumGothic" pitchFamily="34" charset="-120"/>
                        </a:rPr>
                        <a:t>Prototype</a:t>
                      </a:r>
                      <a:endParaRPr lang="en-US" sz="1200" dirty="0">
                        <a:latin typeface="NanumGothic" charset="0"/>
                        <a:ea typeface="NanumGothic" charset="0"/>
                        <a:cs typeface="Nanum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NanumGothic" pitchFamily="34" charset="0"/>
                          <a:ea typeface="NanumGothic" pitchFamily="34" charset="-122"/>
                          <a:cs typeface="NanumGothic" pitchFamily="34" charset="-120"/>
                        </a:rPr>
                        <a:t>수주</a:t>
                      </a:r>
                      <a:endParaRPr lang="en-US" sz="1200" dirty="0">
                        <a:latin typeface="NanumGothic" charset="0"/>
                        <a:ea typeface="NanumGothic" charset="0"/>
                        <a:cs typeface="Nanum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6B35"/>
                          </a:solidFill>
                          <a:latin typeface="NanumGothic" pitchFamily="34" charset="0"/>
                          <a:ea typeface="NanumGothic" pitchFamily="34" charset="-122"/>
                          <a:cs typeface="NanumGothic" pitchFamily="34" charset="-120"/>
                        </a:rPr>
                        <a:t>수십분</a:t>
                      </a:r>
                      <a:endParaRPr lang="en-US" sz="1200" dirty="0">
                        <a:latin typeface="NanumGothic" charset="0"/>
                        <a:ea typeface="NanumGothic" charset="0"/>
                        <a:cs typeface="Nanum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NanumGothic" pitchFamily="34" charset="0"/>
                          <a:ea typeface="NanumGothic" pitchFamily="34" charset="-122"/>
                          <a:cs typeface="NanumGothic" pitchFamily="34" charset="-120"/>
                        </a:rPr>
                        <a:t>Claude Code, Cursor, Replit</a:t>
                      </a:r>
                      <a:endParaRPr lang="en-US" sz="1200" dirty="0">
                        <a:latin typeface="NanumGothic" charset="0"/>
                        <a:ea typeface="NanumGothic" charset="0"/>
                        <a:cs typeface="Nanum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NanumGothic" pitchFamily="34" charset="0"/>
                          <a:ea typeface="NanumGothic" pitchFamily="34" charset="-122"/>
                          <a:cs typeface="NanumGothic" pitchFamily="34" charset="-120"/>
                        </a:rPr>
                        <a:t>배포</a:t>
                      </a:r>
                      <a:endParaRPr lang="en-US" sz="1200" dirty="0">
                        <a:latin typeface="NanumGothic" charset="0"/>
                        <a:ea typeface="NanumGothic" charset="0"/>
                        <a:cs typeface="Nanum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NanumGothic" pitchFamily="34" charset="0"/>
                          <a:ea typeface="NanumGothic" pitchFamily="34" charset="-122"/>
                          <a:cs typeface="NanumGothic" pitchFamily="34" charset="-120"/>
                        </a:rPr>
                        <a:t>수일</a:t>
                      </a:r>
                      <a:endParaRPr lang="en-US" sz="1200" dirty="0">
                        <a:latin typeface="NanumGothic" charset="0"/>
                        <a:ea typeface="NanumGothic" charset="0"/>
                        <a:cs typeface="Nanum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6B35"/>
                          </a:solidFill>
                          <a:latin typeface="NanumGothic" pitchFamily="34" charset="0"/>
                          <a:ea typeface="NanumGothic" pitchFamily="34" charset="-122"/>
                          <a:cs typeface="NanumGothic" pitchFamily="34" charset="-120"/>
                        </a:rPr>
                        <a:t>수분</a:t>
                      </a:r>
                      <a:endParaRPr lang="en-US" sz="1200" dirty="0">
                        <a:latin typeface="NanumGothic" charset="0"/>
                        <a:ea typeface="NanumGothic" charset="0"/>
                        <a:cs typeface="Nanum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NanumGothic" pitchFamily="34" charset="0"/>
                          <a:ea typeface="NanumGothic" pitchFamily="34" charset="-122"/>
                          <a:cs typeface="NanumGothic" pitchFamily="34" charset="-120"/>
                        </a:rPr>
                        <a:t>Vercel, Replit, Lovable</a:t>
                      </a:r>
                      <a:endParaRPr lang="en-US" sz="1200" dirty="0">
                        <a:latin typeface="NanumGothic" charset="0"/>
                        <a:ea typeface="NanumGothic" charset="0"/>
                        <a:cs typeface="Nanum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640080" y="432054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6B35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전체 흐름: 아이디어 → PRD → 와이어프레임 → 프로토타입 → 배포까지 하루 안에 가능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66928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11111"/>
                </a:solidFill>
                <a:latin typeface="NanumGothic ExtraBold" pitchFamily="34" charset="0"/>
                <a:ea typeface="NanumGothic ExtraBold" pitchFamily="34" charset="-122"/>
                <a:cs typeface="NanumGothic ExtraBold" pitchFamily="34" charset="-120"/>
              </a:rPr>
              <a:t>5개 핵심 입력 — PRD의 씨앗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40080" y="109728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PRD 전체를 쓸 필요 없습니다. 이 5가지만 명확하면 AI가 나머지를 채워줍니다.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" y="1042416"/>
            <a:ext cx="347472" cy="347472"/>
          </a:xfrm>
          <a:prstGeom prst="ellipse">
            <a:avLst/>
          </a:prstGeom>
          <a:solidFill>
            <a:srgbClr val="111111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04241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NanumGothic ExtraBold" pitchFamily="34" charset="0"/>
                <a:ea typeface="NanumGothic ExtraBold" pitchFamily="34" charset="-122"/>
                <a:cs typeface="NanumGothic ExtraBold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188720" y="100584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NanumGothic ExtraBold" pitchFamily="34" charset="0"/>
                <a:ea typeface="NanumGothic ExtraBold" pitchFamily="34" charset="-122"/>
                <a:cs typeface="NanumGothic ExtraBold" pitchFamily="34" charset="-120"/>
              </a:rPr>
              <a:t>서비스명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834640" y="100584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A2A2A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뭐라고 부를까?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852160" y="100584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직관적이고 기억하기 쉬운 이름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40080" y="1517904"/>
            <a:ext cx="347472" cy="347472"/>
          </a:xfrm>
          <a:prstGeom prst="ellipse">
            <a:avLst/>
          </a:prstGeom>
          <a:solidFill>
            <a:srgbClr val="111111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" y="151790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NanumGothic ExtraBold" pitchFamily="34" charset="0"/>
                <a:ea typeface="NanumGothic ExtraBold" pitchFamily="34" charset="-122"/>
                <a:cs typeface="NanumGothic ExtraBold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88720" y="1481328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NanumGothic ExtraBold" pitchFamily="34" charset="0"/>
                <a:ea typeface="NanumGothic ExtraBold" pitchFamily="34" charset="-122"/>
                <a:cs typeface="NanumGothic ExtraBold" pitchFamily="34" charset="-120"/>
              </a:rPr>
              <a:t>타겟 유저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2834640" y="1481328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A2A2A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누구를 위한 건가?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852160" y="1481328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행동 패턴까지 구체적으로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40080" y="1993392"/>
            <a:ext cx="347472" cy="347472"/>
          </a:xfrm>
          <a:prstGeom prst="ellipse">
            <a:avLst/>
          </a:prstGeom>
          <a:solidFill>
            <a:srgbClr val="111111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199339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NanumGothic ExtraBold" pitchFamily="34" charset="0"/>
                <a:ea typeface="NanumGothic ExtraBold" pitchFamily="34" charset="-122"/>
                <a:cs typeface="NanumGothic ExtraBold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88720" y="1956816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NanumGothic ExtraBold" pitchFamily="34" charset="0"/>
                <a:ea typeface="NanumGothic ExtraBold" pitchFamily="34" charset="-122"/>
                <a:cs typeface="NanumGothic ExtraBold" pitchFamily="34" charset="-120"/>
              </a:rPr>
              <a:t>핵심 문제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2834640" y="1956816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A2A2A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어떤 문제를 해결하나?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5852160" y="1956816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정량 수치가 있으면 강력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40080" y="2468880"/>
            <a:ext cx="347472" cy="347472"/>
          </a:xfrm>
          <a:prstGeom prst="ellipse">
            <a:avLst/>
          </a:prstGeom>
          <a:solidFill>
            <a:srgbClr val="111111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246888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NanumGothic ExtraBold" pitchFamily="34" charset="0"/>
                <a:ea typeface="NanumGothic ExtraBold" pitchFamily="34" charset="-122"/>
                <a:cs typeface="NanumGothic ExtraBold" pitchFamily="34" charset="-120"/>
              </a:rPr>
              <a:t>4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188720" y="2432304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NanumGothic ExtraBold" pitchFamily="34" charset="0"/>
                <a:ea typeface="NanumGothic ExtraBold" pitchFamily="34" charset="-122"/>
                <a:cs typeface="NanumGothic ExtraBold" pitchFamily="34" charset="-120"/>
              </a:rPr>
              <a:t>AI 활용점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2834640" y="2432304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A2A2A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AI가 어디서 가치를 만드나?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852160" y="2432304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AI가 대체할 구체적 작업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40080" y="2944368"/>
            <a:ext cx="347472" cy="347472"/>
          </a:xfrm>
          <a:prstGeom prst="ellipse">
            <a:avLst/>
          </a:prstGeom>
          <a:solidFill>
            <a:srgbClr val="111111"/>
          </a:solidFill>
          <a:ln/>
        </p:spPr>
      </p:sp>
      <p:sp>
        <p:nvSpPr>
          <p:cNvPr id="27" name="Text 25"/>
          <p:cNvSpPr/>
          <p:nvPr/>
        </p:nvSpPr>
        <p:spPr>
          <a:xfrm>
            <a:off x="640080" y="294436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NanumGothic ExtraBold" pitchFamily="34" charset="0"/>
                <a:ea typeface="NanumGothic ExtraBold" pitchFamily="34" charset="-122"/>
                <a:cs typeface="NanumGothic ExtraBold" pitchFamily="34" charset="-120"/>
              </a:rPr>
              <a:t>5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1188720" y="2907792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NanumGothic ExtraBold" pitchFamily="34" charset="0"/>
                <a:ea typeface="NanumGothic ExtraBold" pitchFamily="34" charset="-122"/>
                <a:cs typeface="NanumGothic ExtraBold" pitchFamily="34" charset="-120"/>
              </a:rPr>
              <a:t>성공 기준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2834640" y="2907792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A2A2A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어떻게 성공을 아나?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5852160" y="2907792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측정 가능한 숫자로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40080" y="3474720"/>
            <a:ext cx="7863840" cy="411480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32" name="Text 30"/>
          <p:cNvSpPr/>
          <p:nvPr/>
        </p:nvSpPr>
        <p:spPr>
          <a:xfrm>
            <a:off x="640080" y="347472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6B35"/>
                </a:solidFill>
                <a:latin typeface="NanumGothic Bold" pitchFamily="34" charset="0"/>
                <a:ea typeface="NanumGothic Bold" pitchFamily="34" charset="-122"/>
                <a:cs typeface="NanumGothic Bold" pitchFamily="34" charset="-120"/>
              </a:rPr>
              <a:t>이 5개만 명확하면 AI가 나머지를 채워줍니다  →  실습 Step 1에서 직접 작성!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66928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11111"/>
                </a:solidFill>
                <a:latin typeface="NanumGothic ExtraBold" pitchFamily="34" charset="0"/>
                <a:ea typeface="NanumGothic ExtraBold" pitchFamily="34" charset="-122"/>
                <a:cs typeface="NanumGothic ExtraBold" pitchFamily="34" charset="-120"/>
              </a:rPr>
              <a:t>AI 도구 협업: 마스터 플랜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40080" y="109728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하나의 도구가 아닌, 여러 AI 도구를 조합하여 PM 워크플로우를 가속화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" y="1051560"/>
            <a:ext cx="7863840" cy="384048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051560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NanumGothic ExtraBold" pitchFamily="34" charset="0"/>
                <a:ea typeface="NanumGothic ExtraBold" pitchFamily="34" charset="-122"/>
                <a:cs typeface="NanumGothic ExtraBold" pitchFamily="34" charset="-120"/>
              </a:rPr>
              <a:t>리서치 → PRD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2743200" y="105156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6B35"/>
                </a:solidFill>
                <a:latin typeface="NanumGothic Bold" pitchFamily="34" charset="0"/>
                <a:ea typeface="NanumGothic Bold" pitchFamily="34" charset="-122"/>
                <a:cs typeface="NanumGothic Bold" pitchFamily="34" charset="-120"/>
              </a:rPr>
              <a:t>Claude + Gemini Deep Research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577840" y="1051560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시장/경쟁 분석 → 구조화된 PRD 초안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40080" y="1527048"/>
            <a:ext cx="7863840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" name="Text 9"/>
          <p:cNvSpPr/>
          <p:nvPr/>
        </p:nvSpPr>
        <p:spPr>
          <a:xfrm>
            <a:off x="777240" y="1527048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NanumGothic ExtraBold" pitchFamily="34" charset="0"/>
                <a:ea typeface="NanumGothic ExtraBold" pitchFamily="34" charset="-122"/>
                <a:cs typeface="NanumGothic ExtraBold" pitchFamily="34" charset="-120"/>
              </a:rPr>
              <a:t>PRD → 와이어프레임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743200" y="152704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6B35"/>
                </a:solidFill>
                <a:latin typeface="NanumGothic Bold" pitchFamily="34" charset="0"/>
                <a:ea typeface="NanumGothic Bold" pitchFamily="34" charset="-122"/>
                <a:cs typeface="NanumGothic Bold" pitchFamily="34" charset="-120"/>
              </a:rPr>
              <a:t>Claude + Figma AI (Make)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577840" y="1527048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PRD 기반 자동 UI 레이아웃 생성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40080" y="2002536"/>
            <a:ext cx="7863840" cy="384048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15" name="Text 13"/>
          <p:cNvSpPr/>
          <p:nvPr/>
        </p:nvSpPr>
        <p:spPr>
          <a:xfrm>
            <a:off x="777240" y="2002536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NanumGothic ExtraBold" pitchFamily="34" charset="0"/>
                <a:ea typeface="NanumGothic ExtraBold" pitchFamily="34" charset="-122"/>
                <a:cs typeface="NanumGothic ExtraBold" pitchFamily="34" charset="-120"/>
              </a:rPr>
              <a:t>PRD → 프로토타입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2743200" y="2002536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6B35"/>
                </a:solidFill>
                <a:latin typeface="NanumGothic Bold" pitchFamily="34" charset="0"/>
                <a:ea typeface="NanumGothic Bold" pitchFamily="34" charset="-122"/>
                <a:cs typeface="NanumGothic Bold" pitchFamily="34" charset="-120"/>
              </a:rPr>
              <a:t>Claude Code + Cursor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577840" y="2002536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PRD에서 동작하는 HTML/React 앱 생성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40080" y="2478024"/>
            <a:ext cx="7863840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9" name="Text 17"/>
          <p:cNvSpPr/>
          <p:nvPr/>
        </p:nvSpPr>
        <p:spPr>
          <a:xfrm>
            <a:off x="777240" y="2478024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NanumGothic ExtraBold" pitchFamily="34" charset="0"/>
                <a:ea typeface="NanumGothic ExtraBold" pitchFamily="34" charset="-122"/>
                <a:cs typeface="NanumGothic ExtraBold" pitchFamily="34" charset="-120"/>
              </a:rPr>
              <a:t>디자인 → 코드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2743200" y="2478024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6B35"/>
                </a:solidFill>
                <a:latin typeface="NanumGothic Bold" pitchFamily="34" charset="0"/>
                <a:ea typeface="NanumGothic Bold" pitchFamily="34" charset="-122"/>
                <a:cs typeface="NanumGothic Bold" pitchFamily="34" charset="-120"/>
              </a:rPr>
              <a:t>Figma + Google Stitch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577840" y="2478024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Figma 디자인을 코드로 변환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40080" y="2953512"/>
            <a:ext cx="7863840" cy="384048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23" name="Text 21"/>
          <p:cNvSpPr/>
          <p:nvPr/>
        </p:nvSpPr>
        <p:spPr>
          <a:xfrm>
            <a:off x="777240" y="2953512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NanumGothic ExtraBold" pitchFamily="34" charset="0"/>
                <a:ea typeface="NanumGothic ExtraBold" pitchFamily="34" charset="-122"/>
                <a:cs typeface="NanumGothic ExtraBold" pitchFamily="34" charset="-120"/>
              </a:rPr>
              <a:t>프로토타입 → 배포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2743200" y="2953512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6B35"/>
                </a:solidFill>
                <a:latin typeface="NanumGothic Bold" pitchFamily="34" charset="0"/>
                <a:ea typeface="NanumGothic Bold" pitchFamily="34" charset="-122"/>
                <a:cs typeface="NanumGothic Bold" pitchFamily="34" charset="-120"/>
              </a:rPr>
              <a:t>Replit / Lovable / Vercel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577840" y="2953512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1-click 배포로 외부 공유 가능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40080" y="432054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6B35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핵심: 어떤 도구를 쓰느냐가 아니라, PM이 '무엇을' 지시할지를 아는 것이 경쟁력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66928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11111"/>
                </a:solidFill>
                <a:latin typeface="NanumGothic ExtraBold" pitchFamily="34" charset="0"/>
                <a:ea typeface="NanumGothic ExtraBold" pitchFamily="34" charset="-122"/>
                <a:cs typeface="NanumGothic ExtraBold" pitchFamily="34" charset="-120"/>
              </a:rPr>
              <a:t>실전 도구 조합 예시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40080" y="1051560"/>
            <a:ext cx="7863840" cy="1097280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0972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6B35"/>
                </a:solidFill>
                <a:latin typeface="NanumGothic ExtraBold" pitchFamily="34" charset="0"/>
                <a:ea typeface="NanumGothic ExtraBold" pitchFamily="34" charset="-122"/>
                <a:cs typeface="NanumGothic ExtraBold" pitchFamily="34" charset="-120"/>
              </a:rPr>
              <a:t>Workflow A:  기획 → 프로토타입 → 배포 (오늘 실습)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77240" y="1463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Claude (리서치)  →  Manyfast (PRD)  →  Claude Code (프로토타입)  →  Vercel / Replit (배포)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77240" y="1783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5개 입력 → PRD 초안(~5분) → HTML 생성(~15분) → 배포(~2분)  =  총 30분 이내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40080" y="2331720"/>
            <a:ext cx="7863840" cy="1097280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10" name="Text 8"/>
          <p:cNvSpPr/>
          <p:nvPr/>
        </p:nvSpPr>
        <p:spPr>
          <a:xfrm>
            <a:off x="777240" y="23774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11111"/>
                </a:solidFill>
                <a:latin typeface="NanumGothic ExtraBold" pitchFamily="34" charset="0"/>
                <a:ea typeface="NanumGothic ExtraBold" pitchFamily="34" charset="-122"/>
                <a:cs typeface="NanumGothic ExtraBold" pitchFamily="34" charset="-120"/>
              </a:rPr>
              <a:t>Workflow B:  디자인 중심 (Figma 활용)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77240" y="2743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Claude (PRD)  →  Figma AI / Make (와이어프레임)  →  Google Stitch (코드 변환)  →  Lovable (배포)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777240" y="3063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디자인 시스템이 중요한 B2C 서비스에 적합  |  Figma → 코드 자동 변환으로 개발 공수 절감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" y="432054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💡 Google AI Studio: Gemini 기반 프롬프트 테스트 · 멀티모달 분석에 활용 가능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66928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11111"/>
                </a:solidFill>
                <a:latin typeface="NanumGothic ExtraBold" pitchFamily="34" charset="0"/>
                <a:ea typeface="NanumGothic ExtraBold" pitchFamily="34" charset="-122"/>
                <a:cs typeface="NanumGothic ExtraBold" pitchFamily="34" charset="-120"/>
              </a:rPr>
              <a:t>데모: 오늘의 점심 메이트 — PRD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40080" y="1051560"/>
            <a:ext cx="4754880" cy="502920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05156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NanumGothic ExtraBold" pitchFamily="34" charset="0"/>
                <a:ea typeface="NanumGothic ExtraBold" pitchFamily="34" charset="-122"/>
                <a:cs typeface="NanumGothic ExtraBold" pitchFamily="34" charset="-120"/>
              </a:rPr>
              <a:t>🎯  문제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2194560" y="105156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A2A2A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직장인 12분 × 250일 = 연 50시간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A2A2A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'뭐 먹지?' 고민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40080" y="1673352"/>
            <a:ext cx="4754880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1673352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NanumGothic ExtraBold" pitchFamily="34" charset="0"/>
                <a:ea typeface="NanumGothic ExtraBold" pitchFamily="34" charset="-122"/>
                <a:cs typeface="NanumGothic ExtraBold" pitchFamily="34" charset="-120"/>
              </a:rPr>
              <a:t>💡  솔루션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194560" y="1673352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A2A2A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기분 + 예산 + 위치 →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A2A2A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AI 맞춤 메뉴 3개 추천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40080" y="2295144"/>
            <a:ext cx="4754880" cy="502920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2295144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NanumGothic ExtraBold" pitchFamily="34" charset="0"/>
                <a:ea typeface="NanumGothic ExtraBold" pitchFamily="34" charset="-122"/>
                <a:cs typeface="NanumGothic ExtraBold" pitchFamily="34" charset="-120"/>
              </a:rPr>
              <a:t>📊  KPI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194560" y="2295144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A2A2A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추천 수락률 60%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A2A2A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재사용률 주 3회, NPS 40+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2916936"/>
            <a:ext cx="4754880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2916936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NanumGothic ExtraBold" pitchFamily="34" charset="0"/>
                <a:ea typeface="NanumGothic ExtraBold" pitchFamily="34" charset="-122"/>
                <a:cs typeface="NanumGothic ExtraBold" pitchFamily="34" charset="-120"/>
              </a:rPr>
              <a:t>🤖  AI 모델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2194560" y="2916936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A2A2A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Claude Haiku — 월 $15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A2A2A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p95 응답 &lt; 2초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669280" y="1051560"/>
            <a:ext cx="2834640" cy="2331720"/>
          </a:xfrm>
          <a:prstGeom prst="rect">
            <a:avLst/>
          </a:prstGeom>
          <a:solidFill>
            <a:srgbClr val="E5E7EB"/>
          </a:solidFill>
          <a:ln w="12700">
            <a:solidFill>
              <a:srgbClr val="6B7280"/>
            </a:solidFill>
            <a:prstDash val="dash"/>
          </a:ln>
        </p:spPr>
      </p:sp>
      <p:sp>
        <p:nvSpPr>
          <p:cNvPr id="18" name="Text 16"/>
          <p:cNvSpPr/>
          <p:nvPr/>
        </p:nvSpPr>
        <p:spPr>
          <a:xfrm>
            <a:off x="5669280" y="1051560"/>
            <a:ext cx="283464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📷  PRD.md 화면 캡처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(§3 문제 정의 + §11 KPI)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40080" y="432054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📋  화면 공유: PRD.md 라이브 시연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66928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11111"/>
                </a:solidFill>
                <a:latin typeface="NanumGothic ExtraBold" pitchFamily="34" charset="0"/>
                <a:ea typeface="NanumGothic ExtraBold" pitchFamily="34" charset="-122"/>
                <a:cs typeface="NanumGothic ExtraBold" pitchFamily="34" charset="-120"/>
              </a:rPr>
              <a:t>데모: 프로토타입 — 15분 만에 완성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40080" y="1143000"/>
            <a:ext cx="45720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300" b="1" dirty="0">
                <a:solidFill>
                  <a:srgbClr val="111111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단일 HTML 파일, 외부 API 없음</a:t>
            </a:r>
            <a:endParaRPr lang="en-US" sz="130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300" dirty="0">
                <a:solidFill>
                  <a:srgbClr val="111111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기분 선택 → 예산 선택 → AI 추천 결과 3개</a:t>
            </a:r>
            <a:endParaRPr lang="en-US" sz="130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300" dirty="0">
                <a:solidFill>
                  <a:srgbClr val="111111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모바일 반응형, 실제 버튼 동작 포함</a:t>
            </a:r>
            <a:endParaRPr lang="en-US" sz="130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300" dirty="0">
                <a:solidFill>
                  <a:srgbClr val="111111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6가지 기분 × 3가지 예산 = 54개 메뉴 데이터</a:t>
            </a:r>
            <a:endParaRPr lang="en-US" sz="130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300" dirty="0">
                <a:solidFill>
                  <a:srgbClr val="111111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수락/거절 피드백 UI 포함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0" y="1051560"/>
            <a:ext cx="3017520" cy="2560320"/>
          </a:xfrm>
          <a:prstGeom prst="rect">
            <a:avLst/>
          </a:prstGeom>
          <a:solidFill>
            <a:srgbClr val="E5E7EB"/>
          </a:solidFill>
          <a:ln w="12700">
            <a:solidFill>
              <a:srgbClr val="6B7280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5486400" y="1051560"/>
            <a:ext cx="30175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📷  프로토타입 모바일 화면 캡처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(기분 선택 + 추천 결과 화면)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40080" y="432054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📱  화면 공유: 프로토타입 라이브 시연  |  demo-prototype.html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FFFFFF"/>
                </a:solidFill>
                <a:latin typeface="NanumGothic ExtraBold" pitchFamily="34" charset="0"/>
                <a:ea typeface="NanumGothic ExtraBold" pitchFamily="34" charset="-122"/>
                <a:cs typeface="NanumGothic ExtraBold" pitchFamily="34" charset="-120"/>
              </a:rPr>
              <a:t>이제 여러분 차례입니다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40080" y="1828800"/>
            <a:ext cx="914400" cy="36576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201168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6B35"/>
                </a:solidFill>
                <a:latin typeface="NanumGothic Bold" pitchFamily="34" charset="0"/>
                <a:ea typeface="NanumGothic Bold" pitchFamily="34" charset="-122"/>
                <a:cs typeface="NanumGothic Bold" pitchFamily="34" charset="-120"/>
              </a:rPr>
              <a:t>아이디어  →  PRD  →  프로토타입  →  배포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265176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60분 안에 직접 체험합니다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828800" y="3291840"/>
            <a:ext cx="5486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완성도가 아닙니다.</a:t>
            </a:r>
            <a:endParaRPr lang="en-US" sz="1400" dirty="0"/>
          </a:p>
          <a:p>
            <a:pPr algn="ctr" indent="0" marL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과정을 경험하는 것이 목적입니다.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420624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🕐  잠시 쉬고, 19:20에 실습 시작!</a:t>
            </a:r>
            <a:endParaRPr lang="en-US" sz="1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554480"/>
            <a:ext cx="914400" cy="36576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169164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dirty="0">
                <a:solidFill>
                  <a:srgbClr val="FFFFFF"/>
                </a:solidFill>
                <a:latin typeface="NanumGothic ExtraBold" pitchFamily="34" charset="0"/>
                <a:ea typeface="NanumGothic ExtraBold" pitchFamily="34" charset="-122"/>
                <a:cs typeface="NanumGothic ExtraBold" pitchFamily="34" charset="-120"/>
              </a:rPr>
              <a:t>WORKSHOP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640080" y="265176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내 아이디어를 60분 만에 프로토타입으로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310896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6B35"/>
                </a:solidFill>
                <a:latin typeface="NanumGothic Bold" pitchFamily="34" charset="0"/>
                <a:ea typeface="NanumGothic Bold" pitchFamily="34" charset="-122"/>
                <a:cs typeface="NanumGothic Bold" pitchFamily="34" charset="-120"/>
              </a:rPr>
              <a:t>19:20 ~ 20:20</a:t>
            </a:r>
            <a:endParaRPr lang="en-US" sz="13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66928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11111"/>
                </a:solidFill>
                <a:latin typeface="NanumGothic ExtraBold" pitchFamily="34" charset="0"/>
                <a:ea typeface="NanumGothic ExtraBold" pitchFamily="34" charset="-122"/>
                <a:cs typeface="NanumGothic ExtraBold" pitchFamily="34" charset="-120"/>
              </a:rPr>
              <a:t>실습 흐름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40080" y="1069848"/>
            <a:ext cx="1005840" cy="384048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069848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NanumGothic ExtraBold" pitchFamily="34" charset="0"/>
                <a:ea typeface="NanumGothic ExtraBold" pitchFamily="34" charset="-122"/>
                <a:cs typeface="NanumGothic ExtraBold" pitchFamily="34" charset="-120"/>
              </a:rPr>
              <a:t>Step 0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828800" y="1051560"/>
            <a:ext cx="731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NanumGothic Bold" pitchFamily="34" charset="0"/>
                <a:ea typeface="NanumGothic Bold" pitchFamily="34" charset="-122"/>
                <a:cs typeface="NanumGothic Bold" pitchFamily="34" charset="-120"/>
              </a:rPr>
              <a:t>10분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2651760" y="1051560"/>
            <a:ext cx="3200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11111"/>
                </a:solidFill>
                <a:latin typeface="NanumGothic Bold" pitchFamily="34" charset="0"/>
                <a:ea typeface="NanumGothic Bold" pitchFamily="34" charset="-122"/>
                <a:cs typeface="NanumGothic Bold" pitchFamily="34" charset="-120"/>
              </a:rPr>
              <a:t>환경 세팅 + 트랙 선택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943600" y="1051560"/>
            <a:ext cx="2560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Manyfast · Claude · 메모장 준비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40080" y="1600200"/>
            <a:ext cx="1005840" cy="384048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1600200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NanumGothic ExtraBold" pitchFamily="34" charset="0"/>
                <a:ea typeface="NanumGothic ExtraBold" pitchFamily="34" charset="-122"/>
                <a:cs typeface="NanumGothic ExtraBold" pitchFamily="34" charset="-120"/>
              </a:rPr>
              <a:t>Step 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828800" y="1581912"/>
            <a:ext cx="731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NanumGothic Bold" pitchFamily="34" charset="0"/>
                <a:ea typeface="NanumGothic Bold" pitchFamily="34" charset="-122"/>
                <a:cs typeface="NanumGothic Bold" pitchFamily="34" charset="-120"/>
              </a:rPr>
              <a:t>15분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651760" y="1581912"/>
            <a:ext cx="3200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11111"/>
                </a:solidFill>
                <a:latin typeface="NanumGothic Bold" pitchFamily="34" charset="0"/>
                <a:ea typeface="NanumGothic Bold" pitchFamily="34" charset="-122"/>
                <a:cs typeface="NanumGothic Bold" pitchFamily="34" charset="-120"/>
              </a:rPr>
              <a:t>아이디어 → PRD 재료 (5개 항목)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943600" y="1581912"/>
            <a:ext cx="2560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서비스명/타겟/문제/AI활용/성공기준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40080" y="2130552"/>
            <a:ext cx="1005840" cy="384048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2130552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NanumGothic ExtraBold" pitchFamily="34" charset="0"/>
                <a:ea typeface="NanumGothic ExtraBold" pitchFamily="34" charset="-122"/>
                <a:cs typeface="NanumGothic ExtraBold" pitchFamily="34" charset="-120"/>
              </a:rPr>
              <a:t>Step 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828800" y="2112264"/>
            <a:ext cx="731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NanumGothic Bold" pitchFamily="34" charset="0"/>
                <a:ea typeface="NanumGothic Bold" pitchFamily="34" charset="-122"/>
                <a:cs typeface="NanumGothic Bold" pitchFamily="34" charset="-120"/>
              </a:rPr>
              <a:t>15분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651760" y="2112264"/>
            <a:ext cx="3200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11111"/>
                </a:solidFill>
                <a:latin typeface="NanumGothic Bold" pitchFamily="34" charset="0"/>
                <a:ea typeface="NanumGothic Bold" pitchFamily="34" charset="-122"/>
                <a:cs typeface="NanumGothic Bold" pitchFamily="34" charset="-120"/>
              </a:rPr>
              <a:t>Manyfast.io → PRD 초안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943600" y="2112264"/>
            <a:ext cx="2560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PRD 생성 + 검수 포인트 확인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40080" y="2660904"/>
            <a:ext cx="1005840" cy="384048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2660904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NanumGothic ExtraBold" pitchFamily="34" charset="0"/>
                <a:ea typeface="NanumGothic ExtraBold" pitchFamily="34" charset="-122"/>
                <a:cs typeface="NanumGothic ExtraBold" pitchFamily="34" charset="-120"/>
              </a:rPr>
              <a:t>Step 3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828800" y="2642616"/>
            <a:ext cx="731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NanumGothic Bold" pitchFamily="34" charset="0"/>
                <a:ea typeface="NanumGothic Bold" pitchFamily="34" charset="-122"/>
                <a:cs typeface="NanumGothic Bold" pitchFamily="34" charset="-120"/>
              </a:rPr>
              <a:t>15분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2651760" y="2642616"/>
            <a:ext cx="3200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11111"/>
                </a:solidFill>
                <a:latin typeface="NanumGothic Bold" pitchFamily="34" charset="0"/>
                <a:ea typeface="NanumGothic Bold" pitchFamily="34" charset="-122"/>
                <a:cs typeface="NanumGothic Bold" pitchFamily="34" charset="-120"/>
              </a:rPr>
              <a:t>Claude → HTML 프로토타입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943600" y="2642616"/>
            <a:ext cx="2560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프롬프트 → 생성 → 확인 → 배포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40080" y="3191256"/>
            <a:ext cx="1005840" cy="384048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26" name="Text 24"/>
          <p:cNvSpPr/>
          <p:nvPr/>
        </p:nvSpPr>
        <p:spPr>
          <a:xfrm>
            <a:off x="640080" y="3191256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11111"/>
                </a:solidFill>
                <a:latin typeface="NanumGothic ExtraBold" pitchFamily="34" charset="0"/>
                <a:ea typeface="NanumGothic ExtraBold" pitchFamily="34" charset="-122"/>
                <a:cs typeface="NanumGothic ExtraBold" pitchFamily="34" charset="-120"/>
              </a:rPr>
              <a:t>Buffer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1828800" y="3172968"/>
            <a:ext cx="731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NanumGothic Bold" pitchFamily="34" charset="0"/>
                <a:ea typeface="NanumGothic Bold" pitchFamily="34" charset="-122"/>
                <a:cs typeface="NanumGothic Bold" pitchFamily="34" charset="-120"/>
              </a:rPr>
              <a:t>5분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2651760" y="3172968"/>
            <a:ext cx="3200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11111"/>
                </a:solidFill>
                <a:latin typeface="NanumGothic Bold" pitchFamily="34" charset="0"/>
                <a:ea typeface="NanumGothic Bold" pitchFamily="34" charset="-122"/>
                <a:cs typeface="NanumGothic Bold" pitchFamily="34" charset="-120"/>
              </a:rPr>
              <a:t>저장 + 발표 준비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5943600" y="3172968"/>
            <a:ext cx="2560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결과물 저장, 엘리베이터 피치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66928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11111"/>
                </a:solidFill>
                <a:latin typeface="NanumGothic ExtraBold" pitchFamily="34" charset="0"/>
                <a:ea typeface="NanumGothic ExtraBold" pitchFamily="34" charset="-122"/>
                <a:cs typeface="NanumGothic ExtraBold" pitchFamily="34" charset="-120"/>
              </a:rPr>
              <a:t>Step 0: 환경 세팅 + 트랙 선택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40080" y="105156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11111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☐  Manyfast.io 로그인 완료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141732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11111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☐  Claude.ai 또는 Claude Code 접속 완료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0080" y="178308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11111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☐  메모장 (Notion / Apple Notes / 메모장) 준비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214884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11111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☐  작업 폴더 생성 (선택사항)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754880" y="1051560"/>
            <a:ext cx="3749040" cy="1051560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10" name="Text 8"/>
          <p:cNvSpPr/>
          <p:nvPr/>
        </p:nvSpPr>
        <p:spPr>
          <a:xfrm>
            <a:off x="4937760" y="109728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11111"/>
                </a:solidFill>
                <a:latin typeface="NanumGothic ExtraBold" pitchFamily="34" charset="0"/>
                <a:ea typeface="NanumGothic ExtraBold" pitchFamily="34" charset="-122"/>
                <a:cs typeface="NanumGothic ExtraBold" pitchFamily="34" charset="-120"/>
              </a:rPr>
              <a:t>🟢  공통 트랙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937760" y="1417320"/>
            <a:ext cx="3383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2A2A2A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강사 주제 따라가기 (오늘의 점심 메이트)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2A2A2A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처음 해보는 분 추천!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754880" y="2286000"/>
            <a:ext cx="3749040" cy="1051560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13" name="Shape 11"/>
          <p:cNvSpPr/>
          <p:nvPr/>
        </p:nvSpPr>
        <p:spPr>
          <a:xfrm>
            <a:off x="4754880" y="2286000"/>
            <a:ext cx="36576" cy="1051560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14" name="Text 12"/>
          <p:cNvSpPr/>
          <p:nvPr/>
        </p:nvSpPr>
        <p:spPr>
          <a:xfrm>
            <a:off x="4983480" y="233172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6B35"/>
                </a:solidFill>
                <a:latin typeface="NanumGothic ExtraBold" pitchFamily="34" charset="0"/>
                <a:ea typeface="NanumGothic ExtraBold" pitchFamily="34" charset="-122"/>
                <a:cs typeface="NanumGothic ExtraBold" pitchFamily="34" charset="-120"/>
              </a:rPr>
              <a:t>🔵  자유 트랙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983480" y="2651760"/>
            <a:ext cx="3383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2A2A2A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본인 아이디어로 자율 진행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2A2A2A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핵심 기능 1개로 좁히기!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40080" y="3520440"/>
            <a:ext cx="3840480" cy="502920"/>
          </a:xfrm>
          <a:prstGeom prst="rect">
            <a:avLst/>
          </a:prstGeom>
          <a:solidFill>
            <a:srgbClr val="E5E7EB"/>
          </a:solidFill>
          <a:ln w="12700">
            <a:solidFill>
              <a:srgbClr val="6B728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640080" y="3520440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📷  Manyfast.io 로그인 화면 캡처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66928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11111"/>
                </a:solidFill>
                <a:latin typeface="NanumGothic ExtraBold" pitchFamily="34" charset="0"/>
                <a:ea typeface="NanumGothic ExtraBold" pitchFamily="34" charset="-122"/>
                <a:cs typeface="NanumGothic ExtraBold" pitchFamily="34" charset="-120"/>
              </a:rPr>
              <a:t>Step 1: 5개 항목 채우기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822960" y="1005840"/>
            <a:ext cx="7498080" cy="2560320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118872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11111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1.  서비스명:  ___________________________________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97280" y="160020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11111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2.  타겟 유저:  ___________________________________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97280" y="20116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11111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3.  핵심 문제:  ___________________________________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097280" y="242316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11111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4.  AI 활용점:  ___________________________________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097280" y="283464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11111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5.  성공 기준:  ___________________________________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40080" y="379476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6B35"/>
                </a:solidFill>
                <a:latin typeface="NanumGothic Bold" pitchFamily="34" charset="0"/>
                <a:ea typeface="NanumGothic Bold" pitchFamily="34" charset="-122"/>
                <a:cs typeface="NanumGothic Bold" pitchFamily="34" charset="-120"/>
              </a:rPr>
              <a:t>⏱  10분 안에 채워주세요!</a:t>
            </a:r>
            <a:endParaRPr lang="en-US" sz="13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66928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11111"/>
                </a:solidFill>
                <a:latin typeface="NanumGothic ExtraBold" pitchFamily="34" charset="0"/>
                <a:ea typeface="NanumGothic ExtraBold" pitchFamily="34" charset="-122"/>
                <a:cs typeface="NanumGothic ExtraBold" pitchFamily="34" charset="-120"/>
              </a:rPr>
              <a:t>Step 1: 예시 — 오늘의 점심 메이트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822960" y="1005840"/>
            <a:ext cx="7498080" cy="2560320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6" name="Shape 4"/>
          <p:cNvSpPr/>
          <p:nvPr/>
        </p:nvSpPr>
        <p:spPr>
          <a:xfrm>
            <a:off x="822960" y="1005840"/>
            <a:ext cx="36576" cy="2560320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7" name="Text 5"/>
          <p:cNvSpPr/>
          <p:nvPr/>
        </p:nvSpPr>
        <p:spPr>
          <a:xfrm>
            <a:off x="1097280" y="118872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111"/>
                </a:solidFill>
                <a:latin typeface="NanumGothic Bold" pitchFamily="34" charset="0"/>
                <a:ea typeface="NanumGothic Bold" pitchFamily="34" charset="-122"/>
                <a:cs typeface="NanumGothic Bold" pitchFamily="34" charset="-120"/>
              </a:rPr>
              <a:t>1.  서비스명:</a:t>
            </a:r>
            <a:pPr indent="0" marL="0">
              <a:buNone/>
            </a:pPr>
            <a:r>
              <a:rPr lang="en-US" sz="1400" dirty="0">
                <a:solidFill>
                  <a:srgbClr val="FF6B35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  오늘의 점심 메이트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097280" y="160020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111"/>
                </a:solidFill>
                <a:latin typeface="NanumGothic Bold" pitchFamily="34" charset="0"/>
                <a:ea typeface="NanumGothic Bold" pitchFamily="34" charset="-122"/>
                <a:cs typeface="NanumGothic Bold" pitchFamily="34" charset="-120"/>
              </a:rPr>
              <a:t>2.  타겟 유저:</a:t>
            </a:r>
            <a:pPr indent="0" marL="0">
              <a:buNone/>
            </a:pPr>
            <a:r>
              <a:rPr lang="en-US" sz="1400" dirty="0">
                <a:solidFill>
                  <a:srgbClr val="FF6B35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  점심 메뉴 고민이 많은 직장인 (강남/판교 오피스)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97280" y="20116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111"/>
                </a:solidFill>
                <a:latin typeface="NanumGothic Bold" pitchFamily="34" charset="0"/>
                <a:ea typeface="NanumGothic Bold" pitchFamily="34" charset="-122"/>
                <a:cs typeface="NanumGothic Bold" pitchFamily="34" charset="-120"/>
              </a:rPr>
              <a:t>3.  핵심 문제:</a:t>
            </a:r>
            <a:pPr indent="0" marL="0">
              <a:buNone/>
            </a:pPr>
            <a:r>
              <a:rPr lang="en-US" sz="1400" dirty="0">
                <a:solidFill>
                  <a:srgbClr val="FF6B35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  매일 '뭐 먹지?' 고민에 12분 낭비, 65% 같은 메뉴 반복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097280" y="242316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111"/>
                </a:solidFill>
                <a:latin typeface="NanumGothic Bold" pitchFamily="34" charset="0"/>
                <a:ea typeface="NanumGothic Bold" pitchFamily="34" charset="-122"/>
                <a:cs typeface="NanumGothic Bold" pitchFamily="34" charset="-120"/>
              </a:rPr>
              <a:t>4.  AI 활용점:</a:t>
            </a:r>
            <a:pPr indent="0" marL="0">
              <a:buNone/>
            </a:pPr>
            <a:r>
              <a:rPr lang="en-US" sz="1400" dirty="0">
                <a:solidFill>
                  <a:srgbClr val="FF6B35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  기분/예산 기반 맞춤 메뉴 3개 추천 (Claude Haiku)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097280" y="283464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111"/>
                </a:solidFill>
                <a:latin typeface="NanumGothic Bold" pitchFamily="34" charset="0"/>
                <a:ea typeface="NanumGothic Bold" pitchFamily="34" charset="-122"/>
                <a:cs typeface="NanumGothic Bold" pitchFamily="34" charset="-120"/>
              </a:rPr>
              <a:t>5.  성공 기준:</a:t>
            </a:r>
            <a:pPr indent="0" marL="0">
              <a:buNone/>
            </a:pPr>
            <a:r>
              <a:rPr lang="en-US" sz="1400" dirty="0">
                <a:solidFill>
                  <a:srgbClr val="FF6B35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  추천 수락률 60%, 주간 재사용 3회 이상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66928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11111"/>
                </a:solidFill>
                <a:latin typeface="NanumGothic ExtraBold" pitchFamily="34" charset="0"/>
                <a:ea typeface="NanumGothic ExtraBold" pitchFamily="34" charset="-122"/>
                <a:cs typeface="NanumGothic ExtraBold" pitchFamily="34" charset="-120"/>
              </a:rPr>
              <a:t>Step 1: 짝꿍 피드백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40080" y="118872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111111"/>
                </a:solidFill>
                <a:latin typeface="NanumGothic ExtraBold" pitchFamily="34" charset="0"/>
                <a:ea typeface="NanumGothic ExtraBold" pitchFamily="34" charset="-122"/>
                <a:cs typeface="NanumGothic ExtraBold" pitchFamily="34" charset="-120"/>
              </a:rPr>
              <a:t>옆 사람에게 보여주세요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1828800" y="2011680"/>
            <a:ext cx="5486400" cy="1097280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7" name="Text 5"/>
          <p:cNvSpPr/>
          <p:nvPr/>
        </p:nvSpPr>
        <p:spPr>
          <a:xfrm>
            <a:off x="2011680" y="210312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6B35"/>
                </a:solidFill>
                <a:latin typeface="NanumGothic Bold" pitchFamily="34" charset="0"/>
                <a:ea typeface="NanumGothic Bold" pitchFamily="34" charset="-122"/>
                <a:cs typeface="NanumGothic Bold" pitchFamily="34" charset="-120"/>
              </a:rPr>
              <a:t>"이 서비스를 당장 쓸 것 같나요?"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2011680" y="26060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A2A2A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네 → 좋은 신호! 🎯    |    글쎄 → 핵심 문제 다시 점검 🔍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0080" y="432054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💡  짝꿍의 첫 반응이 냉담하면, 문제 정의를 더 날카롭게 다듬어보세요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66928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11111"/>
                </a:solidFill>
                <a:latin typeface="NanumGothic ExtraBold" pitchFamily="34" charset="0"/>
                <a:ea typeface="NanumGothic ExtraBold" pitchFamily="34" charset="-122"/>
                <a:cs typeface="NanumGothic ExtraBold" pitchFamily="34" charset="-120"/>
              </a:rPr>
              <a:t>Step 2: Manyfast.io → PRD 초안 생성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40080" y="1143000"/>
            <a:ext cx="45720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b="1" dirty="0">
                <a:solidFill>
                  <a:srgbClr val="111111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1.  새 프로젝트 생성 (프로젝트명 입력)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11111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2.  5개 항목을 프로젝트 설명에 붙여넣기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11111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3.  PRD 생성 실행 (~1분 소요)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b="1" dirty="0">
                <a:solidFill>
                  <a:srgbClr val="111111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4.  핵심 기능 부분만 복사 → 메모장 저장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0" y="1051560"/>
            <a:ext cx="3017520" cy="1828800"/>
          </a:xfrm>
          <a:prstGeom prst="rect">
            <a:avLst/>
          </a:prstGeom>
          <a:solidFill>
            <a:srgbClr val="E5E7EB"/>
          </a:solidFill>
          <a:ln w="12700">
            <a:solidFill>
              <a:srgbClr val="6B7280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5486400" y="1051560"/>
            <a:ext cx="30175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📷  Manyfast.io PRD 생성 화면 캡처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(입력 → 결과)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40080" y="3291840"/>
            <a:ext cx="7863840" cy="502920"/>
          </a:xfrm>
          <a:prstGeom prst="rect">
            <a:avLst/>
          </a:prstGeom>
          <a:solidFill>
            <a:srgbClr val="FEF3C7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329184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NanumGothic Bold" pitchFamily="34" charset="0"/>
                <a:ea typeface="NanumGothic Bold" pitchFamily="34" charset="-122"/>
                <a:cs typeface="NanumGothic Bold" pitchFamily="34" charset="-120"/>
              </a:rPr>
              <a:t>⚠️  PRD 전체 복사 금지 — 핵심 기능 3줄 요약만 저장 (토큰 절감)</a:t>
            </a:r>
            <a:endParaRPr lang="en-US" sz="12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66928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11111"/>
                </a:solidFill>
                <a:latin typeface="NanumGothic ExtraBold" pitchFamily="34" charset="0"/>
                <a:ea typeface="NanumGothic ExtraBold" pitchFamily="34" charset="-122"/>
                <a:cs typeface="NanumGothic ExtraBold" pitchFamily="34" charset="-120"/>
              </a:rPr>
              <a:t>Step 2: PRD 검수 포인트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40080" y="109728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AI가 생성한 PRD를 그대로 쓰지 마세요. PM의 검증이 반드시 필요합니다.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" y="1051560"/>
            <a:ext cx="7863840" cy="640080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05156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11111"/>
                </a:solidFill>
                <a:latin typeface="NanumGothic Bold" pitchFamily="34" charset="0"/>
                <a:ea typeface="NanumGothic Bold" pitchFamily="34" charset="-122"/>
                <a:cs typeface="NanumGothic Bold" pitchFamily="34" charset="-120"/>
              </a:rPr>
              <a:t>✅  문제 정의에 구체적 수치가 있는가?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14400" y="1344168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✗ </a:t>
            </a:r>
            <a:pPr indent="0" marL="0">
              <a:buNone/>
            </a:pPr>
            <a:r>
              <a:rPr lang="en-US" sz="1100" dirty="0">
                <a:solidFill>
                  <a:srgbClr val="DC2626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사용자들이 불편해한다</a:t>
            </a:r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   →   </a:t>
            </a:r>
            <a:pPr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✓ </a:t>
            </a:r>
            <a:pPr indent="0" marL="0">
              <a:buNone/>
            </a:pPr>
            <a:r>
              <a:rPr lang="en-US" sz="1100" dirty="0">
                <a:solidFill>
                  <a:srgbClr val="16A34A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직장인 82%가 매일 12분 소비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" y="1828800"/>
            <a:ext cx="7863840" cy="640080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182880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11111"/>
                </a:solidFill>
                <a:latin typeface="NanumGothic Bold" pitchFamily="34" charset="0"/>
                <a:ea typeface="NanumGothic Bold" pitchFamily="34" charset="-122"/>
                <a:cs typeface="NanumGothic Bold" pitchFamily="34" charset="-120"/>
              </a:rPr>
              <a:t>✅  In Scope / Out of Scope가 구분되어 있는가?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914400" y="2121408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✗ </a:t>
            </a:r>
            <a:pPr indent="0" marL="0">
              <a:buNone/>
            </a:pPr>
            <a:r>
              <a:rPr lang="en-US" sz="1100" dirty="0">
                <a:solidFill>
                  <a:srgbClr val="DC2626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추천 기능 구현</a:t>
            </a:r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   →   </a:t>
            </a:r>
            <a:pPr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✓ </a:t>
            </a:r>
            <a:pPr indent="0" marL="0">
              <a:buNone/>
            </a:pPr>
            <a:r>
              <a:rPr lang="en-US" sz="1100" dirty="0">
                <a:solidFill>
                  <a:srgbClr val="16A34A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In: 개인 추천 / Out: 그룹, 예약, 결제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40080" y="2606040"/>
            <a:ext cx="7863840" cy="640080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260604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11111"/>
                </a:solidFill>
                <a:latin typeface="NanumGothic Bold" pitchFamily="34" charset="0"/>
                <a:ea typeface="NanumGothic Bold" pitchFamily="34" charset="-122"/>
                <a:cs typeface="NanumGothic Bold" pitchFamily="34" charset="-120"/>
              </a:rPr>
              <a:t>✅  성공 지표에 측정 가능한 숫자가 있는가?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914400" y="2898648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✗ </a:t>
            </a:r>
            <a:pPr indent="0" marL="0">
              <a:buNone/>
            </a:pPr>
            <a:r>
              <a:rPr lang="en-US" sz="1100" dirty="0">
                <a:solidFill>
                  <a:srgbClr val="DC2626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사용자 만족도 향상</a:t>
            </a:r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   →   </a:t>
            </a:r>
            <a:pPr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✓ </a:t>
            </a:r>
            <a:pPr indent="0" marL="0">
              <a:buNone/>
            </a:pPr>
            <a:r>
              <a:rPr lang="en-US" sz="1100" dirty="0">
                <a:solidFill>
                  <a:srgbClr val="16A34A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수락률 60%, NPS 40+, WAU 1000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40080" y="432054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6B35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원칙: 구체적 &gt; 추상적  |  숫자 &gt; 형용사  |  링크 &gt; 복사  (PRD 작성 5대 원칙)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66928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11111"/>
                </a:solidFill>
                <a:latin typeface="NanumGothic ExtraBold" pitchFamily="34" charset="0"/>
                <a:ea typeface="NanumGothic ExtraBold" pitchFamily="34" charset="-122"/>
                <a:cs typeface="NanumGothic ExtraBold" pitchFamily="34" charset="-120"/>
              </a:rPr>
              <a:t>Step 3: Claude → 프로토타입 생성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40080" y="1005840"/>
            <a:ext cx="7863840" cy="2377440"/>
          </a:xfrm>
          <a:prstGeom prst="rect">
            <a:avLst/>
          </a:prstGeom>
          <a:solidFill>
            <a:srgbClr val="2A2A2A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1188720"/>
            <a:ext cx="7315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아래 PRD를 기반으로 모바일 웹 UI 프로토타입을
HTML 단일 파일로 만들어줘.
</a:t>
            </a:r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[서비스명]: </a:t>
            </a:r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FF6B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오늘의 점심 메이트
</a:t>
            </a:r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[핵심 기능]: </a:t>
            </a:r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FF6B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기분 선택 → 예산 선택 → 메뉴 3개 추천
</a:t>
            </a:r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[조건]: </a:t>
            </a:r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FF6B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단일 HTML / 모바일 반응형 / 한국어 UI
</a:t>
            </a:r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[디자인]: </a:t>
            </a:r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FF6B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모던 카드형 UI, 따뜻한 컬러 톤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356616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6B35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💡 프롬프트를 복사해서 Claude.ai 또는 Claude Code에 붙여넣기  |  필요시 수정 프롬프트 추가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66928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11111"/>
                </a:solidFill>
                <a:latin typeface="NanumGothic ExtraBold" pitchFamily="34" charset="0"/>
                <a:ea typeface="NanumGothic ExtraBold" pitchFamily="34" charset="-122"/>
                <a:cs typeface="NanumGothic ExtraBold" pitchFamily="34" charset="-120"/>
              </a:rPr>
              <a:t>Step 3: 트러블슈팅</a:t>
            </a:r>
            <a:endParaRPr lang="en-US" sz="260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594360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NanumGothic Bold" pitchFamily="34" charset="0"/>
                          <a:ea typeface="NanumGothic Bold" pitchFamily="34" charset="-122"/>
                          <a:cs typeface="NanumGothic Bold" pitchFamily="34" charset="-120"/>
                        </a:rPr>
                        <a:t>문제</a:t>
                      </a:r>
                      <a:endParaRPr lang="en-US" sz="1200" dirty="0">
                        <a:latin typeface="NanumGothic Bold" charset="0"/>
                        <a:ea typeface="NanumGothic Bold" charset="0"/>
                        <a:cs typeface="NanumGothi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NanumGothic Bold" pitchFamily="34" charset="0"/>
                          <a:ea typeface="NanumGothic Bold" pitchFamily="34" charset="-122"/>
                          <a:cs typeface="NanumGothic Bold" pitchFamily="34" charset="-120"/>
                        </a:rPr>
                        <a:t>해결 방법</a:t>
                      </a:r>
                      <a:endParaRPr lang="en-US" sz="1200" dirty="0">
                        <a:latin typeface="NanumGothic Bold" charset="0"/>
                        <a:ea typeface="NanumGothic Bold" charset="0"/>
                        <a:cs typeface="NanumGothi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NanumGothic" pitchFamily="34" charset="0"/>
                          <a:ea typeface="NanumGothic" pitchFamily="34" charset="-122"/>
                          <a:cs typeface="NanumGothic" pitchFamily="34" charset="-120"/>
                        </a:rPr>
                        <a:t>HTML 파일이 안 열림</a:t>
                      </a:r>
                      <a:endParaRPr lang="en-US" sz="1200" dirty="0">
                        <a:latin typeface="NanumGothic" charset="0"/>
                        <a:ea typeface="NanumGothic" charset="0"/>
                        <a:cs typeface="Nanum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NanumGothic" pitchFamily="34" charset="0"/>
                          <a:ea typeface="NanumGothic" pitchFamily="34" charset="-122"/>
                          <a:cs typeface="NanumGothic" pitchFamily="34" charset="-120"/>
                        </a:rPr>
                        <a:t>확장자가 .html인지 확인, 브라우저로 드래그 앤 드롭</a:t>
                      </a:r>
                      <a:endParaRPr lang="en-US" sz="1200" dirty="0">
                        <a:latin typeface="NanumGothic" charset="0"/>
                        <a:ea typeface="NanumGothic" charset="0"/>
                        <a:cs typeface="Nanum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NanumGothic" pitchFamily="34" charset="0"/>
                          <a:ea typeface="NanumGothic" pitchFamily="34" charset="-122"/>
                          <a:cs typeface="NanumGothic" pitchFamily="34" charset="-120"/>
                        </a:rPr>
                        <a:t>화면이 하얗게만 나옴</a:t>
                      </a:r>
                      <a:endParaRPr lang="en-US" sz="1200" dirty="0">
                        <a:latin typeface="NanumGothic" charset="0"/>
                        <a:ea typeface="NanumGothic" charset="0"/>
                        <a:cs typeface="Nanum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NanumGothic" pitchFamily="34" charset="0"/>
                          <a:ea typeface="NanumGothic" pitchFamily="34" charset="-122"/>
                          <a:cs typeface="NanumGothic" pitchFamily="34" charset="-120"/>
                        </a:rPr>
                        <a:t>Claude에게 '콘솔 오류 확인해줘' 재요청</a:t>
                      </a:r>
                      <a:endParaRPr lang="en-US" sz="1200" dirty="0">
                        <a:latin typeface="NanumGothic" charset="0"/>
                        <a:ea typeface="NanumGothic" charset="0"/>
                        <a:cs typeface="Nanum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NanumGothic" pitchFamily="34" charset="0"/>
                          <a:ea typeface="NanumGothic" pitchFamily="34" charset="-122"/>
                          <a:cs typeface="NanumGothic" pitchFamily="34" charset="-120"/>
                        </a:rPr>
                        <a:t>디자인이 깨져 보임</a:t>
                      </a:r>
                      <a:endParaRPr lang="en-US" sz="1200" dirty="0">
                        <a:latin typeface="NanumGothic" charset="0"/>
                        <a:ea typeface="NanumGothic" charset="0"/>
                        <a:cs typeface="Nanum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NanumGothic" pitchFamily="34" charset="0"/>
                          <a:ea typeface="NanumGothic" pitchFamily="34" charset="-122"/>
                          <a:cs typeface="NanumGothic" pitchFamily="34" charset="-120"/>
                        </a:rPr>
                        <a:t>'모바일 375px에 맞게 CSS 수정해줘' 재요청</a:t>
                      </a:r>
                      <a:endParaRPr lang="en-US" sz="1200" dirty="0">
                        <a:latin typeface="NanumGothic" charset="0"/>
                        <a:ea typeface="NanumGothic" charset="0"/>
                        <a:cs typeface="Nanum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NanumGothic" pitchFamily="34" charset="0"/>
                          <a:ea typeface="NanumGothic" pitchFamily="34" charset="-122"/>
                          <a:cs typeface="NanumGothic" pitchFamily="34" charset="-120"/>
                        </a:rPr>
                        <a:t>응답이 중간에 끊김</a:t>
                      </a:r>
                      <a:endParaRPr lang="en-US" sz="1200" dirty="0">
                        <a:latin typeface="NanumGothic" charset="0"/>
                        <a:ea typeface="NanumGothic" charset="0"/>
                        <a:cs typeface="Nanum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NanumGothic" pitchFamily="34" charset="0"/>
                          <a:ea typeface="NanumGothic" pitchFamily="34" charset="-122"/>
                          <a:cs typeface="NanumGothic" pitchFamily="34" charset="-120"/>
                        </a:rPr>
                        <a:t>'이어서 작성해줘' 또는 '남은 부분 완성해줘' 입력</a:t>
                      </a:r>
                      <a:endParaRPr lang="en-US" sz="1200" dirty="0">
                        <a:latin typeface="NanumGothic" charset="0"/>
                        <a:ea typeface="NanumGothic" charset="0"/>
                        <a:cs typeface="Nanum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NanumGothic" pitchFamily="34" charset="0"/>
                          <a:ea typeface="NanumGothic" pitchFamily="34" charset="-122"/>
                          <a:cs typeface="NanumGothic" pitchFamily="34" charset="-120"/>
                        </a:rPr>
                        <a:t>기능이 동작하지 않음</a:t>
                      </a:r>
                      <a:endParaRPr lang="en-US" sz="1200" dirty="0">
                        <a:latin typeface="NanumGothic" charset="0"/>
                        <a:ea typeface="NanumGothic" charset="0"/>
                        <a:cs typeface="Nanum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NanumGothic" pitchFamily="34" charset="0"/>
                          <a:ea typeface="NanumGothic" pitchFamily="34" charset="-122"/>
                          <a:cs typeface="NanumGothic" pitchFamily="34" charset="-120"/>
                        </a:rPr>
                        <a:t>'버튼 클릭 이벤트가 작동하도록 JS 수정해줘' 재요청</a:t>
                      </a:r>
                      <a:endParaRPr lang="en-US" sz="1200" dirty="0">
                        <a:latin typeface="NanumGothic" charset="0"/>
                        <a:ea typeface="NanumGothic" charset="0"/>
                        <a:cs typeface="Nanum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640080" y="432054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💡 AI 응답이 마음에 안 들면? → 더 구체적인 지시를 추가하면 됩니다 ("~처럼 바꿔줘")</a:t>
            </a:r>
            <a:endParaRPr lang="en-US" sz="1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66928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11111"/>
                </a:solidFill>
                <a:latin typeface="NanumGothic ExtraBold" pitchFamily="34" charset="0"/>
                <a:ea typeface="NanumGothic ExtraBold" pitchFamily="34" charset="-122"/>
                <a:cs typeface="NanumGothic ExtraBold" pitchFamily="34" charset="-120"/>
              </a:rPr>
              <a:t>보너스: 프로토타입 배포하기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40080" y="109728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만든 프로토타입을 외부에 공유하고 싶다면? 1-click 배포 서비스를 활용하세요.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" y="1051560"/>
            <a:ext cx="2514600" cy="2377440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14300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6B35"/>
                </a:solidFill>
                <a:latin typeface="NanumGothic ExtraBold" pitchFamily="34" charset="0"/>
                <a:ea typeface="NanumGothic ExtraBold" pitchFamily="34" charset="-122"/>
                <a:cs typeface="NanumGothic ExtraBold" pitchFamily="34" charset="-120"/>
              </a:rPr>
              <a:t>Replit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77240" y="155448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2A2A2A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HTML 파일 업로드 → 즉시 배포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2A2A2A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무료 플랜으로 충분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777240" y="2377440"/>
            <a:ext cx="2240280" cy="18288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10" name="Text 8"/>
          <p:cNvSpPr/>
          <p:nvPr/>
        </p:nvSpPr>
        <p:spPr>
          <a:xfrm>
            <a:off x="777240" y="246888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NanumGothic Bold" pitchFamily="34" charset="0"/>
                <a:ea typeface="NanumGothic Bold" pitchFamily="34" charset="-122"/>
                <a:cs typeface="NanumGothic Bold" pitchFamily="34" charset="-120"/>
              </a:rPr>
              <a:t>추천: 빠른 테스트 공유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383280" y="1051560"/>
            <a:ext cx="2514600" cy="2377440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12" name="Text 10"/>
          <p:cNvSpPr/>
          <p:nvPr/>
        </p:nvSpPr>
        <p:spPr>
          <a:xfrm>
            <a:off x="3520440" y="114300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6B35"/>
                </a:solidFill>
                <a:latin typeface="NanumGothic ExtraBold" pitchFamily="34" charset="0"/>
                <a:ea typeface="NanumGothic ExtraBold" pitchFamily="34" charset="-122"/>
                <a:cs typeface="NanumGothic ExtraBold" pitchFamily="34" charset="-120"/>
              </a:rPr>
              <a:t>Lovable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0440" y="155448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2A2A2A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프롬프트 기반 앱 생성 + 자동 배포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2A2A2A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AI가 디자인까지 담당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520440" y="2377440"/>
            <a:ext cx="2240280" cy="18288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15" name="Text 13"/>
          <p:cNvSpPr/>
          <p:nvPr/>
        </p:nvSpPr>
        <p:spPr>
          <a:xfrm>
            <a:off x="3520440" y="246888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NanumGothic Bold" pitchFamily="34" charset="0"/>
                <a:ea typeface="NanumGothic Bold" pitchFamily="34" charset="-122"/>
                <a:cs typeface="NanumGothic Bold" pitchFamily="34" charset="-120"/>
              </a:rPr>
              <a:t>추천: 비개발자 친화적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126480" y="1051560"/>
            <a:ext cx="2514600" cy="2377440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17" name="Text 15"/>
          <p:cNvSpPr/>
          <p:nvPr/>
        </p:nvSpPr>
        <p:spPr>
          <a:xfrm>
            <a:off x="6263640" y="114300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6B35"/>
                </a:solidFill>
                <a:latin typeface="NanumGothic ExtraBold" pitchFamily="34" charset="0"/>
                <a:ea typeface="NanumGothic ExtraBold" pitchFamily="34" charset="-122"/>
                <a:cs typeface="NanumGothic ExtraBold" pitchFamily="34" charset="-120"/>
              </a:rPr>
              <a:t>Vercel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263640" y="155448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2A2A2A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Git 연동 자동 배포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2A2A2A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프로덕션 수준 호스팅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263640" y="2377440"/>
            <a:ext cx="2240280" cy="18288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20" name="Text 18"/>
          <p:cNvSpPr/>
          <p:nvPr/>
        </p:nvSpPr>
        <p:spPr>
          <a:xfrm>
            <a:off x="6263640" y="246888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NanumGothic Bold" pitchFamily="34" charset="0"/>
                <a:ea typeface="NanumGothic Bold" pitchFamily="34" charset="-122"/>
                <a:cs typeface="NanumGothic Bold" pitchFamily="34" charset="-120"/>
              </a:rPr>
              <a:t>추천: 개발팀 협업 시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40080" y="432054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오늘 실습에서는 로컬 HTML 파일로 충분합니다. 배포는 선택사항!</a:t>
            </a:r>
            <a:endParaRPr lang="en-US" sz="1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66928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11111"/>
                </a:solidFill>
                <a:latin typeface="NanumGothic ExtraBold" pitchFamily="34" charset="0"/>
                <a:ea typeface="NanumGothic ExtraBold" pitchFamily="34" charset="-122"/>
                <a:cs typeface="NanumGothic ExtraBold" pitchFamily="34" charset="-120"/>
              </a:rPr>
              <a:t>Next Level: AI 자동화로 생산성 높이기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40080" y="109728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Claude는 요청하면 다 해주지만, 자주 하는 작업을 자동화하면 속도가 달라집니다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" y="1005840"/>
            <a:ext cx="7863840" cy="530352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7" name="Shape 5"/>
          <p:cNvSpPr/>
          <p:nvPr/>
        </p:nvSpPr>
        <p:spPr>
          <a:xfrm>
            <a:off x="713232" y="1078992"/>
            <a:ext cx="457200" cy="384048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8" name="Text 6"/>
          <p:cNvSpPr/>
          <p:nvPr/>
        </p:nvSpPr>
        <p:spPr>
          <a:xfrm>
            <a:off x="713232" y="1078992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11111"/>
                </a:solidFill>
                <a:latin typeface="NanumGothic ExtraBold" pitchFamily="34" charset="0"/>
                <a:ea typeface="NanumGothic ExtraBold" pitchFamily="34" charset="-122"/>
                <a:cs typeface="NanumGothic ExtraBold" pitchFamily="34" charset="-120"/>
              </a:rPr>
              <a:t>Lv.1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371600" y="1005840"/>
            <a:ext cx="2103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11111"/>
                </a:solidFill>
                <a:latin typeface="NanumGothic ExtraBold" pitchFamily="34" charset="0"/>
                <a:ea typeface="NanumGothic ExtraBold" pitchFamily="34" charset="-122"/>
                <a:cs typeface="NanumGothic ExtraBold" pitchFamily="34" charset="-120"/>
              </a:rPr>
              <a:t>대화형 사용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566160" y="1005840"/>
            <a:ext cx="4846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Claude에게 하나씩 요청  →  PRD 생성, 프로토타입 제작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406640" y="1051560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6B35"/>
                </a:solidFill>
                <a:latin typeface="NanumGothic Bold" pitchFamily="34" charset="0"/>
                <a:ea typeface="NanumGothic Bold" pitchFamily="34" charset="-122"/>
                <a:cs typeface="NanumGothic Bold" pitchFamily="34" charset="-120"/>
              </a:rPr>
              <a:t>← 지금 여기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40080" y="1645920"/>
            <a:ext cx="7863840" cy="530352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13" name="Shape 11"/>
          <p:cNvSpPr/>
          <p:nvPr/>
        </p:nvSpPr>
        <p:spPr>
          <a:xfrm>
            <a:off x="713232" y="1719072"/>
            <a:ext cx="457200" cy="384048"/>
          </a:xfrm>
          <a:prstGeom prst="rect">
            <a:avLst/>
          </a:prstGeom>
          <a:solidFill>
            <a:srgbClr val="2A2A2A"/>
          </a:solidFill>
          <a:ln/>
        </p:spPr>
      </p:sp>
      <p:sp>
        <p:nvSpPr>
          <p:cNvPr id="14" name="Text 12"/>
          <p:cNvSpPr/>
          <p:nvPr/>
        </p:nvSpPr>
        <p:spPr>
          <a:xfrm>
            <a:off x="713232" y="1719072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NanumGothic ExtraBold" pitchFamily="34" charset="0"/>
                <a:ea typeface="NanumGothic ExtraBold" pitchFamily="34" charset="-122"/>
                <a:cs typeface="NanumGothic ExtraBold" pitchFamily="34" charset="-120"/>
              </a:rPr>
              <a:t>Lv.2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371600" y="1645920"/>
            <a:ext cx="2103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11111"/>
                </a:solidFill>
                <a:latin typeface="NanumGothic ExtraBold" pitchFamily="34" charset="0"/>
                <a:ea typeface="NanumGothic ExtraBold" pitchFamily="34" charset="-122"/>
                <a:cs typeface="NanumGothic ExtraBold" pitchFamily="34" charset="-120"/>
              </a:rPr>
              <a:t>MCP + Skill 세팅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566160" y="1645920"/>
            <a:ext cx="4846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MCP: Jira·Slack 등 외부 서비스 연결  |  Skill: PM별 자주 쓰는 명령 미리 등록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40080" y="2286000"/>
            <a:ext cx="7863840" cy="530352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18" name="Shape 16"/>
          <p:cNvSpPr/>
          <p:nvPr/>
        </p:nvSpPr>
        <p:spPr>
          <a:xfrm>
            <a:off x="713232" y="2359152"/>
            <a:ext cx="457200" cy="384048"/>
          </a:xfrm>
          <a:prstGeom prst="rect">
            <a:avLst/>
          </a:prstGeom>
          <a:solidFill>
            <a:srgbClr val="2A2A2A"/>
          </a:solidFill>
          <a:ln/>
        </p:spPr>
      </p:sp>
      <p:sp>
        <p:nvSpPr>
          <p:cNvPr id="19" name="Text 17"/>
          <p:cNvSpPr/>
          <p:nvPr/>
        </p:nvSpPr>
        <p:spPr>
          <a:xfrm>
            <a:off x="713232" y="2359152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NanumGothic ExtraBold" pitchFamily="34" charset="0"/>
                <a:ea typeface="NanumGothic ExtraBold" pitchFamily="34" charset="-122"/>
                <a:cs typeface="NanumGothic ExtraBold" pitchFamily="34" charset="-120"/>
              </a:rPr>
              <a:t>Lv.3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1371600" y="2286000"/>
            <a:ext cx="2103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11111"/>
                </a:solidFill>
                <a:latin typeface="NanumGothic ExtraBold" pitchFamily="34" charset="0"/>
                <a:ea typeface="NanumGothic ExtraBold" pitchFamily="34" charset="-122"/>
                <a:cs typeface="NanumGothic ExtraBold" pitchFamily="34" charset="-120"/>
              </a:rPr>
              <a:t>Agent + Plugin 구성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566160" y="2286000"/>
            <a:ext cx="4846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Agent: 복잡한 작업을 자동 수행하는 AI 비서  |  Plugin: MCP+Skill을 묶어 원클릭 실행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40080" y="2926080"/>
            <a:ext cx="7863840" cy="530352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23" name="Shape 21"/>
          <p:cNvSpPr/>
          <p:nvPr/>
        </p:nvSpPr>
        <p:spPr>
          <a:xfrm>
            <a:off x="713232" y="2999232"/>
            <a:ext cx="457200" cy="384048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24" name="Text 22"/>
          <p:cNvSpPr/>
          <p:nvPr/>
        </p:nvSpPr>
        <p:spPr>
          <a:xfrm>
            <a:off x="713232" y="2999232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NanumGothic ExtraBold" pitchFamily="34" charset="0"/>
                <a:ea typeface="NanumGothic ExtraBold" pitchFamily="34" charset="-122"/>
                <a:cs typeface="NanumGothic ExtraBold" pitchFamily="34" charset="-120"/>
              </a:rPr>
              <a:t>Lv.4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1371600" y="2926080"/>
            <a:ext cx="2103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NanumGothic ExtraBold" pitchFamily="34" charset="0"/>
                <a:ea typeface="NanumGothic ExtraBold" pitchFamily="34" charset="-122"/>
                <a:cs typeface="NanumGothic ExtraBold" pitchFamily="34" charset="-120"/>
              </a:rPr>
              <a:t>PM 조직 통합 자동화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3566160" y="2926080"/>
            <a:ext cx="4846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팀 공통 Skill·Agent·Plugin을 표준화  →  온보딩 1일 내 세팅 완료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40080" y="432054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6B35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자동화는 한 번에 하는 게 아닙니다. 반복되는 작업부터 하나씩 — 그게 PM의 생산성입니다.</a:t>
            </a:r>
            <a:endParaRPr lang="en-US" sz="1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66928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11111"/>
                </a:solidFill>
                <a:latin typeface="NanumGothic ExtraBold" pitchFamily="34" charset="0"/>
                <a:ea typeface="NanumGothic ExtraBold" pitchFamily="34" charset="-122"/>
                <a:cs typeface="NanumGothic ExtraBold" pitchFamily="34" charset="-120"/>
              </a:rPr>
              <a:t>Case: AI Doc Feedback Loop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40080" y="109728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Lv.4 "PM 조직 통합 자동화"의 실사례 — AI가 빠르게 쓰는 만큼, 사람 피드백도 같은 속도로 다시 AI에게.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" y="1188720"/>
            <a:ext cx="3749040" cy="2743200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28016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NanumGothic Bold" pitchFamily="34" charset="0"/>
                <a:ea typeface="NanumGothic Bold" pitchFamily="34" charset="-122"/>
                <a:cs typeface="NanumGothic Bold" pitchFamily="34" charset="-120"/>
              </a:rPr>
              <a:t>AS-IS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77240" y="155448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11111"/>
                </a:solidFill>
                <a:latin typeface="NanumGothic ExtraBold" pitchFamily="34" charset="0"/>
                <a:ea typeface="NanumGothic ExtraBold" pitchFamily="34" charset="-122"/>
                <a:cs typeface="NanumGothic ExtraBold" pitchFamily="34" charset="-120"/>
              </a:rPr>
              <a:t>피드백이 4채널에 분산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77240" y="2011680"/>
            <a:ext cx="3474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2A2A2A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· Confluence 인라인 댓글
</a:t>
            </a:r>
            <a:pPr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2A2A2A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· GitHub PR Review
</a:t>
            </a:r>
            <a:pPr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2A2A2A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· Slack DM / 쓰레드
</a:t>
            </a:r>
            <a:pPr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2A2A2A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· 회의 노트
</a:t>
            </a:r>
            <a:pPr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PM이 통합 정리에 </a:t>
            </a:r>
            <a:pPr indent="0" marL="0">
              <a:lnSpc>
                <a:spcPct val="145000"/>
              </a:lnSpc>
              <a:buNone/>
            </a:pPr>
            <a:r>
              <a:rPr lang="en-US" sz="1200" b="1" dirty="0">
                <a:solidFill>
                  <a:srgbClr val="FF6B35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주 5~10시간</a:t>
            </a:r>
            <a:pPr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 소요</a:t>
            </a:r>
            <a:endParaRPr lang="en-US" sz="12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동일 피드백 </a:t>
            </a:r>
            <a:endParaRPr lang="en-US" sz="12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200" b="1" dirty="0">
                <a:solidFill>
                  <a:srgbClr val="FF6B35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재발생률 30%+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754880" y="1188720"/>
            <a:ext cx="3749040" cy="2743200"/>
          </a:xfrm>
          <a:prstGeom prst="rect">
            <a:avLst/>
          </a:prstGeom>
          <a:solidFill>
            <a:srgbClr val="FEF3C7"/>
          </a:solidFill>
          <a:ln/>
        </p:spPr>
      </p:sp>
      <p:sp>
        <p:nvSpPr>
          <p:cNvPr id="11" name="Shape 9"/>
          <p:cNvSpPr/>
          <p:nvPr/>
        </p:nvSpPr>
        <p:spPr>
          <a:xfrm>
            <a:off x="4754880" y="1188720"/>
            <a:ext cx="36576" cy="2743200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12" name="Text 10"/>
          <p:cNvSpPr/>
          <p:nvPr/>
        </p:nvSpPr>
        <p:spPr>
          <a:xfrm>
            <a:off x="4892040" y="128016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NanumGothic Bold" pitchFamily="34" charset="0"/>
                <a:ea typeface="NanumGothic Bold" pitchFamily="34" charset="-122"/>
                <a:cs typeface="NanumGothic Bold" pitchFamily="34" charset="-120"/>
              </a:rPr>
              <a:t>TO-BE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892040" y="155448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11111"/>
                </a:solidFill>
                <a:latin typeface="NanumGothic ExtraBold" pitchFamily="34" charset="0"/>
                <a:ea typeface="NanumGothic ExtraBold" pitchFamily="34" charset="-122"/>
                <a:cs typeface="NanumGothic ExtraBold" pitchFamily="34" charset="-120"/>
              </a:rPr>
              <a:t>웹 한 화면 + 저장 한 번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892040" y="2011680"/>
            <a:ext cx="3474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2A2A2A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· 좌·중·우 3패널 (트리 / MD / 코멘트)
</a:t>
            </a:r>
            <a:pPr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2A2A2A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· 6카테고리 × 2계층 자동 태깅
</a:t>
            </a:r>
            <a:pPr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2A2A2A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· '피드백 저장' 클릭 한 번에
</a:t>
            </a:r>
            <a:pPr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FF6B35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    → 원본+이력 MD
</a:t>
            </a:r>
            <a:pPr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FF6B35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    → AI 개선 요약 MD (카테고리별 3개)
</a:t>
            </a:r>
            <a:pPr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92400E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사이클 타임 </a:t>
            </a:r>
            <a:pPr indent="0" marL="0">
              <a:lnSpc>
                <a:spcPct val="145000"/>
              </a:lnSpc>
              <a:buNone/>
            </a:pPr>
            <a:r>
              <a:rPr lang="en-US" sz="1200" b="1" dirty="0">
                <a:solidFill>
                  <a:srgbClr val="FF6B35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1~2일 → 1~2시간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40080" y="432054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6B35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AI가 빠르게 쓰는 만큼, 사람 피드백도 같은 속도로 다시 AI에게 흘려보내는 "루프"가 필요합니다.</a:t>
            </a:r>
            <a:endParaRPr lang="en-US" sz="1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66928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11111"/>
                </a:solidFill>
                <a:latin typeface="NanumGothic ExtraBold" pitchFamily="34" charset="0"/>
                <a:ea typeface="NanumGothic ExtraBold" pitchFamily="34" charset="-122"/>
                <a:cs typeface="NanumGothic ExtraBold" pitchFamily="34" charset="-120"/>
              </a:rPr>
              <a:t>분류 체계: 6카테고리 × 2계층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40080" y="109728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모든 피드백·AI 개선안·점수 시각화가 이 분류 체계를 공유합니다.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40080" y="118872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11111"/>
                </a:solidFill>
                <a:latin typeface="NanumGothic ExtraBold" pitchFamily="34" charset="0"/>
                <a:ea typeface="NanumGothic ExtraBold" pitchFamily="34" charset="-122"/>
                <a:cs typeface="NanumGothic ExtraBold" pitchFamily="34" charset="-120"/>
              </a:rPr>
              <a:t>High-Level Context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0080" y="1572768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프로젝트·프로덕트 세계관 · 전략 판단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743200" y="1188720"/>
            <a:ext cx="1828800" cy="96012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9" name="Text 7"/>
          <p:cNvSpPr/>
          <p:nvPr/>
        </p:nvSpPr>
        <p:spPr>
          <a:xfrm>
            <a:off x="2743200" y="135331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NanumGothic ExtraBold" pitchFamily="34" charset="0"/>
                <a:ea typeface="NanumGothic ExtraBold" pitchFamily="34" charset="-122"/>
                <a:cs typeface="NanumGothic ExtraBold" pitchFamily="34" charset="-120"/>
              </a:rPr>
              <a:t>정책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2743200" y="175564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Policy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663440" y="1188720"/>
            <a:ext cx="1828800" cy="96012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2" name="Text 10"/>
          <p:cNvSpPr/>
          <p:nvPr/>
        </p:nvSpPr>
        <p:spPr>
          <a:xfrm>
            <a:off x="4663440" y="135331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NanumGothic ExtraBold" pitchFamily="34" charset="0"/>
                <a:ea typeface="NanumGothic ExtraBold" pitchFamily="34" charset="-122"/>
                <a:cs typeface="NanumGothic ExtraBold" pitchFamily="34" charset="-120"/>
              </a:rPr>
              <a:t>컨텍스트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663440" y="175564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Context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583680" y="1188720"/>
            <a:ext cx="1828800" cy="96012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0" y="135331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NanumGothic ExtraBold" pitchFamily="34" charset="0"/>
                <a:ea typeface="NanumGothic ExtraBold" pitchFamily="34" charset="-122"/>
                <a:cs typeface="NanumGothic ExtraBold" pitchFamily="34" charset="-120"/>
              </a:rPr>
              <a:t>문제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6583680" y="175564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Problem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40080" y="23774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11111"/>
                </a:solidFill>
                <a:latin typeface="NanumGothic ExtraBold" pitchFamily="34" charset="0"/>
                <a:ea typeface="NanumGothic ExtraBold" pitchFamily="34" charset="-122"/>
                <a:cs typeface="NanumGothic ExtraBold" pitchFamily="34" charset="-120"/>
              </a:rPr>
              <a:t>Low-Level Spec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40080" y="2761488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UX · 코드 구현을 위한 상세 정책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2743200" y="2377440"/>
            <a:ext cx="1828800" cy="96012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2743200" y="254203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NanumGothic ExtraBold" pitchFamily="34" charset="0"/>
                <a:ea typeface="NanumGothic ExtraBold" pitchFamily="34" charset="-122"/>
                <a:cs typeface="NanumGothic ExtraBold" pitchFamily="34" charset="-120"/>
              </a:rPr>
              <a:t>해결점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2743200" y="294436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Solution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663440" y="2377440"/>
            <a:ext cx="1828800" cy="96012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3" name="Text 21"/>
          <p:cNvSpPr/>
          <p:nvPr/>
        </p:nvSpPr>
        <p:spPr>
          <a:xfrm>
            <a:off x="4663440" y="254203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NanumGothic ExtraBold" pitchFamily="34" charset="0"/>
                <a:ea typeface="NanumGothic ExtraBold" pitchFamily="34" charset="-122"/>
                <a:cs typeface="NanumGothic ExtraBold" pitchFamily="34" charset="-120"/>
              </a:rPr>
              <a:t>기능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4663440" y="294436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Feature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583680" y="2377440"/>
            <a:ext cx="1828800" cy="96012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6" name="Text 24"/>
          <p:cNvSpPr/>
          <p:nvPr/>
        </p:nvSpPr>
        <p:spPr>
          <a:xfrm>
            <a:off x="6583680" y="254203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NanumGothic ExtraBold" pitchFamily="34" charset="0"/>
                <a:ea typeface="NanumGothic ExtraBold" pitchFamily="34" charset="-122"/>
                <a:cs typeface="NanumGothic ExtraBold" pitchFamily="34" charset="-120"/>
              </a:rPr>
              <a:t>화면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6583680" y="294436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Screen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40080" y="361188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11111"/>
                </a:solidFill>
                <a:latin typeface="NanumGothic ExtraBold" pitchFamily="34" charset="0"/>
                <a:ea typeface="NanumGothic ExtraBold" pitchFamily="34" charset="-122"/>
                <a:cs typeface="NanumGothic ExtraBold" pitchFamily="34" charset="-120"/>
              </a:rPr>
              <a:t>📄  피드백 저장 시 산출되는 두 종류 MD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640080" y="3977640"/>
            <a:ext cx="3931920" cy="566928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30" name="Shape 28"/>
          <p:cNvSpPr/>
          <p:nvPr/>
        </p:nvSpPr>
        <p:spPr>
          <a:xfrm>
            <a:off x="640080" y="3977640"/>
            <a:ext cx="36576" cy="566928"/>
          </a:xfrm>
          <a:prstGeom prst="rect">
            <a:avLst/>
          </a:prstGeom>
          <a:solidFill>
            <a:srgbClr val="1F883D"/>
          </a:solidFill>
          <a:ln/>
        </p:spPr>
      </p:sp>
      <p:sp>
        <p:nvSpPr>
          <p:cNvPr id="31" name="Text 29"/>
          <p:cNvSpPr/>
          <p:nvPr/>
        </p:nvSpPr>
        <p:spPr>
          <a:xfrm>
            <a:off x="804672" y="3995928"/>
            <a:ext cx="3657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111111"/>
                </a:solidFill>
                <a:latin typeface="NanumGothic Bold" pitchFamily="34" charset="0"/>
                <a:ea typeface="NanumGothic Bold" pitchFamily="34" charset="-122"/>
                <a:cs typeface="NanumGothic Bold" pitchFamily="34" charset="-120"/>
              </a:rPr>
              <a:t>원본 + 피드백 이력 MD
</a:t>
            </a:r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카테고리별 시각·작성자·본문 누적 테이블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4709160" y="3977640"/>
            <a:ext cx="3794760" cy="566928"/>
          </a:xfrm>
          <a:prstGeom prst="rect">
            <a:avLst/>
          </a:prstGeom>
          <a:solidFill>
            <a:srgbClr val="FEF3C7"/>
          </a:solidFill>
          <a:ln/>
        </p:spPr>
      </p:sp>
      <p:sp>
        <p:nvSpPr>
          <p:cNvPr id="33" name="Shape 31"/>
          <p:cNvSpPr/>
          <p:nvPr/>
        </p:nvSpPr>
        <p:spPr>
          <a:xfrm>
            <a:off x="4709160" y="3977640"/>
            <a:ext cx="36576" cy="566928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34" name="Text 32"/>
          <p:cNvSpPr/>
          <p:nvPr/>
        </p:nvSpPr>
        <p:spPr>
          <a:xfrm>
            <a:off x="4873752" y="3995928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92400E"/>
                </a:solidFill>
                <a:latin typeface="NanumGothic Bold" pitchFamily="34" charset="0"/>
                <a:ea typeface="NanumGothic Bold" pitchFamily="34" charset="-122"/>
                <a:cs typeface="NanumGothic Bold" pitchFamily="34" charset="-120"/>
              </a:rPr>
              <a:t>AI 개선 요약 MD
</a:t>
            </a:r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92400E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카테고리별 핵심 정리 1줄 + 개선안 3개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640080" y="432054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AI 추천 원칙: 카테고리별 3개 (피드백이 있으면 그대로 정리, 없으면 AI 아이디어 3개)</a:t>
            </a:r>
            <a:endParaRPr lang="en-US" sz="1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66928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11111"/>
                </a:solidFill>
                <a:latin typeface="NanumGothic ExtraBold" pitchFamily="34" charset="0"/>
                <a:ea typeface="NanumGothic ExtraBold" pitchFamily="34" charset="-122"/>
                <a:cs typeface="NanumGothic ExtraBold" pitchFamily="34" charset="-120"/>
              </a:rPr>
              <a:t>데모: Local-first 웹 앱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40080" y="109728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Express + Vanilla JS · Claude/Codex CLI 자동 연동 · MD 호환 (GitHub/VS Code에서도 깨짐 없음)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" y="1188720"/>
            <a:ext cx="1463040" cy="2148840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26187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NanumGothic Bold" pitchFamily="34" charset="0"/>
                <a:ea typeface="NanumGothic Bold" pitchFamily="34" charset="-122"/>
                <a:cs typeface="NanumGothic Bold" pitchFamily="34" charset="-120"/>
              </a:rPr>
              <a:t>문서 트리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31520" y="1554480"/>
            <a:ext cx="13258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800" dirty="0">
                <a:solidFill>
                  <a:srgbClr val="2A2A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📁 projects</a:t>
            </a:r>
            <a:endParaRPr lang="en-US" sz="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800" dirty="0">
                <a:solidFill>
                  <a:srgbClr val="2A2A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📁 26Q2_AI-Doc-...</a:t>
            </a:r>
            <a:endParaRPr lang="en-US" sz="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800" dirty="0">
                <a:solidFill>
                  <a:srgbClr val="2A2A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📁 prd</a:t>
            </a:r>
            <a:endParaRPr lang="en-US" sz="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800" dirty="0">
                <a:solidFill>
                  <a:srgbClr val="2A2A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📄 PRD.md</a:t>
            </a:r>
            <a:endParaRPr lang="en-US" sz="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800" dirty="0">
                <a:solidFill>
                  <a:srgbClr val="2A2A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📄 2pager.md</a:t>
            </a:r>
            <a:endParaRPr lang="en-US" sz="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800" dirty="0">
                <a:solidFill>
                  <a:srgbClr val="2A2A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📁 specs</a:t>
            </a:r>
            <a:endParaRPr lang="en-US" sz="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800" dirty="0">
                <a:solidFill>
                  <a:srgbClr val="2A2A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📁 26Q2_Fastcampus</a:t>
            </a:r>
            <a:endParaRPr lang="en-US" sz="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800" dirty="0">
                <a:solidFill>
                  <a:srgbClr val="2A2A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📁 docs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2194560" y="1188720"/>
            <a:ext cx="4206240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331720" y="1298448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11111"/>
                </a:solidFill>
                <a:latin typeface="NanumGothic ExtraBold" pitchFamily="34" charset="0"/>
                <a:ea typeface="NanumGothic ExtraBold" pitchFamily="34" charset="-122"/>
                <a:cs typeface="NanumGothic ExtraBold" pitchFamily="34" charset="-120"/>
              </a:rPr>
              <a:t># AI Doc Feedback Loop PRD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2331720" y="1691640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11111"/>
                </a:solidFill>
                <a:latin typeface="NanumGothic Bold" pitchFamily="34" charset="0"/>
                <a:ea typeface="NanumGothic Bold" pitchFamily="34" charset="-122"/>
                <a:cs typeface="NanumGothic Bold" pitchFamily="34" charset="-120"/>
              </a:rPr>
              <a:t>## §3. Problem Definition  💬 2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2331720" y="1993392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9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피드백 4채널 분산 → PM 주 5~10h 수작업. AI 초안 30분 vs 반영본 3시간+ ...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2331720" y="2514600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11111"/>
                </a:solidFill>
                <a:latin typeface="NanumGothic Bold" pitchFamily="34" charset="0"/>
                <a:ea typeface="NanumGothic Bold" pitchFamily="34" charset="-122"/>
                <a:cs typeface="NanumGothic Bold" pitchFamily="34" charset="-120"/>
              </a:rPr>
              <a:t>## §4. Solution Proposed  💬 4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331720" y="2816352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9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저장 한 번에 (원본+이력) + (AI 개선안 3개) 두 MD 자동 산출 ...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492240" y="1188720"/>
            <a:ext cx="2103120" cy="2148840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16" name="Text 14"/>
          <p:cNvSpPr/>
          <p:nvPr/>
        </p:nvSpPr>
        <p:spPr>
          <a:xfrm>
            <a:off x="6583680" y="126187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NanumGothic Bold" pitchFamily="34" charset="0"/>
                <a:ea typeface="NanumGothic Bold" pitchFamily="34" charset="-122"/>
                <a:cs typeface="NanumGothic Bold" pitchFamily="34" charset="-120"/>
              </a:rPr>
              <a:t>피드백 (4)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583680" y="1572768"/>
            <a:ext cx="192024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583680" y="1572768"/>
            <a:ext cx="54864" cy="36576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19" name="Text 17"/>
          <p:cNvSpPr/>
          <p:nvPr/>
        </p:nvSpPr>
        <p:spPr>
          <a:xfrm>
            <a:off x="6693408" y="1600200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5CF6"/>
                </a:solidFill>
                <a:latin typeface="NanumGothic Bold" pitchFamily="34" charset="0"/>
                <a:ea typeface="NanumGothic Bold" pitchFamily="34" charset="-122"/>
                <a:cs typeface="NanumGothic Bold" pitchFamily="34" charset="-120"/>
              </a:rPr>
              <a:t>정책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7223760" y="1600200"/>
            <a:ext cx="1188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Designer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6693408" y="1755648"/>
            <a:ext cx="1783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A2A2A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PII 처리 정책 명시 필요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6583680" y="1993392"/>
            <a:ext cx="192024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583680" y="1993392"/>
            <a:ext cx="54864" cy="36576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4" name="Text 22"/>
          <p:cNvSpPr/>
          <p:nvPr/>
        </p:nvSpPr>
        <p:spPr>
          <a:xfrm>
            <a:off x="6693408" y="2020824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F4444"/>
                </a:solidFill>
                <a:latin typeface="NanumGothic Bold" pitchFamily="34" charset="0"/>
                <a:ea typeface="NanumGothic Bold" pitchFamily="34" charset="-122"/>
                <a:cs typeface="NanumGothic Bold" pitchFamily="34" charset="-120"/>
              </a:rPr>
              <a:t>문제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7223760" y="2020824"/>
            <a:ext cx="1188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EM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6693408" y="2176272"/>
            <a:ext cx="1783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A2A2A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P2 영향 수치 근거는?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6583680" y="2414016"/>
            <a:ext cx="192024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583680" y="2414016"/>
            <a:ext cx="54864" cy="36576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9" name="Text 27"/>
          <p:cNvSpPr/>
          <p:nvPr/>
        </p:nvSpPr>
        <p:spPr>
          <a:xfrm>
            <a:off x="6693408" y="2441448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97316"/>
                </a:solidFill>
                <a:latin typeface="NanumGothic Bold" pitchFamily="34" charset="0"/>
                <a:ea typeface="NanumGothic Bold" pitchFamily="34" charset="-122"/>
                <a:cs typeface="NanumGothic Bold" pitchFamily="34" charset="-120"/>
              </a:rPr>
              <a:t>기능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7223760" y="2441448"/>
            <a:ext cx="1188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PM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693408" y="2596896"/>
            <a:ext cx="1783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A2A2A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F-04 자동/수동 토글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6583680" y="2834640"/>
            <a:ext cx="192024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583680" y="2834640"/>
            <a:ext cx="54864" cy="36576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34" name="Text 32"/>
          <p:cNvSpPr/>
          <p:nvPr/>
        </p:nvSpPr>
        <p:spPr>
          <a:xfrm>
            <a:off x="6693408" y="2862072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6B6D4"/>
                </a:solidFill>
                <a:latin typeface="NanumGothic Bold" pitchFamily="34" charset="0"/>
                <a:ea typeface="NanumGothic Bold" pitchFamily="34" charset="-122"/>
                <a:cs typeface="NanumGothic Bold" pitchFamily="34" charset="-120"/>
              </a:rPr>
              <a:t>화면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7223760" y="2862072"/>
            <a:ext cx="1188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Designer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6693408" y="3017520"/>
            <a:ext cx="1783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A2A2A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우측 패널 폭 340 → 380?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640080" y="3520440"/>
            <a:ext cx="157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6B35"/>
                </a:solidFill>
                <a:latin typeface="NanumGothic ExtraBold" pitchFamily="34" charset="0"/>
                <a:ea typeface="NanumGothic ExtraBold" pitchFamily="34" charset="-122"/>
                <a:cs typeface="NanumGothic ExtraBold" pitchFamily="34" charset="-120"/>
              </a:rPr>
              <a:t>①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640080" y="3813048"/>
            <a:ext cx="15727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2A2A2A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코멘트</a:t>
            </a:r>
            <a:endParaRPr lang="en-US" sz="9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2A2A2A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(6카테고리)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2212848" y="3520440"/>
            <a:ext cx="157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6B35"/>
                </a:solidFill>
                <a:latin typeface="NanumGothic ExtraBold" pitchFamily="34" charset="0"/>
                <a:ea typeface="NanumGothic ExtraBold" pitchFamily="34" charset="-122"/>
                <a:cs typeface="NanumGothic ExtraBold" pitchFamily="34" charset="-120"/>
              </a:rPr>
              <a:t>②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2212848" y="3813048"/>
            <a:ext cx="15727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2A2A2A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[피드백 저장]</a:t>
            </a:r>
            <a:endParaRPr lang="en-US" sz="9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2A2A2A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클릭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3785616" y="3520440"/>
            <a:ext cx="157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6B35"/>
                </a:solidFill>
                <a:latin typeface="NanumGothic ExtraBold" pitchFamily="34" charset="0"/>
                <a:ea typeface="NanumGothic ExtraBold" pitchFamily="34" charset="-122"/>
                <a:cs typeface="NanumGothic ExtraBold" pitchFamily="34" charset="-120"/>
              </a:rPr>
              <a:t>③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3785616" y="3813048"/>
            <a:ext cx="15727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2A2A2A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Claude/Codex CLI</a:t>
            </a:r>
            <a:endParaRPr lang="en-US" sz="9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2A2A2A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자동 호출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5358384" y="3520440"/>
            <a:ext cx="157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6B35"/>
                </a:solidFill>
                <a:latin typeface="NanumGothic ExtraBold" pitchFamily="34" charset="0"/>
                <a:ea typeface="NanumGothic ExtraBold" pitchFamily="34" charset="-122"/>
                <a:cs typeface="NanumGothic ExtraBold" pitchFamily="34" charset="-120"/>
              </a:rPr>
              <a:t>④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5358384" y="3813048"/>
            <a:ext cx="15727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2A2A2A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2종 MD 생성</a:t>
            </a:r>
            <a:endParaRPr lang="en-US" sz="9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2A2A2A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(원본+이력 / 개선안 3개)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6931152" y="3520440"/>
            <a:ext cx="157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6B35"/>
                </a:solidFill>
                <a:latin typeface="NanumGothic ExtraBold" pitchFamily="34" charset="0"/>
                <a:ea typeface="NanumGothic ExtraBold" pitchFamily="34" charset="-122"/>
                <a:cs typeface="NanumGothic ExtraBold" pitchFamily="34" charset="-120"/>
              </a:rPr>
              <a:t>⑤</a:t>
            </a:r>
            <a:endParaRPr lang="en-US" sz="1400" dirty="0"/>
          </a:p>
        </p:txBody>
      </p:sp>
      <p:sp>
        <p:nvSpPr>
          <p:cNvPr id="46" name="Text 44"/>
          <p:cNvSpPr/>
          <p:nvPr/>
        </p:nvSpPr>
        <p:spPr>
          <a:xfrm>
            <a:off x="6931152" y="3813048"/>
            <a:ext cx="15727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2A2A2A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Claude Desktop에서</a:t>
            </a:r>
            <a:endParaRPr lang="en-US" sz="9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2A2A2A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다음 리비전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640080" y="432054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Code: projects/26Q2_AI-Doc-Feedback-Loop/app  ·  cd app &amp;&amp; npm install &amp;&amp; npm start  ·  http://localhost:5174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NanumGothic ExtraBold" pitchFamily="34" charset="0"/>
                <a:ea typeface="NanumGothic ExtraBold" pitchFamily="34" charset="-122"/>
                <a:cs typeface="NanumGothic ExtraBold" pitchFamily="34" charset="-120"/>
              </a:rPr>
              <a:t>오늘 여러분이 만든 것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097280" y="1371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📋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737360" y="137160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6B35"/>
                </a:solidFill>
                <a:latin typeface="NanumGothic ExtraBold" pitchFamily="34" charset="0"/>
                <a:ea typeface="NanumGothic ExtraBold" pitchFamily="34" charset="-122"/>
                <a:cs typeface="NanumGothic ExtraBold" pitchFamily="34" charset="-120"/>
              </a:rPr>
              <a:t>PRD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3474720" y="137160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AI가 구조화한 제품 기획서 — Why/What/How 프레임워크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9728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📱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737360" y="196596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6B35"/>
                </a:solidFill>
                <a:latin typeface="NanumGothic ExtraBold" pitchFamily="34" charset="0"/>
                <a:ea typeface="NanumGothic ExtraBold" pitchFamily="34" charset="-122"/>
                <a:cs typeface="NanumGothic ExtraBold" pitchFamily="34" charset="-120"/>
              </a:rPr>
              <a:t>Prototype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3474720" y="19659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15분 만에 만든 동작하는 모바일 웹 데모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97280" y="2560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🔄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737360" y="256032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6B35"/>
                </a:solidFill>
                <a:latin typeface="NanumGothic ExtraBold" pitchFamily="34" charset="0"/>
                <a:ea typeface="NanumGothic ExtraBold" pitchFamily="34" charset="-122"/>
                <a:cs typeface="NanumGothic ExtraBold" pitchFamily="34" charset="-120"/>
              </a:rPr>
              <a:t>Workflow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3474720" y="256032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아이디어 → PRD → 프로토타입 → 배포 반복 프로세스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97280" y="3154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🧠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1737360" y="315468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6B35"/>
                </a:solidFill>
                <a:latin typeface="NanumGothic ExtraBold" pitchFamily="34" charset="0"/>
                <a:ea typeface="NanumGothic ExtraBold" pitchFamily="34" charset="-122"/>
                <a:cs typeface="NanumGothic ExtraBold" pitchFamily="34" charset="-120"/>
              </a:rPr>
              <a:t>PM의 역할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3474720" y="315468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AI 시대에도 변하지 않는 PM의 4가지 고유 역량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40080" y="3794760"/>
            <a:ext cx="914400" cy="36576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93192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NanumGothic Bold" pitchFamily="34" charset="0"/>
                <a:ea typeface="NanumGothic Bold" pitchFamily="34" charset="-122"/>
                <a:cs typeface="NanumGothic Bold" pitchFamily="34" charset="-120"/>
              </a:rPr>
              <a:t>AI NATIVE 시대, 여러분은 이미 준비되었습니다.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760720" y="39319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차성재  |  FastCampus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" y="429768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Q&amp;A  ·  피드백  ·  네트워킹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NATIVE 시대, AI PM의 새로운 무기</dc:title>
  <dc:subject>PptxGenJS Presentation</dc:subject>
  <dc:creator>차성재</dc:creator>
  <cp:lastModifiedBy>차성재</cp:lastModifiedBy>
  <cp:revision>1</cp:revision>
  <dcterms:created xsi:type="dcterms:W3CDTF">2026-05-18T01:33:52Z</dcterms:created>
  <dcterms:modified xsi:type="dcterms:W3CDTF">2026-05-18T01:33:52Z</dcterms:modified>
</cp:coreProperties>
</file>