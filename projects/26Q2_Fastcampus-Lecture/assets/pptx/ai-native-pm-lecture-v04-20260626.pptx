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video" Target="../media/media-42-2.mp4"/><Relationship Id="rId3" Type="http://schemas.microsoft.com/office/2007/relationships/media" Target="../media/media-42-2.mp4"/><Relationship Id="rId4" Type="http://schemas.openxmlformats.org/officeDocument/2006/relationships/image" Target="../media/image-4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78992"/>
            <a:ext cx="548640" cy="4114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997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FASTCAMPUS  ·  AI NATIVE PM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400" spc="-100" kern="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 NATIVE 시대,</a:t>
            </a:r>
            <a:endParaRPr lang="en-US" sz="4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400" spc="-100" kern="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 PM의 새로운 무기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31012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글로벌 PM 트렌드   ·   기획 문서 계층   ·   AI 도구 협업   ·   디자인→프로토타입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7315"/>
          </a:xfrm>
          <a:prstGeom prst="rect">
            <a:avLst/>
          </a:prstGeom>
          <a:solidFill>
            <a:srgbClr val="3A3A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26110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FastCampus</a:t>
            </a:r>
            <a:pPr indent="0" marL="0">
              <a:buNone/>
            </a:pPr>
            <a:r>
              <a:rPr lang="en-US" sz="1300" dirty="0">
                <a:solidFill>
                  <a:srgbClr val="2997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   2026.06.26 (금) 17:00–19:00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      차성재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오늘의 여정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749040" cy="2560320"/>
          </a:xfrm>
          <a:prstGeom prst="roundRect">
            <a:avLst>
              <a:gd name="adj" fmla="val 3571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🎤  강의  30분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PM의 본질과 고유 역할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3가지 시대: Feature → Product-Led → AI Native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기획 문서 계층과 Why→What→How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도구 협업 마스터 플랜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라이브 데모: PRD + 프로토타입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749040" cy="2560320"/>
          </a:xfrm>
          <a:prstGeom prst="roundRect">
            <a:avLst>
              <a:gd name="adj" fmla="val 3571"/>
            </a:avLst>
          </a:prstGeom>
          <a:solidFill>
            <a:srgbClr val="F5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371600"/>
            <a:ext cx="54864" cy="256032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💻  실습  60분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87452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아이디어 → PRD 재료 (5개 항목)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Manyfast.io로 PRD 초안 생성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Code로 HTML 프로토타입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배포까지 (Replit / Lovable / Vercel)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오늘의 목표:  PRD + 동작하는 프로토타입을 직접 만들어 가기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PM 채용 공고에서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가장 많이 추가된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키워드는?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2024  vs 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💡 손 들기 유도:  "AI?  프로토타이핑?  데이터?"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AI, PM 채용의 뉴노멀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ProductBoard PM Hiring Report 기반 분석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00200"/>
          <a:ext cx="69494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9202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AI 언급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프로토타이핑 우대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프롬프트 역량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2024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23%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15%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5%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2026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66CC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67%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66CC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52%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66CC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38%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33375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spc="-100" kern="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약 3배 증가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출처: PM 채용 트렌드 리포트 2024-2026, 글로벌 채용 플랫폼 데이터 종합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AI가 PM을</a:t>
            </a:r>
            <a:endParaRPr lang="en-US" sz="3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대체하는 게 아닙니다.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97280" y="2514600"/>
            <a:ext cx="6949440" cy="6858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51460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AI를 쓰는 PM이, 안 쓰는 PM을 대체합니다.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그렇다면, PM만의 고유한 역할은 무엇인가?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PM만이 할 수 있는 고유한 역할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개발자도 PRD를 쓸 수 있고, AI가 코드도 만들어주는 시대 — PM의 본질이 더 중요해졌다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066C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572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도메인 이해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83280" y="15727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실제 산업 현장의 맥락을 파악하고, 현재 상태에서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유의미한 방향성을 정의하는 능력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80160" y="2103120"/>
            <a:ext cx="722376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21284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066C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212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비즈니스 판단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22128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수익성 · 신규 고객 확장력 · 대표/이사회/투자자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기대치를 종합하여 제품 방향을 결정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80160" y="2743200"/>
            <a:ext cx="722376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85292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066C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28529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제약 조건 내 최적화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83280" y="28529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주어진 예산 · 기간 · 개발 인력 안에서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최대 아웃풋을 내는 현실적 스코프 설계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280160" y="3383280"/>
            <a:ext cx="722376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349300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066C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34930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기능 수준의 우선순위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383280" y="34930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기능 하나하나에 P0/P1/P2를 매기고,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무엇을 먼저 만들지 결정하는 판단력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AI는 실행 속도를 높여주지만, 무엇을 실행할지 결정하는 것은 PM이다.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 시대, PM의 본질 = 맥락 설계자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749040" cy="2743200"/>
          </a:xfrm>
          <a:prstGeom prst="roundRect">
            <a:avLst>
              <a:gd name="adj" fmla="val 3333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63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AI가 잘하는 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시장 데이터 수집 · 경쟁사 분석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구조화 · 기능 명세 초안 작성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프로토타입 코드 생성 (HTML/React)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KPI 프레임워크 제안 · 지표 설계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 시나리오 · 엣지 케이스 도출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749040" cy="2743200"/>
          </a:xfrm>
          <a:prstGeom prst="roundRect">
            <a:avLst>
              <a:gd name="adj" fmla="val 3333"/>
            </a:avLst>
          </a:prstGeom>
          <a:solidFill>
            <a:srgbClr val="1D1D1F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463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PM만이 해야 하는 것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8745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"이것을 왜 지금 해야 하는가" 판단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트레이드오프 결정 (범위 vs 일정 vs 품질)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이해관계자 합의와 우선순위 조율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자사 데이터 해석과 비즈니스 판단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Go / No-Go 의사결정과 리스크 관리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AI는 최고의 부사수. 하지만 방향을 정하는 건 PM이다.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PM의 3가지 시대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2514600" cy="2743200"/>
          </a:xfrm>
          <a:prstGeom prst="roundRect">
            <a:avLst>
              <a:gd name="adj" fmla="val 3636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8132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Era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737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Feature PM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1214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~2019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2423160"/>
            <a:ext cx="2240280" cy="18288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14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기능 정의자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834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Jira · Word · PPT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1089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⏱ 분기 단위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1371600"/>
            <a:ext cx="2514600" cy="2743200"/>
          </a:xfrm>
          <a:prstGeom prst="roundRect">
            <a:avLst>
              <a:gd name="adj" fmla="val 3636"/>
            </a:avLst>
          </a:prstGeom>
          <a:solidFill>
            <a:srgbClr val="F5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48132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Era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1737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Product-Led PM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21214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2020~24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20440" y="2423160"/>
            <a:ext cx="2240280" cy="18288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2514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성장 설계자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20440" y="2834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Notion · Figma · A/B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20440" y="31089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⏱ 2주 스프린트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1371600"/>
            <a:ext cx="2514600" cy="2743200"/>
          </a:xfrm>
          <a:prstGeom prst="roundRect">
            <a:avLst>
              <a:gd name="adj" fmla="val 3636"/>
            </a:avLst>
          </a:prstGeom>
          <a:solidFill>
            <a:srgbClr val="1D1D1F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148132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Era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1737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 Native PM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63640" y="21214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2025~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3640" y="2423160"/>
            <a:ext cx="2240280" cy="1828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2514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맥락 설계자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2834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· Cursor · Manyfast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31089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⏱ 시간~일 단위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Dennis Yang (Chime PM): Claude Code로 20분 만에 프로토타입 → 팀 미팅에서 실제 동작 시연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"Tell"에서 "Show"로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PM의 역할 변화: 문서로 설명하던 시대에서, 만들어서 보여주는 시대로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429000"/>
                <a:gridCol w="3429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시대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기존 방식 (Tell)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새로운 방식 (Show)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Feature PM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PRD 문서로 설명 → 개발팀에 전달 → 분기 후 결과 확인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8E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—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Product-Led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Figma 프로토타입 의뢰 → A/B 테스트 → 2주 스프린트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8E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—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66CC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AI Native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8E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—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66CC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프롬프트 → PRD → 프로토타입 직접 생성 → 시간 단위 검증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3657600"/>
            <a:ext cx="7863840" cy="502920"/>
          </a:xfrm>
          <a:prstGeom prst="roundRect">
            <a:avLst>
              <a:gd name="adj" fmla="val 18182"/>
            </a:avLst>
          </a:prstGeom>
          <a:solidFill>
            <a:srgbClr val="F5F5F7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3657600"/>
            <a:ext cx="54864" cy="50292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6576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바이브 프로토타이핑 (Vibe Prototyping) — 텍스트 프롬프트만으로 기능적 소프트웨어를 생성하는 새로운 패러다임  (Forbes, 2026)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무엇이 바뀌었나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84124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651760"/>
                <a:gridCol w="274320"/>
                <a:gridCol w="4297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구분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Before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After (AI Native)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문서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Word → Notion, 수동 작성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→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AI가 PRD 초안 생성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프로토타입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디자이너/개발자에게 의뢰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→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PM이 직접 AI로 생성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검증 속도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 주 (기획→개발→출시)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→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 시간 (즉시 확인)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PM 역할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기능 전달자 (Tell)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→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맥락 설계자 (Show)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검증 주기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분기 1회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→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주 단위 반복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 Native PM의 3가지 무기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7863840" cy="640080"/>
          </a:xfrm>
          <a:prstGeom prst="roundRect">
            <a:avLst>
              <a:gd name="adj" fmla="val 14286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8132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4813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프롬프팅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91840" y="148132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코딩이 아니라, AI에게 의도를 정확히 전달하는 능력.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맥락(Context)을 잘 구조화하는 것이 핵심.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7863840" cy="640080"/>
          </a:xfrm>
          <a:prstGeom prst="roundRect">
            <a:avLst>
              <a:gd name="adj" fmla="val 14286"/>
            </a:avLst>
          </a:pr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5856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22585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 활용점 정의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225856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"이 제품에서 AI가 어디서 가치를 만드는가?"를 설계.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대체할 수 있는 작업 vs PM이 판단할 작업을 구분.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035808"/>
            <a:ext cx="7863840" cy="640080"/>
          </a:xfrm>
          <a:prstGeom prst="roundRect">
            <a:avLst>
              <a:gd name="adj" fmla="val 14286"/>
            </a:avLst>
          </a:prstGeom>
          <a:solidFill>
            <a:srgbClr val="F5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3580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71600" y="30358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빠른 검증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91840" y="303580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"만들어서 확인하기"를 일상화하는 습관.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→ 프로토타입 → 피드백을 시간 단위로 반복.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코드를 쓸 줄 몰라도 됩니다. AI에게 무엇을 시킬지 알면 됩니다.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기획 문서의 계층 구조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아래 → 위 참조, 위 → 아래 링크  |  PRD가 SSOT (Single Source of Truth)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411480" cy="384048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173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L0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88720" y="1371600"/>
            <a:ext cx="7315200" cy="475488"/>
          </a:xfrm>
          <a:prstGeom prst="roundRect">
            <a:avLst>
              <a:gd name="adj" fmla="val 19231"/>
            </a:avLst>
          </a:prstGeom>
          <a:solidFill>
            <a:srgbClr val="F5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1371600"/>
            <a:ext cx="54864" cy="475488"/>
          </a:xfrm>
          <a:prstGeom prst="roundRect">
            <a:avLst>
              <a:gd name="adj" fmla="val 50000"/>
            </a:avLst>
          </a:prstGeom>
          <a:solidFill>
            <a:srgbClr val="86868B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3716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2-Pager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137160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왜 이걸 하는가?  (리더십 승인용)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1847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</a:rPr>
              <a:t>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075688"/>
            <a:ext cx="411480" cy="38404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07568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L1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88720" y="2029968"/>
            <a:ext cx="7315200" cy="475488"/>
          </a:xfrm>
          <a:prstGeom prst="roundRect">
            <a:avLst>
              <a:gd name="adj" fmla="val 19231"/>
            </a:avLst>
          </a:prstGeom>
          <a:solidFill>
            <a:srgbClr val="FFF7ED"/>
          </a:solidFill>
          <a:ln/>
        </p:spPr>
      </p:sp>
      <p:sp>
        <p:nvSpPr>
          <p:cNvPr id="17" name="Shape 15"/>
          <p:cNvSpPr/>
          <p:nvPr/>
        </p:nvSpPr>
        <p:spPr>
          <a:xfrm>
            <a:off x="1188720" y="2029968"/>
            <a:ext cx="54864" cy="47548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20299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PRD  (SSOT)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202996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무엇을, 왜, 누구를 위해 만드는가?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25054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</a:rPr>
              <a:t>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2734056"/>
            <a:ext cx="411480" cy="384048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73405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L2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188720" y="2688336"/>
            <a:ext cx="7315200" cy="475488"/>
          </a:xfrm>
          <a:prstGeom prst="roundRect">
            <a:avLst>
              <a:gd name="adj" fmla="val 19231"/>
            </a:avLst>
          </a:prstGeom>
          <a:solidFill>
            <a:srgbClr val="F5F5F7"/>
          </a:solidFill>
          <a:ln/>
        </p:spPr>
      </p:sp>
      <p:sp>
        <p:nvSpPr>
          <p:cNvPr id="24" name="Shape 22"/>
          <p:cNvSpPr/>
          <p:nvPr/>
        </p:nvSpPr>
        <p:spPr>
          <a:xfrm>
            <a:off x="1188720" y="2688336"/>
            <a:ext cx="54864" cy="475488"/>
          </a:xfrm>
          <a:prstGeom prst="roundRect">
            <a:avLst>
              <a:gd name="adj" fmla="val 50000"/>
            </a:avLst>
          </a:prstGeom>
          <a:solidFill>
            <a:srgbClr val="86868B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268833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Specs · HLD · LLD · ADR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114800" y="2688336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어떻게 보이고, 어떻게 구현하고, 왜 그렇게 결정했는가?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31638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</a:rPr>
              <a:t>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3392424"/>
            <a:ext cx="411480" cy="384048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39242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L3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188720" y="3346704"/>
            <a:ext cx="7315200" cy="475488"/>
          </a:xfrm>
          <a:prstGeom prst="roundRect">
            <a:avLst>
              <a:gd name="adj" fmla="val 19231"/>
            </a:avLst>
          </a:prstGeom>
          <a:solidFill>
            <a:srgbClr val="F5F5F7"/>
          </a:solidFill>
          <a:ln/>
        </p:spPr>
      </p:sp>
      <p:sp>
        <p:nvSpPr>
          <p:cNvPr id="31" name="Shape 29"/>
          <p:cNvSpPr/>
          <p:nvPr/>
        </p:nvSpPr>
        <p:spPr>
          <a:xfrm>
            <a:off x="1188720" y="3346704"/>
            <a:ext cx="54864" cy="475488"/>
          </a:xfrm>
          <a:prstGeom prst="roundRect">
            <a:avLst>
              <a:gd name="adj" fmla="val 50000"/>
            </a:avLst>
          </a:prstGeom>
          <a:solidFill>
            <a:srgbClr val="86868B"/>
          </a:solidFill>
          <a:ln/>
        </p:spPr>
      </p:sp>
      <p:sp>
        <p:nvSpPr>
          <p:cNvPr id="32" name="Text 30"/>
          <p:cNvSpPr/>
          <p:nvPr/>
        </p:nvSpPr>
        <p:spPr>
          <a:xfrm>
            <a:off x="1371600" y="334670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Ops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14800" y="3346704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어떻게 출시 · 운영 · 모니터링하는가?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참고: Specs = 와이어프레임/UX 흐름  |  HLD = 상위 설계  |  LLD = 상세 설계  |  ADR = 의사결정 기록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PRD의 핵심: Why → What → How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822960" cy="59436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Why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00200" y="1463040"/>
            <a:ext cx="6903720" cy="594360"/>
          </a:xfrm>
          <a:prstGeom prst="roundRect">
            <a:avLst>
              <a:gd name="adj" fmla="val 15385"/>
            </a:avLst>
          </a:prstGeom>
          <a:solidFill>
            <a:srgbClr val="F5F5F7"/>
          </a:solidFill>
          <a:ln/>
        </p:spPr>
      </p:sp>
      <p:sp>
        <p:nvSpPr>
          <p:cNvPr id="9" name="Text 7"/>
          <p:cNvSpPr/>
          <p:nvPr/>
        </p:nvSpPr>
        <p:spPr>
          <a:xfrm>
            <a:off x="1783080" y="14630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왜 이 문제를 풀어야 하는가?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463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§3 문제 정의 · 비즈니스 근거 · 데이터 증거 · 사용자 VOC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822960" cy="594360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8600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What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00200" y="2286000"/>
            <a:ext cx="6903720" cy="594360"/>
          </a:xfrm>
          <a:prstGeom prst="roundRect">
            <a:avLst>
              <a:gd name="adj" fmla="val 15385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1783080" y="22860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무엇을 만드는가?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2860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§4-§6 솔루션 · 페르소나 · 범위(In/Out) · 기능 명세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822960" cy="5943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089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How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600200" y="3108960"/>
            <a:ext cx="6903720" cy="594360"/>
          </a:xfrm>
          <a:prstGeom prst="roundRect">
            <a:avLst>
              <a:gd name="adj" fmla="val 15385"/>
            </a:avLst>
          </a:prstGeom>
          <a:solidFill>
            <a:srgbClr val="F5F5F7"/>
          </a:solidFill>
          <a:ln/>
        </p:spPr>
      </p:sp>
      <p:sp>
        <p:nvSpPr>
          <p:cNvPr id="19" name="Text 17"/>
          <p:cNvSpPr/>
          <p:nvPr/>
        </p:nvSpPr>
        <p:spPr>
          <a:xfrm>
            <a:off x="1783080" y="31089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어떻게 성공을 측정하는가?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31089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§11 KPI · 실험 설계 · 롤아웃 전략 · Release Gate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Why가 흔들리면, What과 How는 의미가 없다. 항상 Why부터.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PRD 품질 검증: 3가지 관점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Approved 상태 전환을 위한 3-관점 평가 프레임워크  |  각 관점 최소 기준 통과 필수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7863840" cy="685800"/>
          </a:xfrm>
          <a:prstGeom prst="roundRect">
            <a:avLst>
              <a:gd name="adj" fmla="val 13333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👔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15544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리더십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 프로젝트에 투자할 가치가 있는가?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15544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전략 정합성 · 문제 정의 명확성 · ROI 합리성 · 시장 적합성 · 우선순위 정당성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377440"/>
            <a:ext cx="7863840" cy="685800"/>
          </a:xfrm>
          <a:prstGeom prst="roundRect">
            <a:avLst>
              <a:gd name="adj" fmla="val 13333"/>
            </a:avLst>
          </a:prstGeom>
          <a:solidFill>
            <a:srgbClr val="F5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7744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23774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디자이너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 PRD만으로 와이어프레임을 그릴 수 있는가?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3774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시나리오 완전성 · UI/UX 플로우 · 가드레일/예외 · 컴포넌트 명세 · P0/P1 기능 정의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7863840" cy="685800"/>
          </a:xfrm>
          <a:prstGeom prst="roundRect">
            <a:avLst>
              <a:gd name="adj" fmla="val 13333"/>
            </a:avLst>
          </a:prstGeom>
          <a:solidFill>
            <a:srgbClr val="F5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0040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32004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EM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 범위를 주어진 기간/리소스로 만들 수 있는가?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32004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성공 지표 측정 가능성 · 비용 추정 · 공수 산정(MD/MM) · 스코프 실현성 · NFR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각 관점 35점 만점, 23점 이상 통과  |  상세 기준: docs/evaluation/ 참조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AI가 각 단계를 어떻게 바꾸는가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371600"/>
                <a:gridCol w="4389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단계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기존 소요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AI Native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주요 도구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2-Pager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66CC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Claude, Gemini Deep Research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PRD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1~2주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66CC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수시간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Manyfast, Claude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Wireframe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66CC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Figma AI (Make), v0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Prototype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66CC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수십분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Claude Code, Cursor, Replit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배포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66CC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Vercel, Replit, Lovable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전체 흐름: 아이디어 → PRD → 와이어프레임 → 프로토타입 → 배포까지 하루 안에 가능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5개 핵심 입력 — PRD의 씨앗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전체를 쓸 필요 없습니다. 이 5가지만 명확하면 AI가 나머지를 채워줍니다.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347472" cy="347472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5361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서비스명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34640" y="15361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뭐라고 부를까?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0" y="15361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직관적이고 기억하기 쉬운 이름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1993392"/>
            <a:ext cx="347472" cy="347472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195681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타겟 유저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34640" y="195681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누구를 위한 건가?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52160" y="195681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행동 패턴까지 구체적으로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414016"/>
            <a:ext cx="347472" cy="347472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14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2377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핵심 문제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83464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어떤 문제를 해결하나?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52160" y="2377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정량 수치가 있으면 강력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2834640"/>
            <a:ext cx="347472" cy="347472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279806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 활용점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834640" y="279806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어디서 가치를 만드나?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52160" y="279806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대체할 구체적 작업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3255264"/>
            <a:ext cx="347472" cy="347472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255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88720" y="32186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성공 기준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834640" y="32186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어떻게 성공을 아나?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852160" y="32186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측정 가능한 숫자로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3749040"/>
            <a:ext cx="7863840" cy="457200"/>
          </a:xfrm>
          <a:prstGeom prst="roundRect">
            <a:avLst>
              <a:gd name="adj" fmla="val 20000"/>
            </a:avLst>
          </a:prstGeom>
          <a:solidFill>
            <a:srgbClr val="EAF2FB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이 5개만 명확하면 AI가 나머지를 채워줍니다  →  실습 Step 1에서 직접 작성!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 도구 협업: 마스터 플랜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하나의 도구가 아닌, 여러 AI 도구를 조합하여 PM 워크플로우를 가속화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7863840" cy="384048"/>
          </a:xfrm>
          <a:prstGeom prst="roundRect">
            <a:avLst>
              <a:gd name="adj" fmla="val 23810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544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리서치 → PRD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1554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Claude + Gemini Deep Research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77840" y="15544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시장/경쟁 분석 → 구조화된 PRD 초안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029968"/>
            <a:ext cx="786384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0299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PRD → 와이어프레임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20299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Claude + Figma AI (Make)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7840" y="20299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기반 자동 UI 레이아웃 생성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505456"/>
            <a:ext cx="7863840" cy="384048"/>
          </a:xfrm>
          <a:prstGeom prst="roundRect">
            <a:avLst>
              <a:gd name="adj" fmla="val 23810"/>
            </a:avLst>
          </a:prstGeom>
          <a:solidFill>
            <a:srgbClr val="F5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5054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PRD → 프로토타입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25054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Claude Code + Cursor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77840" y="250545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PRD에서 동작하는 HTML/React 앱 생성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980944"/>
            <a:ext cx="786384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29809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디자인 → 코드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29809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Figma + Google Stitch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77840" y="298094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Figma 디자인을 코드로 변환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456432"/>
            <a:ext cx="7863840" cy="384048"/>
          </a:xfrm>
          <a:prstGeom prst="roundRect">
            <a:avLst>
              <a:gd name="adj" fmla="val 23810"/>
            </a:avLst>
          </a:prstGeom>
          <a:solidFill>
            <a:srgbClr val="F5F5F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4564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프로토타입 → 배포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0" y="34564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Replit / Lovable / Vercel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34564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1-click 배포로 외부 공유 가능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핵심: 어떤 도구를 쓰느냐가 아니라, PM이 '무엇을' 지시할지를 아는 것이 경쟁력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실전 도구 조합 예시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863840" cy="1097280"/>
          </a:xfrm>
          <a:prstGeom prst="roundRect">
            <a:avLst>
              <a:gd name="adj" fmla="val 8333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Workflow A:  기획 → 프로토타입 → 배포 (오늘 실습)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(리서치)  →  Manyfast (PRD)  →  Claude Code (프로토타입)  →  Vercel / Replit (배포)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5개 입력 → PRD 초안(~5분) → HTML 생성(~15분) → 배포(~2분)  =  총 30분 이내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7863840" cy="1097280"/>
          </a:xfrm>
          <a:prstGeom prst="roundRect">
            <a:avLst>
              <a:gd name="adj" fmla="val 8333"/>
            </a:avLst>
          </a:pr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97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Workflow B:  디자인 중심 (Figma 활용)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063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(PRD)  →  Figma AI / Make (와이어프레임)  →  Google Stitch (코드 변환)  →  Lovable (배포)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디자인 시스템이 중요한 B2C 서비스에 적합  |  Figma → 코드 자동 변환으로 개발 공수 절감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💡 Google AI Studio: Gemini 기반 프롬프트 테스트 · 멀티모달 분석에 활용 가능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데모: 오늘의 점심 메이트 — PRD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🎯  문제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94560" y="1371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직장인 12분 × 250일 = 연 50시간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'뭐 먹지?' 고민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93392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933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💡  솔루션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4560" y="19933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기분 + 예산 + 위치 →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맞춤 메뉴 3개 추천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615184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F5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1518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📊  KPI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261518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추천 수락률 60%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재사용률 주 3회, NPS 40+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236976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3697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🤖  AI 모델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323697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Haiku — 월 $15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p95 응답 &lt; 2초</a:t>
            </a:r>
            <a:endParaRPr lang="en-US" sz="1100" dirty="0"/>
          </a:p>
        </p:txBody>
      </p:sp>
      <p:pic>
        <p:nvPicPr>
          <p:cNvPr id="18" name="Image 0" descr="/Users/musinsa/smilechacha/ai-native-pm/projects/26Q2_Fastcampus-Lecture/assets/references/prd-cap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1371600"/>
            <a:ext cx="2971800" cy="23317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532120" y="37490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PRD.md 렌더 — 오늘의 점심 메이트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📋  화면 공유: PRD.md 라이브 시연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데모: 프로토타입 — 15분 만에 완성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단일 HTML 파일, 외부 API 없음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기분 선택 → 예산 선택 → AI 추천 결과 3개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모바일 반응형, 실제 버튼 동작 포함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6가지 기분 × 3가지 예산 = 54개 메뉴 데이터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수락/거절 피드백 UI 포함</a:t>
            </a:r>
            <a:endParaRPr lang="en-US" sz="1300" dirty="0"/>
          </a:p>
        </p:txBody>
      </p:sp>
      <p:pic>
        <p:nvPicPr>
          <p:cNvPr id="7" name="Image 0" descr="/Users/musinsa/smilechacha/ai-native-pm/projects/26Q2_Fastcampus-Lecture/assets/references/demo-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960120"/>
            <a:ext cx="1627632" cy="3108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94960" y="41148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추천 결과 화면 (오늘의 점심 메이트)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📱  화면 공유: 프로토타입 라이브 시연  ·  workshop/prototype/index.html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이제 여러분 차례입니다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914400" cy="36576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아이디어  →  PRD  →  프로토타입  →  배포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60분 안에 직접 체험합니다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0" y="3291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완성도가 아닙니다.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과정을 경험하는 것이 목적입니다.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🕐  잠시 쉬고, 17:40에 실습 시작!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554480"/>
            <a:ext cx="914400" cy="36576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91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WORKSHOP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내 아이디어를 60분 만에 프로토타입으로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17:40 ~ 18:40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실습 흐름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384048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813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Step 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46304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10분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146304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환경 세팅 + 트랙 선택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146304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Manyfast · Claude · 메모장 준비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1005840" cy="384048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116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Step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199339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15분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199339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아이디어 → PRD 재료 (5개 항목)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199339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서비스명/타겟/문제/AI활용/성공기준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542032"/>
            <a:ext cx="1005840" cy="384048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5420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Step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252374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15분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51760" y="252374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Manyfast.io → PRD 초안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0" y="252374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생성 + 검수 포인트 확인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072384"/>
            <a:ext cx="1005840" cy="384048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0723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Step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28800" y="305409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15분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51760" y="305409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Claude → HTML 프로토타입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0" y="305409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프롬프트 → 생성 → 확인 → 배포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3602736"/>
            <a:ext cx="1005840" cy="384048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6027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Buffer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28800" y="358444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5분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51760" y="358444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저장 + 발표 준비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43600" y="358444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결과물 저장, 엘리베이터 피치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Step 0: 환경 세팅 + 트랙 선택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☐  Manyfast.io 로그인 완료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☐  Claude.ai 또는 Claude Code 접속 완료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☐  메모장 (Notion / Apple Notes / 메모장) 준비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☐  작업 폴더 생성 (선택사항)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749040" cy="1051560"/>
          </a:xfrm>
          <a:prstGeom prst="roundRect">
            <a:avLst>
              <a:gd name="adj" fmla="val 8696"/>
            </a:avLst>
          </a:pr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97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🟢  공통 트랙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강사 주제 따라가기 (오늘의 점심 메이트)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처음 해보는 분 추천!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3749040" cy="1051560"/>
          </a:xfrm>
          <a:prstGeom prst="roundRect">
            <a:avLst>
              <a:gd name="adj" fmla="val 8696"/>
            </a:avLst>
          </a:prstGeom>
          <a:solidFill>
            <a:srgbClr val="F5F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2286000"/>
            <a:ext cx="54864" cy="105156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🔵  자유 트랙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517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본인 아이디어로 자율 진행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기능 1개로 좁히기!</a:t>
            </a:r>
            <a:endParaRPr lang="en-US" sz="1100" dirty="0"/>
          </a:p>
        </p:txBody>
      </p:sp>
      <p:pic>
        <p:nvPicPr>
          <p:cNvPr id="17" name="Image 0" descr="/Users/musinsa/smilechacha/ai-native-pm/projects/26Q2_Fastcampus-Lecture/assets/references/manyfast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697480"/>
            <a:ext cx="2075688" cy="16459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83464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Manyfast.io 로그인 화면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Step 1: 5개 항목 채우기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7498080" cy="2560320"/>
          </a:xfrm>
          <a:prstGeom prst="roundRect">
            <a:avLst>
              <a:gd name="adj" fmla="val 3571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508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1.  서비스명:  ___________________________________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2.  타겟 유저:  ___________________________________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331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3.  핵심 문제:  ___________________________________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743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4.  AI 활용점:  ___________________________________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3154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5.  성공 기준:  ___________________________________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⏱  10분 안에 채워주세요!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Step 1: 예시 — 오늘의 점심 메이트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371600"/>
            <a:ext cx="7498080" cy="2560320"/>
          </a:xfrm>
          <a:prstGeom prst="roundRect">
            <a:avLst>
              <a:gd name="adj" fmla="val 3571"/>
            </a:avLst>
          </a:prstGeom>
          <a:solidFill>
            <a:srgbClr val="F5F5F7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371600"/>
            <a:ext cx="54864" cy="256032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5544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1.  서비스명:</a:t>
            </a:r>
            <a:pPr indent="0" marL="0">
              <a:buNone/>
            </a:pPr>
            <a:r>
              <a:rPr lang="en-US" sz="1400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오늘의 점심 메이트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9659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2.  타겟 유저:</a:t>
            </a:r>
            <a:pPr indent="0" marL="0">
              <a:buNone/>
            </a:pPr>
            <a:r>
              <a:rPr lang="en-US" sz="1400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점심 메뉴 고민이 많은 직장인 (강남/판교 오피스)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3774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3.  핵심 문제:</a:t>
            </a:r>
            <a:pPr indent="0" marL="0">
              <a:buNone/>
            </a:pPr>
            <a:r>
              <a:rPr lang="en-US" sz="1400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매일 '뭐 먹지?' 고민에 12분 낭비, 65% 같은 메뉴 반복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7889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4.  AI 활용점:</a:t>
            </a:r>
            <a:pPr indent="0" marL="0">
              <a:buNone/>
            </a:pPr>
            <a:r>
              <a:rPr lang="en-US" sz="1400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기분/예산 기반 맞춤 메뉴 3개 추천 (Claude Haiku)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2004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5.  성공 기준:</a:t>
            </a:r>
            <a:pPr indent="0" marL="0">
              <a:buNone/>
            </a:pPr>
            <a:r>
              <a:rPr lang="en-US" sz="1400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추천 수락률 60%, 주간 재사용 3회 이상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Step 1: 짝꿍 피드백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옆 사람에게 보여주세요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828800" y="246888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2560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"이 서비스를 당장 쓸 것 같나요?"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3063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네 → 좋은 신호! 🎯    |    글쎄 → 핵심 문제 다시 점검 🔍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💡  짝꿍의 첫 반응이 냉담하면, 문제 정의를 더 날카롭게 다듬어보세요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Step 2: Manyfast.io → PRD 초안 생성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1.  새 프로젝트 생성 (프로젝트명 입력)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2.  5개 항목을 프로젝트 설명에 붙여넣기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3.  PRD 생성 실행 (~1분 소요)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4.  핵심 기능 부분만 복사 → 메모장 저장</a:t>
            </a:r>
            <a:endParaRPr lang="en-US" sz="1400" dirty="0"/>
          </a:p>
        </p:txBody>
      </p:sp>
      <p:pic>
        <p:nvPicPr>
          <p:cNvPr id="7" name="Image 0" descr="/Users/musinsa/smilechacha/ai-native-pm/projects/26Q2_Fastcampus-Lecture/assets/references/manyfast-inpu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371600"/>
            <a:ext cx="3017520" cy="2011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0" y="34015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Manyfast.io — 아이디어 입력 화면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3703320"/>
            <a:ext cx="7863840" cy="502920"/>
          </a:xfrm>
          <a:prstGeom prst="roundRect">
            <a:avLst>
              <a:gd name="adj" fmla="val 18182"/>
            </a:avLst>
          </a:prstGeom>
          <a:solidFill>
            <a:srgbClr val="EAF2FB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703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4C99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⚠️  PRD 전체 복사 금지 — 핵심 기능 3줄 요약만 저장 (토큰 절감)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Step 2: PRD 검수 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생성한 PRD를 그대로 쓰지 마세요. PM의 검증이 반드시 필요합니다.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7863840" cy="640080"/>
          </a:xfrm>
          <a:prstGeom prst="roundRect">
            <a:avLst>
              <a:gd name="adj" fmla="val 14286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00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✅  문제 정의에 구체적 수치가 있는가?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8928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✗ </a:t>
            </a:r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사용자들이 불편해한다</a:t>
            </a:r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→   </a:t>
            </a:r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직장인 82%가 매일 12분 소비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7863840" cy="640080"/>
          </a:xfrm>
          <a:prstGeom prst="roundRect">
            <a:avLst>
              <a:gd name="adj" fmla="val 14286"/>
            </a:avLst>
          </a:pr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77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✅  In Scope / Out of Scope가 구분되어 있는가?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6700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✗ </a:t>
            </a:r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추천 기능 구현</a:t>
            </a:r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→   </a:t>
            </a:r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In: 개인 추천 / Out: 그룹, 예약, 결제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7863840" cy="640080"/>
          </a:xfrm>
          <a:prstGeom prst="roundRect">
            <a:avLst>
              <a:gd name="adj" fmla="val 14286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54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✅  성공 지표에 측정 가능한 숫자가 있는가?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4472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✗ </a:t>
            </a:r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 만족도 향상</a:t>
            </a:r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→   </a:t>
            </a:r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수락률 60%, NPS 40+, WAU 1000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원칙: 구체적 &gt; 추상적  |  숫자 &gt; 형용사  |  링크 &gt; 복사  (PRD 작성 5대 원칙)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Step 3: Claude → 프로토타입 생성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863840" cy="2377440"/>
          </a:xfrm>
          <a:prstGeom prst="roundRect">
            <a:avLst>
              <a:gd name="adj" fmla="val 3846"/>
            </a:avLst>
          </a:prstGeom>
          <a:solidFill>
            <a:srgbClr val="3333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아래 PRD를 기반으로 모바일 웹 UI 프로토타입을
HTML 단일 파일로 만들어줘.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[서비스명]: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오늘의 점심 메이트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[핵심 기능]: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기분 선택 → 예산 선택 → 메뉴 3개 추천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[조건]: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단일 HTML / 모바일 반응형 / 한국어 UI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[디자인]: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모던 카드형 UI, 따뜻한 컬러 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💡 프롬프트를 복사해서 Claude.ai 또는 Claude Code에 붙여넣기  |  필요시 수정 프롬프트 추가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Step 3: 트러블슈팅</a:t>
            </a:r>
            <a:endParaRPr lang="en-US" sz="2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문제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해결 방법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HTML 파일이 안 열림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확장자가 .html인지 확인, 브라우저로 드래그 앤 드롭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화면이 하얗게만 나옴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Claude에게 '콘솔 오류 확인해줘' 재요청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디자인이 깨져 보임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'모바일 375px에 맞게 CSS 수정해줘' 재요청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응답이 중간에 끊김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'이어서 작성해줘' 또는 '남은 부분 완성해줘' 입력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기능이 동작하지 않음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'버튼 클릭 이벤트가 작동하도록 JS 수정해줘' 재요청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💡 AI 응답이 마음에 안 들면? → 더 구체적인 지시를 추가하면 됩니다 ("~처럼 바꿔줘")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보너스: 프로토타입 배포하기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만든 프로토타입을 외부에 공유하고 싶다면? 1-click 배포 서비스를 활용하세요.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Replit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HTML 파일 업로드 → 즉시 배포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무료 플랜으로 충분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834640"/>
            <a:ext cx="2240280" cy="18288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추천: 빠른 테스트 공유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5087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F5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Lovable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2011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프롬프트 기반 앱 생성 + 자동 배포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디자인까지 담당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20440" y="2834640"/>
            <a:ext cx="2240280" cy="18288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추천: 비개발자 친화적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5087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F5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Vercel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2011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Git 연동 자동 배포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프로덕션 수준 호스팅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2834640"/>
            <a:ext cx="2240280" cy="18288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추천: 개발팀 협업 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오늘 실습에서는 로컬 HTML 파일로 충분합니다. 배포는 선택사항!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Next Level: AI 자동화로 생산성 높이기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Claude는 요청하면 다 해주지만, 자주 하는 작업을 자동화하면 속도가 달라집니다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7863840" cy="530352"/>
          </a:xfrm>
          <a:prstGeom prst="roundRect">
            <a:avLst>
              <a:gd name="adj" fmla="val 17241"/>
            </a:avLst>
          </a:prstGeom>
          <a:solidFill>
            <a:srgbClr val="F5F5F7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536192"/>
            <a:ext cx="457200" cy="384048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5361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Lv.1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146304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대화형 사용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146304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Claude에게 하나씩 요청  →  PRD 생성, 프로토타입 제작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06640" y="1508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← 지금 여기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103120"/>
            <a:ext cx="7863840" cy="530352"/>
          </a:xfrm>
          <a:prstGeom prst="roundRect">
            <a:avLst>
              <a:gd name="adj" fmla="val 17241"/>
            </a:avLst>
          </a:prstGeom>
          <a:solidFill>
            <a:srgbClr val="F5F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" y="2176272"/>
            <a:ext cx="457200" cy="38404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21762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Lv.2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210312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MCP + Skill 세팅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210312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MCP: Jira·Slack 등 외부 서비스 연결  |  Skill: PM별 자주 쓰는 명령 미리 등록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743200"/>
            <a:ext cx="7863840" cy="530352"/>
          </a:xfrm>
          <a:prstGeom prst="roundRect">
            <a:avLst>
              <a:gd name="adj" fmla="val 17241"/>
            </a:avLst>
          </a:prstGeom>
          <a:solidFill>
            <a:srgbClr val="F5F5F7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" y="2816352"/>
            <a:ext cx="457200" cy="38404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28163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Lv.3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71600" y="274320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Agent + Plugin 구성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66160" y="274320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Agent: 복잡한 작업을 자동 수행하는 AI 비서  |  Plugin: MCP+Skill을 묶어 원클릭 실행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383280"/>
            <a:ext cx="7863840" cy="530352"/>
          </a:xfrm>
          <a:prstGeom prst="roundRect">
            <a:avLst>
              <a:gd name="adj" fmla="val 17241"/>
            </a:avLst>
          </a:prstGeom>
          <a:solidFill>
            <a:srgbClr val="1D1D1F"/>
          </a:solidFill>
          <a:ln/>
        </p:spPr>
      </p:sp>
      <p:sp>
        <p:nvSpPr>
          <p:cNvPr id="24" name="Shape 22"/>
          <p:cNvSpPr/>
          <p:nvPr/>
        </p:nvSpPr>
        <p:spPr>
          <a:xfrm>
            <a:off x="713232" y="3456432"/>
            <a:ext cx="457200" cy="38404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345643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Lv.4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71600" y="338328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PM 조직 통합 자동화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66160" y="338328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팀 공통 Skill·Agent·Plugin을 표준화  →  온보딩 1일 내 세팅 완료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자동화는 한 번에 하는 게 아닙니다. 반복되는 작업부터 하나씩 — 그게 PM의 생산성입니다.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Case: AI Doc Feedback Loop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Lv.4 "PM 조직 통합 자동화"의 실사례 — AI가 빠르게 쓰는 만큼, 사람 피드백도 같은 속도로 다시 AI에게.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3749040" cy="2697480"/>
          </a:xfrm>
          <a:prstGeom prst="roundRect">
            <a:avLst>
              <a:gd name="adj" fmla="val 3390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AS-IS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피드백이 4채널에 분산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Confluence 인라인 댓글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GitHub PR Review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Slack DM / 쓰레드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회의 노트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PM이 통합 정리에 </a:t>
            </a:r>
            <a:pPr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 5~10시간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소요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동일 피드백 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재발생률 30%+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749040" cy="2697480"/>
          </a:xfrm>
          <a:prstGeom prst="roundRect">
            <a:avLst>
              <a:gd name="adj" fmla="val 3390"/>
            </a:avLst>
          </a:prstGeom>
          <a:solidFill>
            <a:srgbClr val="EAF2FB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371600"/>
            <a:ext cx="54864" cy="269748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4C99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TO-BE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웹 한 화면 + 저장 한 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194560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좌·중·우 3패널 (트리 / MD / 코멘트)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6카테고리 × 2계층 자동 태깅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'피드백 저장' 클릭 한 번에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 → 원본+이력 MD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 → AI 개선 요약 MD (카테고리별 3개)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04C9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사이클 타임 </a:t>
            </a:r>
            <a:pPr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1~2일 → 1~2시간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빠르게 쓰는 만큼, 사람 피드백도 같은 속도로 다시 AI에게 흘려보내는 "루프"가 필요합니다.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분류 체계: 6카테고리 × 2계층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모든 피드백·AI 개선안·점수 시각화가 이 분류 체계를 공유합니다.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High-Level Context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프로젝트·프로덕트 세계관 · 전략 판단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1463040"/>
            <a:ext cx="1737360" cy="841248"/>
          </a:xfrm>
          <a:prstGeom prst="roundRect">
            <a:avLst>
              <a:gd name="adj" fmla="val 8696"/>
            </a:avLst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6093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정책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743200" y="1965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Policy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1463040"/>
            <a:ext cx="1737360" cy="841248"/>
          </a:xfrm>
          <a:prstGeom prst="roundRect">
            <a:avLst>
              <a:gd name="adj" fmla="val 8696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6093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컨텍스트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0" y="1965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Context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0" y="1463040"/>
            <a:ext cx="1737360" cy="841248"/>
          </a:xfrm>
          <a:prstGeom prst="roundRect">
            <a:avLst>
              <a:gd name="adj" fmla="val 8696"/>
            </a:avLst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6093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문제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0" y="1965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Problem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26151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Low-Level Spec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29535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UX · 코드 구현을 위한 상세 정책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0" y="2450592"/>
            <a:ext cx="1737360" cy="841248"/>
          </a:xfrm>
          <a:prstGeom prst="roundRect">
            <a:avLst>
              <a:gd name="adj" fmla="val 8696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0" y="25968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해결점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743200" y="29535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Solution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2450592"/>
            <a:ext cx="1737360" cy="841248"/>
          </a:xfrm>
          <a:prstGeom prst="roundRect">
            <a:avLst>
              <a:gd name="adj" fmla="val 8696"/>
            </a:avLst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25968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기능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572000" y="29535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Feature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0" y="2450592"/>
            <a:ext cx="1737360" cy="841248"/>
          </a:xfrm>
          <a:prstGeom prst="roundRect">
            <a:avLst>
              <a:gd name="adj" fmla="val 8696"/>
            </a:avLst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25968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화면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00800" y="29535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Screen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0080" y="35295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피드백 저장 시 산출되는 두 종류 MD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3840480"/>
            <a:ext cx="3931920" cy="512064"/>
          </a:xfrm>
          <a:prstGeom prst="roundRect">
            <a:avLst>
              <a:gd name="adj" fmla="val 17857"/>
            </a:avLst>
          </a:prstGeom>
          <a:solidFill>
            <a:srgbClr val="F5F5F7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" y="3840480"/>
            <a:ext cx="54864" cy="512064"/>
          </a:xfrm>
          <a:prstGeom prst="roundRect">
            <a:avLst>
              <a:gd name="adj" fmla="val 50000"/>
            </a:avLst>
          </a:prstGeom>
          <a:solidFill>
            <a:srgbClr val="1F883D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" y="385876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원본 + 피드백 이력 MD
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카테고리별 시각·작성자·본문 누적 테이블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09160" y="3840480"/>
            <a:ext cx="3794760" cy="512064"/>
          </a:xfrm>
          <a:prstGeom prst="roundRect">
            <a:avLst>
              <a:gd name="adj" fmla="val 17857"/>
            </a:avLst>
          </a:prstGeom>
          <a:solidFill>
            <a:srgbClr val="EAF2FB"/>
          </a:solidFill>
          <a:ln/>
        </p:spPr>
      </p:sp>
      <p:sp>
        <p:nvSpPr>
          <p:cNvPr id="34" name="Shape 32"/>
          <p:cNvSpPr/>
          <p:nvPr/>
        </p:nvSpPr>
        <p:spPr>
          <a:xfrm>
            <a:off x="4709160" y="3840480"/>
            <a:ext cx="54864" cy="512064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35" name="Text 33"/>
          <p:cNvSpPr/>
          <p:nvPr/>
        </p:nvSpPr>
        <p:spPr>
          <a:xfrm>
            <a:off x="4873752" y="385876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4C99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AI 개선 요약 MD
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4C9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카테고리별 핵심 정리 1줄 + 개선안 3개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데모: Local-first 웹 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Express + Vanilla JS · Claude/Codex CLI 자동 연동 · MD 호환 (GitHub/VS Code에서도 깨짐 없음)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1463040" cy="2148840"/>
          </a:xfrm>
          <a:prstGeom prst="roundRect">
            <a:avLst>
              <a:gd name="adj" fmla="val 6250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904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문서 트리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1325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📁 projects</a:t>
            </a:r>
            <a:endParaRPr lang="en-US" sz="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📁 26Q2_AI-Doc-...</a:t>
            </a:r>
            <a:endParaRPr lang="en-US" sz="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 📁 prd</a:t>
            </a:r>
            <a:endParaRPr lang="en-US" sz="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   📄 PRD.md</a:t>
            </a:r>
            <a:endParaRPr lang="en-US" sz="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   📄 2pager.md</a:t>
            </a:r>
            <a:endParaRPr lang="en-US" sz="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 📁 specs</a:t>
            </a:r>
            <a:endParaRPr lang="en-US" sz="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📁 26Q2_Fastcampus</a:t>
            </a:r>
            <a:endParaRPr lang="en-US" sz="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📁 docs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94560" y="1417320"/>
            <a:ext cx="42062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15270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# AI Doc Feedback Loop PRD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31720" y="1920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## §3. Problem Definition  💬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31720" y="22219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피드백 4채널 분산 → PM 주 5~10h 수작업. AI 초안 30분 vs 반영본 3시간+ ...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27432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## §4. Solution Proposed  💬 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3044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저장 한 번에 (원본+이력) + (AI 개선안 3개) 두 MD 자동 산출 ...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92240" y="1417320"/>
            <a:ext cx="2103120" cy="2148840"/>
          </a:xfrm>
          <a:prstGeom prst="roundRect">
            <a:avLst>
              <a:gd name="adj" fmla="val 4348"/>
            </a:avLst>
          </a:prstGeom>
          <a:solidFill>
            <a:srgbClr val="F5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490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피드백 (4)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1801368"/>
            <a:ext cx="1920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1801368"/>
            <a:ext cx="54864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6693408" y="18288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정책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223760" y="18288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Designer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693408" y="198424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PII 처리 정책 명시 필요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583680" y="2221992"/>
            <a:ext cx="1920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2221992"/>
            <a:ext cx="54864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6693408" y="224942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문제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223760" y="224942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93408" y="240487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P2 영향 수치 근거는?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583680" y="2642616"/>
            <a:ext cx="1920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0" y="2642616"/>
            <a:ext cx="54864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6693408" y="26700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기능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223760" y="26700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693408" y="282549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F-04 자동/수동 토글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83680" y="3063240"/>
            <a:ext cx="1920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0" y="3063240"/>
            <a:ext cx="54864" cy="3657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6693408" y="309067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화면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223760" y="30906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Designer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693408" y="324612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우측 패널 폭 340 → 380?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40080" y="37490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①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0080" y="40416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코멘트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(6카테고리)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212848" y="37490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②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2212848" y="40416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[피드백 저장]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클릭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785616" y="37490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③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785616" y="40416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Claude/Codex CLI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자동 호출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58384" y="37490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④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358384" y="40416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2종 MD 생성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(원본+이력 / 개선안 3개)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31152" y="37490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⑤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931152" y="40416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Desktop에서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다음 리비전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Code: projects/26Q2_AI-Doc-Feedback-Loop/app  ·  cd app &amp;&amp; npm install &amp;&amp; npm start  ·  http://localhost:5174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PART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디자인 시스템부터 프로토타입까지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Apple 디자인 시스템을 입혀, AI-Native PM이 레퍼런스 → 토큰 → 와이어프레임 → 프로토타입 → 데모까지 직접 만든다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280160" cy="86868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DESIGN.md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레퍼런스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329184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6868B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86000" y="3291840"/>
            <a:ext cx="1280160" cy="86868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3657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Design Tokens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JSON·CSS·JS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329184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6868B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31920" y="3291840"/>
            <a:ext cx="1280160" cy="86868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0" y="3657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Wireframe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Figma 보드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329184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6868B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77840" y="3291840"/>
            <a:ext cx="1280160" cy="86868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3657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Prototype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동작 화면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329184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6868B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23760" y="3291840"/>
            <a:ext cx="1280160" cy="868680"/>
          </a:xfrm>
          <a:prstGeom prst="rect">
            <a:avLst/>
          </a:prstGeom>
          <a:solidFill>
            <a:srgbClr val="006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23760" y="3657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Demo Video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MP4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1. 디자인 레퍼런스 확보 — getdesign.md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검증된 디자인 시스템을 .md 파일 하나로.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getdesign.md/apple/design-md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6868B"/>
                </a:solidFill>
              </a:rPr>
              <a:t>Apple 디자인 시스템 분석본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① 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D1D1F"/>
                </a:solidFill>
              </a:rPr>
              <a:t>“Download DESIGN.md” 클릭 (우측 하이라이트)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② 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D1D1F"/>
                </a:solidFill>
              </a:rPr>
              <a:t>컬러·타이포·컴포넌트가 토큰화된 .md 확보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③ 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D1D1F"/>
                </a:solidFill>
              </a:rPr>
              <a:t>docs/design-system/DESIGN.md 로 저장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④ 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D1D1F"/>
                </a:solidFill>
              </a:rPr>
              <a:t>Claude/Codex에 그대로 입력 → SSOT</a:t>
            </a:r>
            <a:endParaRPr lang="en-US" sz="1300" dirty="0"/>
          </a:p>
        </p:txBody>
      </p:sp>
      <p:pic>
        <p:nvPicPr>
          <p:cNvPr id="8" name="Image 0" descr="/Users/musinsa/smilechacha/ai-native-pm/projects/26Q2_Fastcampus-Lecture/assets/references/getdesignmd-download-high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1481328"/>
            <a:ext cx="4572000" cy="28575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703320" y="4069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실제 캡처 — Download DESIGN.md 버튼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npx getdesign@latest add apple  →  프로젝트 루트에서 실행하면 AI가 해당 디자인으로 UI를 만든다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2. Design Token System — 단일 출처(JSON)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JSON 하나만 고치면 CSS·JS가 함께 갱신.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1554480" cy="658368"/>
          </a:xfrm>
          <a:prstGeom prst="roundRect">
            <a:avLst>
              <a:gd name="adj" fmla="val 13889"/>
            </a:avLst>
          </a:prstGeom>
          <a:solidFill>
            <a:srgbClr val="F5F5F7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481328"/>
            <a:ext cx="54864" cy="65836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1572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tokens.json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8096" y="1847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W3C 포맷 · SSOT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94560" y="1481328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6868B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468880" y="1481328"/>
            <a:ext cx="1554480" cy="658368"/>
          </a:xfrm>
          <a:prstGeom prst="roundRect">
            <a:avLst>
              <a:gd name="adj" fmla="val 13889"/>
            </a:avLst>
          </a:prstGeom>
          <a:solidFill>
            <a:srgbClr val="F5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2468880" y="1481328"/>
            <a:ext cx="54864" cy="65836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4" name="Text 12"/>
          <p:cNvSpPr/>
          <p:nvPr/>
        </p:nvSpPr>
        <p:spPr>
          <a:xfrm>
            <a:off x="2596896" y="1572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tokens.css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96896" y="1847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:root 변수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0" y="1481328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6868B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97680" y="1481328"/>
            <a:ext cx="1554480" cy="658368"/>
          </a:xfrm>
          <a:prstGeom prst="roundRect">
            <a:avLst>
              <a:gd name="adj" fmla="val 13889"/>
            </a:avLst>
          </a:prstGeom>
          <a:solidFill>
            <a:srgbClr val="F5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4297680" y="1481328"/>
            <a:ext cx="54864" cy="65836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9" name="Text 17"/>
          <p:cNvSpPr/>
          <p:nvPr/>
        </p:nvSpPr>
        <p:spPr>
          <a:xfrm>
            <a:off x="4425696" y="1572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tokens.js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25696" y="1847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ESM import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2194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COLOR — 단일 액센트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2468880"/>
            <a:ext cx="1280160" cy="548640"/>
          </a:xfrm>
          <a:prstGeom prst="rect">
            <a:avLst/>
          </a:prstGeom>
          <a:solidFill>
            <a:srgbClr val="0066CC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0358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Action Blue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32186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#0066cc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057400" y="2468880"/>
            <a:ext cx="1280160" cy="548640"/>
          </a:xfrm>
          <a:prstGeom prst="rect">
            <a:avLst/>
          </a:prstGeom>
          <a:solidFill>
            <a:srgbClr val="1D1D1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57400" y="30358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ink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57400" y="32186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#1d1d1f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74720" y="2468880"/>
            <a:ext cx="1280160" cy="548640"/>
          </a:xfrm>
          <a:prstGeom prst="rect">
            <a:avLst/>
          </a:prstGeom>
          <a:solidFill>
            <a:srgbClr val="F5F5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30358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parchment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74720" y="32186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#f5f5f7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892040" y="2468880"/>
            <a:ext cx="1280160" cy="548640"/>
          </a:xfrm>
          <a:prstGeom prst="rect">
            <a:avLst/>
          </a:prstGeom>
          <a:solidFill>
            <a:srgbClr val="27272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0358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tile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32186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#272729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309360" y="2468880"/>
            <a:ext cx="1280160" cy="548640"/>
          </a:xfrm>
          <a:prstGeom prst="rect">
            <a:avLst/>
          </a:prstGeom>
          <a:solidFill>
            <a:srgbClr val="2997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30358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sky-link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09360" y="32186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#2997ff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40080" y="3611880"/>
            <a:ext cx="3840480" cy="777240"/>
          </a:xfrm>
          <a:prstGeom prst="roundRect">
            <a:avLst>
              <a:gd name="adj" fmla="val 11765"/>
            </a:avLst>
          </a:prstGeom>
          <a:solidFill>
            <a:srgbClr val="F5F5F7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37033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TYPE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D1D1F"/>
                </a:solidFill>
              </a:rPr>
              <a:t>본문 17px / lh 1.47 · 디스플레이 SF Pro 600 · 음수 트래킹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WEIGHT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D1D1F"/>
                </a:solidFill>
              </a:rPr>
              <a:t>300 / 400 / 600 / 700 — 500은 의도적 부재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3611880"/>
            <a:ext cx="3200400" cy="777240"/>
          </a:xfrm>
          <a:prstGeom prst="roundRect">
            <a:avLst>
              <a:gd name="adj" fmla="val 11765"/>
            </a:avLst>
          </a:prstGeom>
          <a:solidFill>
            <a:srgbClr val="F5F5F7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37033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RADIUS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D1D1F"/>
                </a:solidFill>
              </a:rPr>
              <a:t>sm8 · md11 · lg18 · pill ∞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SHADOW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D1D1F"/>
                </a:solidFill>
              </a:rPr>
              <a:t>제품 이미지에만 — 시스템 유일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3. 디자인 시스템 인프라 — 파일 구조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docs/design-system/ 공용 자산. 토큰·스타일·아이콘(SVG+PNG)·에셋·리빙 스타일 가이드.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1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docs/design-system/
</a:t>
            </a:r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├─ DESIGN.md            </a:t>
            </a:r>
            <a:pPr indent="0" marL="0">
              <a:lnSpc>
                <a:spcPct val="136000"/>
              </a:lnSpc>
              <a:buNone/>
            </a:pPr>
            <a:r>
              <a:rPr lang="en-US" sz="9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← Apple 분석 (SSOT)
</a:t>
            </a:r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├─ tokens/
</a:t>
            </a:r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│   ├─ tokens.json · tokens.css · tokens.js
</a:t>
            </a:r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├─ styles/
</a:t>
            </a:r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│   ├─ reset · base · components.css
</a:t>
            </a:r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├─ icons/   </a:t>
            </a:r>
            <a:pPr indent="0" marL="0">
              <a:lnSpc>
                <a:spcPct val="136000"/>
              </a:lnSpc>
              <a:buNone/>
            </a:pPr>
            <a:r>
              <a:rPr lang="en-US" sz="9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14 SVG + png/
</a:t>
            </a:r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├─ assets/  </a:t>
            </a:r>
            <a:pPr indent="0" marL="0">
              <a:lnSpc>
                <a:spcPct val="136000"/>
              </a:lnSpc>
              <a:buNone/>
            </a:pPr>
            <a:r>
              <a:rPr lang="en-US" sz="9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app-icon·logo·og (svg+png)
</a:t>
            </a:r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└─ style-guide.html     </a:t>
            </a:r>
            <a:pPr indent="0" marL="0">
              <a:lnSpc>
                <a:spcPct val="136000"/>
              </a:lnSpc>
              <a:buNone/>
            </a:pPr>
            <a:r>
              <a:rPr lang="en-US" sz="9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← 리빙 가이드</a:t>
            </a:r>
            <a:endParaRPr lang="en-US" sz="1100" dirty="0"/>
          </a:p>
        </p:txBody>
      </p:sp>
      <p:pic>
        <p:nvPicPr>
          <p:cNvPr id="8" name="Image 0" descr="/Users/musinsa/smilechacha/ai-native-pm/projects/26Q2_Fastcampus-Lecture/assets/references/style-guide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481328"/>
            <a:ext cx="3520440" cy="2450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43400" y="370332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style-guide.html — 토큰·컴포넌트 리빙 가이드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JSON만 수정 → CSS·JS 재생성. Style Dictionary / Tokens Studio(Figma)와 호환되는 W3C 포맷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4. 와이어프레임 — Figma 스타일 계층 보드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PRD를 흐름 단계별로 분리한 모바일 시안 (오늘의 점심 메이트).</a:t>
            </a:r>
            <a:endParaRPr lang="en-US" sz="1200" dirty="0"/>
          </a:p>
        </p:txBody>
      </p:sp>
      <p:pic>
        <p:nvPicPr>
          <p:cNvPr id="7" name="Image 0" descr="/Users/musinsa/smilechacha/ai-native-pm/projects/26Q2_Fastcampus-Lecture/assets/references/wireframes-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17904"/>
            <a:ext cx="1298448" cy="2651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18795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 화면 · 4 단계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331720" y="1517904"/>
            <a:ext cx="5532120" cy="548640"/>
          </a:xfrm>
          <a:prstGeom prst="roundRect">
            <a:avLst>
              <a:gd name="adj" fmla="val 16667"/>
            </a:avLst>
          </a:prstGeom>
          <a:solidFill>
            <a:srgbClr val="F5F5F7"/>
          </a:solidFill>
          <a:ln/>
        </p:spPr>
      </p:sp>
      <p:sp>
        <p:nvSpPr>
          <p:cNvPr id="10" name="Shape 7"/>
          <p:cNvSpPr/>
          <p:nvPr/>
        </p:nvSpPr>
        <p:spPr>
          <a:xfrm>
            <a:off x="2331720" y="1517904"/>
            <a:ext cx="54864" cy="54864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1" name="Text 8"/>
          <p:cNvSpPr/>
          <p:nvPr/>
        </p:nvSpPr>
        <p:spPr>
          <a:xfrm>
            <a:off x="2514600" y="15727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1 · 진입 &amp; 온보딩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514600" y="182880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Splash · 위치 허용(F5)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331720" y="2176272"/>
            <a:ext cx="5532120" cy="548640"/>
          </a:xfrm>
          <a:prstGeom prst="roundRect">
            <a:avLst>
              <a:gd name="adj" fmla="val 16667"/>
            </a:avLst>
          </a:prstGeom>
          <a:solidFill>
            <a:srgbClr val="F5F5F7"/>
          </a:solidFill>
          <a:ln/>
        </p:spPr>
      </p:sp>
      <p:sp>
        <p:nvSpPr>
          <p:cNvPr id="14" name="Shape 11"/>
          <p:cNvSpPr/>
          <p:nvPr/>
        </p:nvSpPr>
        <p:spPr>
          <a:xfrm>
            <a:off x="2331720" y="2176272"/>
            <a:ext cx="54864" cy="54864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5" name="Text 12"/>
          <p:cNvSpPr/>
          <p:nvPr/>
        </p:nvSpPr>
        <p:spPr>
          <a:xfrm>
            <a:off x="2514600" y="223113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2 · 조건 입력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514600" y="248716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기분(F1) · 예산(F2) · 선호 — 3탭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331720" y="2834640"/>
            <a:ext cx="5532120" cy="548640"/>
          </a:xfrm>
          <a:prstGeom prst="roundRect">
            <a:avLst>
              <a:gd name="adj" fmla="val 16667"/>
            </a:avLst>
          </a:prstGeom>
          <a:solidFill>
            <a:srgbClr val="F5F5F7"/>
          </a:solidFill>
          <a:ln/>
        </p:spPr>
      </p:sp>
      <p:sp>
        <p:nvSpPr>
          <p:cNvPr id="18" name="Shape 15"/>
          <p:cNvSpPr/>
          <p:nvPr/>
        </p:nvSpPr>
        <p:spPr>
          <a:xfrm>
            <a:off x="2331720" y="2834640"/>
            <a:ext cx="54864" cy="54864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9" name="Text 16"/>
          <p:cNvSpPr/>
          <p:nvPr/>
        </p:nvSpPr>
        <p:spPr>
          <a:xfrm>
            <a:off x="2514600" y="288950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3 · AI 추천 생성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514600" y="314553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로딩 · 추천 결과 3카드 (F3·F4)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331720" y="3493008"/>
            <a:ext cx="5532120" cy="548640"/>
          </a:xfrm>
          <a:prstGeom prst="roundRect">
            <a:avLst>
              <a:gd name="adj" fmla="val 16667"/>
            </a:avLst>
          </a:prstGeom>
          <a:solidFill>
            <a:srgbClr val="F5F5F7"/>
          </a:solidFill>
          <a:ln/>
        </p:spPr>
      </p:sp>
      <p:sp>
        <p:nvSpPr>
          <p:cNvPr id="22" name="Shape 19"/>
          <p:cNvSpPr/>
          <p:nvPr/>
        </p:nvSpPr>
        <p:spPr>
          <a:xfrm>
            <a:off x="2331720" y="3493008"/>
            <a:ext cx="54864" cy="54864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23" name="Text 20"/>
          <p:cNvSpPr/>
          <p:nvPr/>
        </p:nvSpPr>
        <p:spPr>
          <a:xfrm>
            <a:off x="2514600" y="35478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4 · 결정 &amp; 출발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514600" y="3803904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상세·지도(F4) · 인기 메뉴(F6)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계층: Flow stage → Screen frame → Component(디자인 시스템 토큰) · workshop/wireframes/index.html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5. 프로토타입 &amp; 데모 영상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동작 HTML → 클릭 흐름을 MP4로 녹화.</a:t>
            </a:r>
            <a:endParaRPr lang="en-US" sz="1200" dirty="0"/>
          </a:p>
        </p:txBody>
      </p:sp>
      <p:pic>
        <p:nvPicPr>
          <p:cNvPr id="7" name="Image 0" descr="/Users/musinsa/smilechacha/ai-native-pm/projects/26Q2_Fastcampus-Lecture/assets/references/demo-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1481328" cy="2834640"/>
          </a:xfrm>
          <a:prstGeom prst="rect">
            <a:avLst/>
          </a:prstGeom>
        </p:spPr>
      </p:pic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77440" y="1371600"/>
            <a:ext cx="1481328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377440" y="422452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▶ 클릭 데모 (MP4, 28초)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29768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동작 프로토타입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6868B"/>
                </a:solidFill>
              </a:rPr>
              <a:t>단일 HTML · 디자인 시스템 토큰 적용 · 8화면 상태기계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seamless 데모 영상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6868B"/>
                </a:solidFill>
              </a:rPr>
              <a:t>자동 커서가 기분→예산→추천→수락을 클릭으로 시연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6868B"/>
                </a:solidFill>
              </a:rPr>
              <a:t>Playwright 녹화 → ffmpeg H.264 MP4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재현 파이프라인
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npm run video  →  demo-todays-lunch-mate.mp4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파일: workshop/prototype/index.html (?demo=1 자동재생) · demo-todays-lunch-mate.mp4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Native PM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정리 — 한 사람이 디자인부터 데모까지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AI-Native PM은 레퍼런스 확보 → 토큰화 → 화면 설계 → 동작 → 시연을 끊김 없이 잇는다.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353312" cy="1828800"/>
          </a:xfrm>
          <a:prstGeom prst="roundRect">
            <a:avLst>
              <a:gd name="adj" fmla="val 6757"/>
            </a:avLst>
          </a:prstGeom>
          <a:solidFill>
            <a:srgbClr val="F5F5F7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71600"/>
            <a:ext cx="54864" cy="18288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48132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192024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DESIGN.md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9808" y="2331720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getdesign.md에서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Apple 토큰 .md 확보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47672" y="1371600"/>
            <a:ext cx="274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6868B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67712" y="1371600"/>
            <a:ext cx="1353312" cy="1828800"/>
          </a:xfrm>
          <a:prstGeom prst="roundRect">
            <a:avLst>
              <a:gd name="adj" fmla="val 6757"/>
            </a:avLst>
          </a:prstGeom>
          <a:solidFill>
            <a:srgbClr val="F5F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2267712" y="1371600"/>
            <a:ext cx="54864" cy="18288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5" name="Text 13"/>
          <p:cNvSpPr/>
          <p:nvPr/>
        </p:nvSpPr>
        <p:spPr>
          <a:xfrm>
            <a:off x="2377440" y="148132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377440" y="192024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Design Tokens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377440" y="2331720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JSON→CSS→JS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앱 개발용 인프라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75304" y="1371600"/>
            <a:ext cx="274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6868B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95344" y="1371600"/>
            <a:ext cx="1353312" cy="1828800"/>
          </a:xfrm>
          <a:prstGeom prst="roundRect">
            <a:avLst>
              <a:gd name="adj" fmla="val 6757"/>
            </a:avLst>
          </a:prstGeom>
          <a:solidFill>
            <a:srgbClr val="F5F5F7"/>
          </a:solidFill>
          <a:ln/>
        </p:spPr>
      </p:sp>
      <p:sp>
        <p:nvSpPr>
          <p:cNvPr id="20" name="Shape 18"/>
          <p:cNvSpPr/>
          <p:nvPr/>
        </p:nvSpPr>
        <p:spPr>
          <a:xfrm>
            <a:off x="3895344" y="1371600"/>
            <a:ext cx="54864" cy="1828800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/>
        </p:spPr>
      </p:sp>
      <p:sp>
        <p:nvSpPr>
          <p:cNvPr id="21" name="Text 19"/>
          <p:cNvSpPr/>
          <p:nvPr/>
        </p:nvSpPr>
        <p:spPr>
          <a:xfrm>
            <a:off x="4005072" y="148132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997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005072" y="192024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Wireframe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005072" y="2331720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기반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Figma 계층 보드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02936" y="1371600"/>
            <a:ext cx="274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6868B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22976" y="1371600"/>
            <a:ext cx="1353312" cy="1828800"/>
          </a:xfrm>
          <a:prstGeom prst="roundRect">
            <a:avLst>
              <a:gd name="adj" fmla="val 6757"/>
            </a:avLst>
          </a:prstGeom>
          <a:solidFill>
            <a:srgbClr val="F5F5F7"/>
          </a:solidFill>
          <a:ln/>
        </p:spPr>
      </p:sp>
      <p:sp>
        <p:nvSpPr>
          <p:cNvPr id="26" name="Shape 24"/>
          <p:cNvSpPr/>
          <p:nvPr/>
        </p:nvSpPr>
        <p:spPr>
          <a:xfrm>
            <a:off x="5522976" y="1371600"/>
            <a:ext cx="54864" cy="1828800"/>
          </a:xfrm>
          <a:prstGeom prst="roundRect">
            <a:avLst>
              <a:gd name="adj" fmla="val 50000"/>
            </a:avLst>
          </a:prstGeom>
          <a:solidFill>
            <a:srgbClr val="1F883D"/>
          </a:solidFill>
          <a:ln/>
        </p:spPr>
      </p:sp>
      <p:sp>
        <p:nvSpPr>
          <p:cNvPr id="27" name="Text 25"/>
          <p:cNvSpPr/>
          <p:nvPr/>
        </p:nvSpPr>
        <p:spPr>
          <a:xfrm>
            <a:off x="5632704" y="148132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883D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632704" y="192024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Prototype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32704" y="2331720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토큰 적용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동작 HTML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30568" y="1371600"/>
            <a:ext cx="274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6868B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150608" y="1371600"/>
            <a:ext cx="1353312" cy="1828800"/>
          </a:xfrm>
          <a:prstGeom prst="roundRect">
            <a:avLst>
              <a:gd name="adj" fmla="val 6757"/>
            </a:avLst>
          </a:prstGeom>
          <a:solidFill>
            <a:srgbClr val="F5F5F7"/>
          </a:solidFill>
          <a:ln/>
        </p:spPr>
      </p:sp>
      <p:sp>
        <p:nvSpPr>
          <p:cNvPr id="32" name="Shape 30"/>
          <p:cNvSpPr/>
          <p:nvPr/>
        </p:nvSpPr>
        <p:spPr>
          <a:xfrm>
            <a:off x="7150608" y="1371600"/>
            <a:ext cx="54864" cy="18288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7260336" y="148132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5CF6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260336" y="192024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Demo MP4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260336" y="2331720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클릭 흐름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seamless 녹화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디자인 시스템은 공용 자산(docs/design-system/) — 다음 프로젝트도 같은 토큰으로 즉시 시작한다.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오늘 여러분이 만든 것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73736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74720" y="1371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구조화한 제품 기획서 — Why/What/How 프레임워크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Prototype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15분 만에 만든 동작하는 모바일 웹 데모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3736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Workflow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2560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아이디어 → PRD → 프로토타입 → 배포 반복 프로세스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3736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PM의 역할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3154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시대에도 변하지 않는 PM의 4가지 고유 역량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914400" cy="36576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31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AI NATIVE 시대, 여러분은 이미 준비되었습니다.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차성재  |  FastCampus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Q&amp;A  ·  피드백  ·  네트워킹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NATIVE 시대, AI PM의 새로운 무기</dc:title>
  <dc:subject>PptxGenJS Presentation</dc:subject>
  <dc:creator>차성재</dc:creator>
  <cp:lastModifiedBy>차성재</cp:lastModifiedBy>
  <cp:revision>1</cp:revision>
  <dcterms:created xsi:type="dcterms:W3CDTF">2026-06-25T14:12:03Z</dcterms:created>
  <dcterms:modified xsi:type="dcterms:W3CDTF">2026-06-25T14:12:03Z</dcterms:modified>
</cp:coreProperties>
</file>