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  <Override PartName="/ppt/slides/slide26.xml" ContentType="application/vnd.openxmlformats-officedocument.presentationml.slide+xml"/>
  <Override PartName="/ppt/notesSlides/notesSlide26.xml" ContentType="application/vnd.openxmlformats-officedocument.presentationml.notesSlide+xml"/>
  <Override PartName="/ppt/slides/slide27.xml" ContentType="application/vnd.openxmlformats-officedocument.presentationml.slide+xml"/>
  <Override PartName="/ppt/notesSlides/notesSlide27.xml" ContentType="application/vnd.openxmlformats-officedocument.presentationml.notesSlide+xml"/>
  <Override PartName="/ppt/slides/slide28.xml" ContentType="application/vnd.openxmlformats-officedocument.presentationml.slide+xml"/>
  <Override PartName="/ppt/notesSlides/notesSlide28.xml" ContentType="application/vnd.openxmlformats-officedocument.presentationml.notesSlide+xml"/>
  <Override PartName="/ppt/slides/slide29.xml" ContentType="application/vnd.openxmlformats-officedocument.presentationml.slide+xml"/>
  <Override PartName="/ppt/notesSlides/notesSlide29.xml" ContentType="application/vnd.openxmlformats-officedocument.presentationml.notesSlide+xml"/>
  <Override PartName="/ppt/slides/slide30.xml" ContentType="application/vnd.openxmlformats-officedocument.presentationml.slide+xml"/>
  <Override PartName="/ppt/notesSlides/notesSlide30.xml" ContentType="application/vnd.openxmlformats-officedocument.presentationml.notesSlide+xml"/>
  <Override PartName="/ppt/slides/slide31.xml" ContentType="application/vnd.openxmlformats-officedocument.presentationml.slide+xml"/>
  <Override PartName="/ppt/notesSlides/notesSlide31.xml" ContentType="application/vnd.openxmlformats-officedocument.presentationml.notesSlide+xml"/>
  <Override PartName="/ppt/slides/slide32.xml" ContentType="application/vnd.openxmlformats-officedocument.presentationml.slide+xml"/>
  <Override PartName="/ppt/notesSlides/notesSlide32.xml" ContentType="application/vnd.openxmlformats-officedocument.presentationml.notesSlide+xml"/>
  <Override PartName="/ppt/slides/slide33.xml" ContentType="application/vnd.openxmlformats-officedocument.presentationml.slide+xml"/>
  <Override PartName="/ppt/notesSlides/notesSlide33.xml" ContentType="application/vnd.openxmlformats-officedocument.presentationml.notesSlide+xml"/>
  <Override PartName="/ppt/slides/slide34.xml" ContentType="application/vnd.openxmlformats-officedocument.presentationml.slide+xml"/>
  <Override PartName="/ppt/notesSlides/notesSlide34.xml" ContentType="application/vnd.openxmlformats-officedocument.presentationml.notesSlide+xml"/>
  <Override PartName="/ppt/slides/slide35.xml" ContentType="application/vnd.openxmlformats-officedocument.presentationml.slide+xml"/>
  <Override PartName="/ppt/notesSlides/notesSlide35.xml" ContentType="application/vnd.openxmlformats-officedocument.presentationml.notesSlide+xml"/>
  <Override PartName="/ppt/slides/slide36.xml" ContentType="application/vnd.openxmlformats-officedocument.presentationml.slide+xml"/>
  <Override PartName="/ppt/notesSlides/notesSlide36.xml" ContentType="application/vnd.openxmlformats-officedocument.presentationml.notesSlide+xml"/>
  <Override PartName="/ppt/slides/slide37.xml" ContentType="application/vnd.openxmlformats-officedocument.presentationml.slide+xml"/>
  <Override PartName="/ppt/notesSlides/notesSlide37.xml" ContentType="application/vnd.openxmlformats-officedocument.presentationml.notesSlide+xml"/>
  <Override PartName="/ppt/slides/slide38.xml" ContentType="application/vnd.openxmlformats-officedocument.presentationml.slide+xml"/>
  <Override PartName="/ppt/notesSlides/notesSlide38.xml" ContentType="application/vnd.openxmlformats-officedocument.presentationml.notesSlide+xml"/>
  <Override PartName="/ppt/slides/slide39.xml" ContentType="application/vnd.openxmlformats-officedocument.presentationml.slide+xml"/>
  <Override PartName="/ppt/notesSlides/notesSlide39.xml" ContentType="application/vnd.openxmlformats-officedocument.presentationml.notesSlide+xml"/>
  <Override PartName="/ppt/slides/slide40.xml" ContentType="application/vnd.openxmlformats-officedocument.presentationml.slide+xml"/>
  <Override PartName="/ppt/notesSlides/notesSlide40.xml" ContentType="application/vnd.openxmlformats-officedocument.presentationml.notesSlide+xml"/>
  <Override PartName="/ppt/slides/slide41.xml" ContentType="application/vnd.openxmlformats-officedocument.presentationml.slide+xml"/>
  <Override PartName="/ppt/notesSlides/notesSlide41.xml" ContentType="application/vnd.openxmlformats-officedocument.presentationml.notesSlide+xml"/>
  <Override PartName="/ppt/slides/slide42.xml" ContentType="application/vnd.openxmlformats-officedocument.presentationml.slide+xml"/>
  <Override PartName="/ppt/notesSlides/notesSlide42.xml" ContentType="application/vnd.openxmlformats-officedocument.presentationml.notesSlide+xml"/>
  <Override PartName="/ppt/slides/slide43.xml" ContentType="application/vnd.openxmlformats-officedocument.presentationml.slide+xml"/>
  <Override PartName="/ppt/notesSlides/notesSlide43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3d320e69ecf14ed4" /><Relationship Type="http://schemas.openxmlformats.org/officeDocument/2006/relationships/extended-properties" Target="/docProps/app.xml" Id="R8e0cae9e46424e5e" /><Relationship Type="http://schemas.openxmlformats.org/officeDocument/2006/relationships/officeDocument" Target="/ppt/presentation.xml" Id="R5cf2bfc6861f4dd3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3295764fe7244cfd"/>
  </p:sldMasterIdLst>
  <p:notesMasterIdLst>
    <p:notesMasterId xmlns:r="http://schemas.openxmlformats.org/officeDocument/2006/relationships" r:id="Rfa69ae06c69e40ae"/>
  </p:notesMasterIdLst>
  <p:sldIdLst>
    <p:sldId xmlns:r="http://schemas.openxmlformats.org/officeDocument/2006/relationships" id="256" r:id="R8bc31338a999431d"/>
    <p:sldId xmlns:r="http://schemas.openxmlformats.org/officeDocument/2006/relationships" id="257" r:id="Rb9923d99cf294067"/>
    <p:sldId xmlns:r="http://schemas.openxmlformats.org/officeDocument/2006/relationships" id="258" r:id="Rbf2f2f16b2434a3b"/>
    <p:sldId xmlns:r="http://schemas.openxmlformats.org/officeDocument/2006/relationships" id="259" r:id="R4beea1c784604812"/>
    <p:sldId xmlns:r="http://schemas.openxmlformats.org/officeDocument/2006/relationships" id="260" r:id="R2e51e8709dc84632"/>
    <p:sldId xmlns:r="http://schemas.openxmlformats.org/officeDocument/2006/relationships" id="261" r:id="Rd96514e1751041f4"/>
    <p:sldId xmlns:r="http://schemas.openxmlformats.org/officeDocument/2006/relationships" id="262" r:id="Rf507398342504e55"/>
    <p:sldId xmlns:r="http://schemas.openxmlformats.org/officeDocument/2006/relationships" id="263" r:id="R2f712e27f3ce4e99"/>
    <p:sldId xmlns:r="http://schemas.openxmlformats.org/officeDocument/2006/relationships" id="264" r:id="Rb2c1e4dc25e440f4"/>
    <p:sldId xmlns:r="http://schemas.openxmlformats.org/officeDocument/2006/relationships" id="265" r:id="Ra5d6b6ccaae74105"/>
    <p:sldId xmlns:r="http://schemas.openxmlformats.org/officeDocument/2006/relationships" id="266" r:id="R70507f4dea1449a0"/>
    <p:sldId xmlns:r="http://schemas.openxmlformats.org/officeDocument/2006/relationships" id="267" r:id="R7621bf162a6a42c4"/>
    <p:sldId xmlns:r="http://schemas.openxmlformats.org/officeDocument/2006/relationships" id="268" r:id="R538a393e592449a6"/>
    <p:sldId xmlns:r="http://schemas.openxmlformats.org/officeDocument/2006/relationships" id="269" r:id="Rb06a5844ccb94b1d"/>
    <p:sldId xmlns:r="http://schemas.openxmlformats.org/officeDocument/2006/relationships" id="270" r:id="R876c596b4936483b"/>
    <p:sldId xmlns:r="http://schemas.openxmlformats.org/officeDocument/2006/relationships" id="271" r:id="R3c23f45520ab426e"/>
    <p:sldId xmlns:r="http://schemas.openxmlformats.org/officeDocument/2006/relationships" id="272" r:id="R2f0d7b72a58048e3"/>
    <p:sldId xmlns:r="http://schemas.openxmlformats.org/officeDocument/2006/relationships" id="273" r:id="R844a6d3011c346c0"/>
    <p:sldId xmlns:r="http://schemas.openxmlformats.org/officeDocument/2006/relationships" id="274" r:id="R4d3cd018748a4da5"/>
    <p:sldId xmlns:r="http://schemas.openxmlformats.org/officeDocument/2006/relationships" id="275" r:id="R8bf6a8a8151341b6"/>
    <p:sldId xmlns:r="http://schemas.openxmlformats.org/officeDocument/2006/relationships" id="276" r:id="R48f408745ec940bf"/>
    <p:sldId xmlns:r="http://schemas.openxmlformats.org/officeDocument/2006/relationships" id="277" r:id="Rf85cf5d711ed435e"/>
    <p:sldId xmlns:r="http://schemas.openxmlformats.org/officeDocument/2006/relationships" id="278" r:id="R78f859073a3d43c4"/>
    <p:sldId xmlns:r="http://schemas.openxmlformats.org/officeDocument/2006/relationships" id="279" r:id="R8ec3f061acb74643"/>
    <p:sldId xmlns:r="http://schemas.openxmlformats.org/officeDocument/2006/relationships" id="280" r:id="R2d8132ff186e4aaa"/>
    <p:sldId xmlns:r="http://schemas.openxmlformats.org/officeDocument/2006/relationships" id="281" r:id="R289536fe7c514a0b"/>
    <p:sldId xmlns:r="http://schemas.openxmlformats.org/officeDocument/2006/relationships" id="282" r:id="R5865013edbd44b93"/>
    <p:sldId xmlns:r="http://schemas.openxmlformats.org/officeDocument/2006/relationships" id="283" r:id="R686d390a248b40fd"/>
    <p:sldId xmlns:r="http://schemas.openxmlformats.org/officeDocument/2006/relationships" id="284" r:id="R42b1f1f1e2a1424c"/>
    <p:sldId xmlns:r="http://schemas.openxmlformats.org/officeDocument/2006/relationships" id="285" r:id="Rc15745cb7ae3468b"/>
    <p:sldId xmlns:r="http://schemas.openxmlformats.org/officeDocument/2006/relationships" id="286" r:id="Rcc739dbb1ac24b46"/>
    <p:sldId xmlns:r="http://schemas.openxmlformats.org/officeDocument/2006/relationships" id="287" r:id="R58e74d8aa68f41cb"/>
    <p:sldId xmlns:r="http://schemas.openxmlformats.org/officeDocument/2006/relationships" id="288" r:id="Ra9f18c4c392349f2"/>
    <p:sldId xmlns:r="http://schemas.openxmlformats.org/officeDocument/2006/relationships" id="289" r:id="R4c5f644a0ea7443b"/>
    <p:sldId xmlns:r="http://schemas.openxmlformats.org/officeDocument/2006/relationships" id="290" r:id="R84388a3806154766"/>
    <p:sldId xmlns:r="http://schemas.openxmlformats.org/officeDocument/2006/relationships" id="291" r:id="R57467b15b6a74b3b"/>
    <p:sldId xmlns:r="http://schemas.openxmlformats.org/officeDocument/2006/relationships" id="292" r:id="Rdcc9571b16a34407"/>
    <p:sldId xmlns:r="http://schemas.openxmlformats.org/officeDocument/2006/relationships" id="293" r:id="Rc1ef17c03c2e46d5"/>
    <p:sldId xmlns:r="http://schemas.openxmlformats.org/officeDocument/2006/relationships" id="294" r:id="R4ea6955772b14749"/>
    <p:sldId xmlns:r="http://schemas.openxmlformats.org/officeDocument/2006/relationships" id="295" r:id="Rc65edcfa9b584f6f"/>
    <p:sldId xmlns:r="http://schemas.openxmlformats.org/officeDocument/2006/relationships" id="296" r:id="R7ad86c7a3f6c43e8"/>
    <p:sldId xmlns:r="http://schemas.openxmlformats.org/officeDocument/2006/relationships" id="297" r:id="Re9a0c78d4b624e7b"/>
    <p:sldId xmlns:r="http://schemas.openxmlformats.org/officeDocument/2006/relationships" id="298" r:id="R96643d3065d9432d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4ef36ee9d8ae4330" /><Relationship Type="http://schemas.openxmlformats.org/officeDocument/2006/relationships/slideMaster" Target="/ppt/slideMasters/slideMaster1.xml" Id="R3295764fe7244cfd" /><Relationship Type="http://schemas.openxmlformats.org/officeDocument/2006/relationships/notesMaster" Target="/ppt/notesMasters/notesMaster1.xml" Id="Rfa69ae06c69e40ae" /><Relationship Type="http://schemas.openxmlformats.org/officeDocument/2006/relationships/presProps" Target="/ppt/presProps.xml" Id="R17b285dca86740f5" /><Relationship Type="http://schemas.openxmlformats.org/officeDocument/2006/relationships/tableStyles" Target="/ppt/tableStyles.xml" Id="Re2acca5d9b7f4fb7" /><Relationship Type="http://schemas.openxmlformats.org/officeDocument/2006/relationships/slide" Target="/ppt/slides/slide1.xml" Id="R8bc31338a999431d" /><Relationship Type="http://schemas.openxmlformats.org/officeDocument/2006/relationships/slide" Target="/ppt/slides/slide2.xml" Id="Rb9923d99cf294067" /><Relationship Type="http://schemas.openxmlformats.org/officeDocument/2006/relationships/slide" Target="/ppt/slides/slide3.xml" Id="Rbf2f2f16b2434a3b" /><Relationship Type="http://schemas.openxmlformats.org/officeDocument/2006/relationships/slide" Target="/ppt/slides/slide4.xml" Id="R4beea1c784604812" /><Relationship Type="http://schemas.openxmlformats.org/officeDocument/2006/relationships/slide" Target="/ppt/slides/slide5.xml" Id="R2e51e8709dc84632" /><Relationship Type="http://schemas.openxmlformats.org/officeDocument/2006/relationships/slide" Target="/ppt/slides/slide6.xml" Id="Rd96514e1751041f4" /><Relationship Type="http://schemas.openxmlformats.org/officeDocument/2006/relationships/slide" Target="/ppt/slides/slide7.xml" Id="Rf507398342504e55" /><Relationship Type="http://schemas.openxmlformats.org/officeDocument/2006/relationships/slide" Target="/ppt/slides/slide8.xml" Id="R2f712e27f3ce4e99" /><Relationship Type="http://schemas.openxmlformats.org/officeDocument/2006/relationships/slide" Target="/ppt/slides/slide9.xml" Id="Rb2c1e4dc25e440f4" /><Relationship Type="http://schemas.openxmlformats.org/officeDocument/2006/relationships/slide" Target="/ppt/slides/slide10.xml" Id="Ra5d6b6ccaae74105" /><Relationship Type="http://schemas.openxmlformats.org/officeDocument/2006/relationships/slide" Target="/ppt/slides/slide11.xml" Id="R70507f4dea1449a0" /><Relationship Type="http://schemas.openxmlformats.org/officeDocument/2006/relationships/slide" Target="/ppt/slides/slide12.xml" Id="R7621bf162a6a42c4" /><Relationship Type="http://schemas.openxmlformats.org/officeDocument/2006/relationships/slide" Target="/ppt/slides/slide13.xml" Id="R538a393e592449a6" /><Relationship Type="http://schemas.openxmlformats.org/officeDocument/2006/relationships/slide" Target="/ppt/slides/slide14.xml" Id="Rb06a5844ccb94b1d" /><Relationship Type="http://schemas.openxmlformats.org/officeDocument/2006/relationships/slide" Target="/ppt/slides/slide15.xml" Id="R876c596b4936483b" /><Relationship Type="http://schemas.openxmlformats.org/officeDocument/2006/relationships/slide" Target="/ppt/slides/slide16.xml" Id="R3c23f45520ab426e" /><Relationship Type="http://schemas.openxmlformats.org/officeDocument/2006/relationships/slide" Target="/ppt/slides/slide17.xml" Id="R2f0d7b72a58048e3" /><Relationship Type="http://schemas.openxmlformats.org/officeDocument/2006/relationships/slide" Target="/ppt/slides/slide18.xml" Id="R844a6d3011c346c0" /><Relationship Type="http://schemas.openxmlformats.org/officeDocument/2006/relationships/slide" Target="/ppt/slides/slide19.xml" Id="R4d3cd018748a4da5" /><Relationship Type="http://schemas.openxmlformats.org/officeDocument/2006/relationships/slide" Target="/ppt/slides/slide20.xml" Id="R8bf6a8a8151341b6" /><Relationship Type="http://schemas.openxmlformats.org/officeDocument/2006/relationships/slide" Target="/ppt/slides/slide21.xml" Id="R48f408745ec940bf" /><Relationship Type="http://schemas.openxmlformats.org/officeDocument/2006/relationships/slide" Target="/ppt/slides/slide22.xml" Id="Rf85cf5d711ed435e" /><Relationship Type="http://schemas.openxmlformats.org/officeDocument/2006/relationships/slide" Target="/ppt/slides/slide23.xml" Id="R78f859073a3d43c4" /><Relationship Type="http://schemas.openxmlformats.org/officeDocument/2006/relationships/slide" Target="/ppt/slides/slide24.xml" Id="R8ec3f061acb74643" /><Relationship Type="http://schemas.openxmlformats.org/officeDocument/2006/relationships/slide" Target="/ppt/slides/slide25.xml" Id="R2d8132ff186e4aaa" /><Relationship Type="http://schemas.openxmlformats.org/officeDocument/2006/relationships/slide" Target="/ppt/slides/slide26.xml" Id="R289536fe7c514a0b" /><Relationship Type="http://schemas.openxmlformats.org/officeDocument/2006/relationships/slide" Target="/ppt/slides/slide27.xml" Id="R5865013edbd44b93" /><Relationship Type="http://schemas.openxmlformats.org/officeDocument/2006/relationships/slide" Target="/ppt/slides/slide28.xml" Id="R686d390a248b40fd" /><Relationship Type="http://schemas.openxmlformats.org/officeDocument/2006/relationships/slide" Target="/ppt/slides/slide29.xml" Id="R42b1f1f1e2a1424c" /><Relationship Type="http://schemas.openxmlformats.org/officeDocument/2006/relationships/slide" Target="/ppt/slides/slide30.xml" Id="Rc15745cb7ae3468b" /><Relationship Type="http://schemas.openxmlformats.org/officeDocument/2006/relationships/slide" Target="/ppt/slides/slide31.xml" Id="Rcc739dbb1ac24b46" /><Relationship Type="http://schemas.openxmlformats.org/officeDocument/2006/relationships/slide" Target="/ppt/slides/slide32.xml" Id="R58e74d8aa68f41cb" /><Relationship Type="http://schemas.openxmlformats.org/officeDocument/2006/relationships/slide" Target="/ppt/slides/slide33.xml" Id="Ra9f18c4c392349f2" /><Relationship Type="http://schemas.openxmlformats.org/officeDocument/2006/relationships/slide" Target="/ppt/slides/slide34.xml" Id="R4c5f644a0ea7443b" /><Relationship Type="http://schemas.openxmlformats.org/officeDocument/2006/relationships/slide" Target="/ppt/slides/slide35.xml" Id="R84388a3806154766" /><Relationship Type="http://schemas.openxmlformats.org/officeDocument/2006/relationships/slide" Target="/ppt/slides/slide36.xml" Id="R57467b15b6a74b3b" /><Relationship Type="http://schemas.openxmlformats.org/officeDocument/2006/relationships/slide" Target="/ppt/slides/slide37.xml" Id="Rdcc9571b16a34407" /><Relationship Type="http://schemas.openxmlformats.org/officeDocument/2006/relationships/slide" Target="/ppt/slides/slide38.xml" Id="Rc1ef17c03c2e46d5" /><Relationship Type="http://schemas.openxmlformats.org/officeDocument/2006/relationships/slide" Target="/ppt/slides/slide39.xml" Id="R4ea6955772b14749" /><Relationship Type="http://schemas.openxmlformats.org/officeDocument/2006/relationships/slide" Target="/ppt/slides/slide40.xml" Id="Rc65edcfa9b584f6f" /><Relationship Type="http://schemas.openxmlformats.org/officeDocument/2006/relationships/slide" Target="/ppt/slides/slide41.xml" Id="R7ad86c7a3f6c43e8" /><Relationship Type="http://schemas.openxmlformats.org/officeDocument/2006/relationships/slide" Target="/ppt/slides/slide42.xml" Id="Re9a0c78d4b624e7b" /><Relationship Type="http://schemas.openxmlformats.org/officeDocument/2006/relationships/slide" Target="/ppt/slides/slide43.xml" Id="R96643d3065d9432d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6f2138b925f640b7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cd73de101f78466d" /><Relationship Type="http://schemas.openxmlformats.org/officeDocument/2006/relationships/notesMaster" Target="/ppt/notesMasters/notesMaster1.xml" Id="Reaabac38bdd74dbf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c0c5113604bd4e59" /><Relationship Type="http://schemas.openxmlformats.org/officeDocument/2006/relationships/notesMaster" Target="/ppt/notesMasters/notesMaster1.xml" Id="Rfac0d8ba81b14702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bc61c3cec9c6444f" /><Relationship Type="http://schemas.openxmlformats.org/officeDocument/2006/relationships/notesMaster" Target="/ppt/notesMasters/notesMaster1.xml" Id="R1f775f9c40394e7d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0f6567f500004ad6" /><Relationship Type="http://schemas.openxmlformats.org/officeDocument/2006/relationships/notesMaster" Target="/ppt/notesMasters/notesMaster1.xml" Id="R8d6fbefe4ded416c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9043be9fb5a34f0f" /><Relationship Type="http://schemas.openxmlformats.org/officeDocument/2006/relationships/notesMaster" Target="/ppt/notesMasters/notesMaster1.xml" Id="Ra4e94969bf534e28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54d35867b1d0467b" /><Relationship Type="http://schemas.openxmlformats.org/officeDocument/2006/relationships/notesMaster" Target="/ppt/notesMasters/notesMaster1.xml" Id="R93941b6303ca42bf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8be30959e1694e65" /><Relationship Type="http://schemas.openxmlformats.org/officeDocument/2006/relationships/notesMaster" Target="/ppt/notesMasters/notesMaster1.xml" Id="Rb78979e1603b4420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abe70e1780a24679" /><Relationship Type="http://schemas.openxmlformats.org/officeDocument/2006/relationships/notesMaster" Target="/ppt/notesMasters/notesMaster1.xml" Id="R5153ebfa3ea045e7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5c5c359e069b4cd8" /><Relationship Type="http://schemas.openxmlformats.org/officeDocument/2006/relationships/notesMaster" Target="/ppt/notesMasters/notesMaster1.xml" Id="Rd2fa5bb60b7c4c71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b4e13d446f404ad0" /><Relationship Type="http://schemas.openxmlformats.org/officeDocument/2006/relationships/notesMaster" Target="/ppt/notesMasters/notesMaster1.xml" Id="R1c7538e61a264602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84e7c6847e674655" /><Relationship Type="http://schemas.openxmlformats.org/officeDocument/2006/relationships/notesMaster" Target="/ppt/notesMasters/notesMaster1.xml" Id="R4084d9030ec049de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04e773a1029f4b27" /><Relationship Type="http://schemas.openxmlformats.org/officeDocument/2006/relationships/notesMaster" Target="/ppt/notesMasters/notesMaster1.xml" Id="Rce9cd9ff7ac74500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9476f7909f60461a" /><Relationship Type="http://schemas.openxmlformats.org/officeDocument/2006/relationships/notesMaster" Target="/ppt/notesMasters/notesMaster1.xml" Id="Recf2030bf78642e7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6fcccd54f6f54ceb" /><Relationship Type="http://schemas.openxmlformats.org/officeDocument/2006/relationships/notesMaster" Target="/ppt/notesMasters/notesMaster1.xml" Id="Rbe8c93194fb343d5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5dce49c6715d484f" /><Relationship Type="http://schemas.openxmlformats.org/officeDocument/2006/relationships/notesMaster" Target="/ppt/notesMasters/notesMaster1.xml" Id="R5f8163f213cc4a64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482f185aa7514c3e" /><Relationship Type="http://schemas.openxmlformats.org/officeDocument/2006/relationships/notesMaster" Target="/ppt/notesMasters/notesMaster1.xml" Id="R67475a0ecb6248b2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74ad6cb359f046f7" /><Relationship Type="http://schemas.openxmlformats.org/officeDocument/2006/relationships/notesMaster" Target="/ppt/notesMasters/notesMaster1.xml" Id="Rd27b21d3c98d4383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119e1356e87241d3" /><Relationship Type="http://schemas.openxmlformats.org/officeDocument/2006/relationships/notesMaster" Target="/ppt/notesMasters/notesMaster1.xml" Id="R176621e412264080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2dd24c54fbe84435" /><Relationship Type="http://schemas.openxmlformats.org/officeDocument/2006/relationships/notesMaster" Target="/ppt/notesMasters/notesMaster1.xml" Id="R123d02a5d5b94f85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9f9bcb7874824377" /><Relationship Type="http://schemas.openxmlformats.org/officeDocument/2006/relationships/notesMaster" Target="/ppt/notesMasters/notesMaster1.xml" Id="R1fe790cb46504956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0ac7356c560a4f08" /><Relationship Type="http://schemas.openxmlformats.org/officeDocument/2006/relationships/notesMaster" Target="/ppt/notesMasters/notesMaster1.xml" Id="R9a7741ce37704dd7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3716f0441a684274" /><Relationship Type="http://schemas.openxmlformats.org/officeDocument/2006/relationships/notesMaster" Target="/ppt/notesMasters/notesMaster1.xml" Id="R9e23524165cd4152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e8e1cb60992b45d8" /><Relationship Type="http://schemas.openxmlformats.org/officeDocument/2006/relationships/notesMaster" Target="/ppt/notesMasters/notesMaster1.xml" Id="Rc205597f4d134871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649b5ccadfad4ddb" /><Relationship Type="http://schemas.openxmlformats.org/officeDocument/2006/relationships/notesMaster" Target="/ppt/notesMasters/notesMaster1.xml" Id="R4a5902f61f6a402f" /></Relationships>
</file>

<file path=ppt/notesSlides/_rels/notesSlide25.xml.rels>&#65279;<?xml version="1.0" encoding="utf-8"?><Relationships xmlns="http://schemas.openxmlformats.org/package/2006/relationships"><Relationship Type="http://schemas.openxmlformats.org/officeDocument/2006/relationships/slide" Target="/ppt/slides/slide25.xml" Id="R4b515b8e67484df8" /><Relationship Type="http://schemas.openxmlformats.org/officeDocument/2006/relationships/notesMaster" Target="/ppt/notesMasters/notesMaster1.xml" Id="Rd3303d3580f84657" /></Relationships>
</file>

<file path=ppt/notesSlides/_rels/notesSlide26.xml.rels>&#65279;<?xml version="1.0" encoding="utf-8"?><Relationships xmlns="http://schemas.openxmlformats.org/package/2006/relationships"><Relationship Type="http://schemas.openxmlformats.org/officeDocument/2006/relationships/slide" Target="/ppt/slides/slide26.xml" Id="Rf5333245ffc44a28" /><Relationship Type="http://schemas.openxmlformats.org/officeDocument/2006/relationships/notesMaster" Target="/ppt/notesMasters/notesMaster1.xml" Id="R5b72e5e498f64698" /></Relationships>
</file>

<file path=ppt/notesSlides/_rels/notesSlide27.xml.rels>&#65279;<?xml version="1.0" encoding="utf-8"?><Relationships xmlns="http://schemas.openxmlformats.org/package/2006/relationships"><Relationship Type="http://schemas.openxmlformats.org/officeDocument/2006/relationships/slide" Target="/ppt/slides/slide27.xml" Id="Rd47024c27bce428b" /><Relationship Type="http://schemas.openxmlformats.org/officeDocument/2006/relationships/notesMaster" Target="/ppt/notesMasters/notesMaster1.xml" Id="Rc1066f071353496c" /></Relationships>
</file>

<file path=ppt/notesSlides/_rels/notesSlide28.xml.rels>&#65279;<?xml version="1.0" encoding="utf-8"?><Relationships xmlns="http://schemas.openxmlformats.org/package/2006/relationships"><Relationship Type="http://schemas.openxmlformats.org/officeDocument/2006/relationships/slide" Target="/ppt/slides/slide28.xml" Id="R98765fb5e0784584" /><Relationship Type="http://schemas.openxmlformats.org/officeDocument/2006/relationships/notesMaster" Target="/ppt/notesMasters/notesMaster1.xml" Id="Rde7b7881c90f46ec" /></Relationships>
</file>

<file path=ppt/notesSlides/_rels/notesSlide29.xml.rels>&#65279;<?xml version="1.0" encoding="utf-8"?><Relationships xmlns="http://schemas.openxmlformats.org/package/2006/relationships"><Relationship Type="http://schemas.openxmlformats.org/officeDocument/2006/relationships/slide" Target="/ppt/slides/slide29.xml" Id="R777265279dd64f59" /><Relationship Type="http://schemas.openxmlformats.org/officeDocument/2006/relationships/notesMaster" Target="/ppt/notesMasters/notesMaster1.xml" Id="R29c1896d94384fae" /></Relationships>
</file>

<file path=ppt/notesSlides/_rels/notesSlide30.xml.rels>&#65279;<?xml version="1.0" encoding="utf-8"?><Relationships xmlns="http://schemas.openxmlformats.org/package/2006/relationships"><Relationship Type="http://schemas.openxmlformats.org/officeDocument/2006/relationships/slide" Target="/ppt/slides/slide30.xml" Id="R4d6ab252fb864b6a" /><Relationship Type="http://schemas.openxmlformats.org/officeDocument/2006/relationships/notesMaster" Target="/ppt/notesMasters/notesMaster1.xml" Id="Rb26841a5e1324bc5" /></Relationships>
</file>

<file path=ppt/notesSlides/_rels/notesSlide31.xml.rels>&#65279;<?xml version="1.0" encoding="utf-8"?><Relationships xmlns="http://schemas.openxmlformats.org/package/2006/relationships"><Relationship Type="http://schemas.openxmlformats.org/officeDocument/2006/relationships/slide" Target="/ppt/slides/slide31.xml" Id="R75c4c7783759447f" /><Relationship Type="http://schemas.openxmlformats.org/officeDocument/2006/relationships/notesMaster" Target="/ppt/notesMasters/notesMaster1.xml" Id="R7cac608b83d54104" /></Relationships>
</file>

<file path=ppt/notesSlides/_rels/notesSlide32.xml.rels>&#65279;<?xml version="1.0" encoding="utf-8"?><Relationships xmlns="http://schemas.openxmlformats.org/package/2006/relationships"><Relationship Type="http://schemas.openxmlformats.org/officeDocument/2006/relationships/slide" Target="/ppt/slides/slide32.xml" Id="R8fabb702d7de496a" /><Relationship Type="http://schemas.openxmlformats.org/officeDocument/2006/relationships/notesMaster" Target="/ppt/notesMasters/notesMaster1.xml" Id="R5222ccfeed9146d2" /></Relationships>
</file>

<file path=ppt/notesSlides/_rels/notesSlide33.xml.rels>&#65279;<?xml version="1.0" encoding="utf-8"?><Relationships xmlns="http://schemas.openxmlformats.org/package/2006/relationships"><Relationship Type="http://schemas.openxmlformats.org/officeDocument/2006/relationships/slide" Target="/ppt/slides/slide33.xml" Id="R9776e86620c54a89" /><Relationship Type="http://schemas.openxmlformats.org/officeDocument/2006/relationships/notesMaster" Target="/ppt/notesMasters/notesMaster1.xml" Id="Rd69f02b5ed4c4b03" /></Relationships>
</file>

<file path=ppt/notesSlides/_rels/notesSlide34.xml.rels>&#65279;<?xml version="1.0" encoding="utf-8"?><Relationships xmlns="http://schemas.openxmlformats.org/package/2006/relationships"><Relationship Type="http://schemas.openxmlformats.org/officeDocument/2006/relationships/slide" Target="/ppt/slides/slide34.xml" Id="R5c88d588a37b4099" /><Relationship Type="http://schemas.openxmlformats.org/officeDocument/2006/relationships/notesMaster" Target="/ppt/notesMasters/notesMaster1.xml" Id="Ra131efa6caf44964" /></Relationships>
</file>

<file path=ppt/notesSlides/_rels/notesSlide35.xml.rels>&#65279;<?xml version="1.0" encoding="utf-8"?><Relationships xmlns="http://schemas.openxmlformats.org/package/2006/relationships"><Relationship Type="http://schemas.openxmlformats.org/officeDocument/2006/relationships/slide" Target="/ppt/slides/slide35.xml" Id="Rd938521d58c3424f" /><Relationship Type="http://schemas.openxmlformats.org/officeDocument/2006/relationships/notesMaster" Target="/ppt/notesMasters/notesMaster1.xml" Id="R910fa58d6fd240ef" /></Relationships>
</file>

<file path=ppt/notesSlides/_rels/notesSlide36.xml.rels>&#65279;<?xml version="1.0" encoding="utf-8"?><Relationships xmlns="http://schemas.openxmlformats.org/package/2006/relationships"><Relationship Type="http://schemas.openxmlformats.org/officeDocument/2006/relationships/slide" Target="/ppt/slides/slide36.xml" Id="Re4020c62d6654c55" /><Relationship Type="http://schemas.openxmlformats.org/officeDocument/2006/relationships/notesMaster" Target="/ppt/notesMasters/notesMaster1.xml" Id="Re21bc316721a43e4" /></Relationships>
</file>

<file path=ppt/notesSlides/_rels/notesSlide37.xml.rels>&#65279;<?xml version="1.0" encoding="utf-8"?><Relationships xmlns="http://schemas.openxmlformats.org/package/2006/relationships"><Relationship Type="http://schemas.openxmlformats.org/officeDocument/2006/relationships/slide" Target="/ppt/slides/slide37.xml" Id="R9b5f02aa5380484e" /><Relationship Type="http://schemas.openxmlformats.org/officeDocument/2006/relationships/notesMaster" Target="/ppt/notesMasters/notesMaster1.xml" Id="Rdd5936b79f364201" /></Relationships>
</file>

<file path=ppt/notesSlides/_rels/notesSlide38.xml.rels>&#65279;<?xml version="1.0" encoding="utf-8"?><Relationships xmlns="http://schemas.openxmlformats.org/package/2006/relationships"><Relationship Type="http://schemas.openxmlformats.org/officeDocument/2006/relationships/slide" Target="/ppt/slides/slide38.xml" Id="R18db659a77df46e4" /><Relationship Type="http://schemas.openxmlformats.org/officeDocument/2006/relationships/notesMaster" Target="/ppt/notesMasters/notesMaster1.xml" Id="R845f01af57e54901" /></Relationships>
</file>

<file path=ppt/notesSlides/_rels/notesSlide39.xml.rels>&#65279;<?xml version="1.0" encoding="utf-8"?><Relationships xmlns="http://schemas.openxmlformats.org/package/2006/relationships"><Relationship Type="http://schemas.openxmlformats.org/officeDocument/2006/relationships/slide" Target="/ppt/slides/slide39.xml" Id="R29ede7d112cf4f2c" /><Relationship Type="http://schemas.openxmlformats.org/officeDocument/2006/relationships/notesMaster" Target="/ppt/notesMasters/notesMaster1.xml" Id="R80708900284a42c7" /></Relationships>
</file>

<file path=ppt/notesSlides/_rels/notesSlide40.xml.rels>&#65279;<?xml version="1.0" encoding="utf-8"?><Relationships xmlns="http://schemas.openxmlformats.org/package/2006/relationships"><Relationship Type="http://schemas.openxmlformats.org/officeDocument/2006/relationships/slide" Target="/ppt/slides/slide40.xml" Id="R6c135269ee8f4b8d" /><Relationship Type="http://schemas.openxmlformats.org/officeDocument/2006/relationships/notesMaster" Target="/ppt/notesMasters/notesMaster1.xml" Id="R8fb05505396b406c" /></Relationships>
</file>

<file path=ppt/notesSlides/_rels/notesSlide41.xml.rels>&#65279;<?xml version="1.0" encoding="utf-8"?><Relationships xmlns="http://schemas.openxmlformats.org/package/2006/relationships"><Relationship Type="http://schemas.openxmlformats.org/officeDocument/2006/relationships/slide" Target="/ppt/slides/slide41.xml" Id="Raa5b65b77ddb45d6" /><Relationship Type="http://schemas.openxmlformats.org/officeDocument/2006/relationships/notesMaster" Target="/ppt/notesMasters/notesMaster1.xml" Id="R1b36f1707d824507" /></Relationships>
</file>

<file path=ppt/notesSlides/_rels/notesSlide42.xml.rels>&#65279;<?xml version="1.0" encoding="utf-8"?><Relationships xmlns="http://schemas.openxmlformats.org/package/2006/relationships"><Relationship Type="http://schemas.openxmlformats.org/officeDocument/2006/relationships/slide" Target="/ppt/slides/slide42.xml" Id="R8a668b24c1e14ecb" /><Relationship Type="http://schemas.openxmlformats.org/officeDocument/2006/relationships/notesMaster" Target="/ppt/notesMasters/notesMaster1.xml" Id="R0d9298cba43d46da" /></Relationships>
</file>

<file path=ppt/notesSlides/_rels/notesSlide43.xml.rels>&#65279;<?xml version="1.0" encoding="utf-8"?><Relationships xmlns="http://schemas.openxmlformats.org/package/2006/relationships"><Relationship Type="http://schemas.openxmlformats.org/officeDocument/2006/relationships/slide" Target="/ppt/slides/slide43.xml" Id="R8e7fdf3f40324f35" /><Relationship Type="http://schemas.openxmlformats.org/officeDocument/2006/relationships/notesMaster" Target="/ppt/notesMasters/notesMaster1.xml" Id="Re7ca501fb422496b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첫 30초는 자기소개보다 오늘의 약속을 먼저 말한다: AI를 배워야 하는 이유를 불안이 아니라 문제 해결 능력으로 설명한다.</a:t>
            </a:r>
          </a:p>
          <a:p xmlns:a="http://schemas.openxmlformats.org/drawingml/2006/main">
            <a:r>
              <a:t>M사 사례는 공개 가능한 일반화된 예시로 다룬다고 선을 긋는다.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시간표를 보여주면 청중이 중간에 길을 잃지 않는다. Q&amp;A가 강의의 부록이 아니라 일부라는 점을 명확히 한다.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질문을 칭찬하고 시작한다. 오늘의 답은 특정 직무 전망보다 ‘어떤 사람이 더 오래 성장하는가’에 초점을 둔다.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정답이 없고, 이해관계자가 많고, 실패 비용이 있으며, 계속 변하는 문제가 어렵습니다.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AI를 마법처럼 소개하지 않는다. AI가 강한 조건과 약한 조건을 먼저 구분하면 신뢰가 생긴다.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PM, 디자이너, 엔지니어 모두 이 루프의 어디를 책임지는지로 역할을 설명한다.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 장표가 이후 커리큘럼 연결의 기준이다. 각 과정이 스택의 어느 층을 깊게 다루는지 연결한다.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에이전트는 ‘인간처럼 생각한다’가 아니라 ‘업무 시스템을 안전하게 호출하는 구조’로 설명한다.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Planner와 Evaluator는 직무 언어로 번역한다. PM의 요구사항, 디자이너의 상태 설계, 엔지니어의 테스트가 모두 여기에 들어간다.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수강생이 기술명을 외우는 느낌을 받지 않게 한다. 각 기술을 어떤 현업 책임과 연결하는지 강조한다.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AI를 쓰는 사람이 아니라, AI가 들어온 업무 흐름을 설계하고 검증하는 사람이 필요해집니다.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PM의 경쟁력은 AI 용어가 아니라 의사결정 구조다. AI가 판단할 기준을 만드는 사람이 PM이다.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UX 질문에 직접 답한다. AI 시대의 디자인은 예쁜 화면보다 상태와 신뢰 설계가 중요해진다.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비전공자도 빌더가 될 수 있지만, 검증 능력 없이 생성만 빠른 사람은 위험하다는 균형을 잡는다.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서비스가 커질수록 플랫폼 역할이 중요해진다. AI Native 조직은 빌더와 운영자가 함께 있어야 한다.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패션 플랫폼, 커머스, 교육, 금융, 공공 어디든 출발점은 ‘고객의 판단 비용을 줄이는 일’입니다.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무신사라는 이름을 질문에서 받았더라도, 내부 사례처럼 들리지 않게 ‘패션 플랫폼 현업에서 일반적으로 만나는 문제’로 말한다.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AI Campus Prism 발표 맥락에 맞춰 프로젝트 산출물과 지표를 강조한다.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빌더 질문에 답한다. 기획부터 구현까지를 한 사람이 다 한다는 뜻이 아니라, 흐름 전체를 이해하고 연결한다는 뜻이다.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채용 포트폴리오에서는 기능 목록보다 지표 정의가 더 강력하다. PM/디자인/개발 모두 연결된다.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AI Campus Prism의 네 과정은 서로 다른 직무가 아니라 하나의 AI 서비스 운영 체인을 나눠 배웁니다.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커리큘럼 엑셀의 네 과정명을 그대로 반영한다. 과정들이 경쟁 관계가 아니라 협업 관계임을 말한다.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풀스택 과정은 비전공자 질문과 직접 연결된다. ‘한 사람이 모든 것을 완벽히’가 아니라 ‘MVP를 끝까지 이해’가 핵심이다.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RAG가 검색 프레임워크만의 문제가 아니라 데이터 플랫폼 문제임을 강조한다.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운영 관점은 초보자에게 낯설지만, 취업 이후 차이를 만드는 영역이다. AI 서비스는 데모와 운영의 간극이 크다.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보안은 마지막 체크리스트가 아니라 제품 설계의 일부라는 메시지를 준다.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AI Native의 핵심은 협업 문서다. 각 직군이 다음 직군에게 넘겨주는 산출물이 포트폴리오가 된다.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취업 질문에 이어지는 장표다. 프로젝트가 예쁘거나 화려한 것보다 의사결정이 명확해야 한다.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아래 레퍼런스들은 ‘무엇을 베꼈는가’가 아니라, 어떤 기준으로 설계 언어와 기술 언어를 정리했는가를 보여줍니다.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요청한 getdesign.md 홈페이지 캡처를 포함한다. Apple 디자인은 카피가 아니라 여백, 계층, 단일 accent 원칙으로 반영했다.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과정 페이지는 홍보 장표처럼 길게 말하지 않는다. 이후 커리큘럼 연결의 공식 링크로 둔다.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각 기술을 자세히 설명하기보다, Agentic AI를 구성하는 세 가지 축으로 설명한다.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빌더의 핵심 도구 묶음을 보여준다. 도구명이 목적을 가리지 않도록 현업 해석 문장을 읽는다.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운영과 보안을 수강생이 낯설어해도, 취업 후 AI 서비스의 생존 조건이라는 점을 강조한다.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수강생에게 구체적인 학습 행동을 준다. 강의가 영감에서 끝나지 않게 만드는 장표다.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정답처럼 단정하기보다, 앞으로 기업이 무엇을 더 자주 확인하게 될지 기준으로 답합니다.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디자인 전공자에게 ‘개발자가 되라’고 말하지 않는다. 대신 AI 제품에서 디자인의 책임이 넓어진다고 설명한다.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빌더 직무를 과대포장하지 않는다. 전문성 + 경계 이해라는 현실적인 답을 준다.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업무 변화는 위협이 아니라 역할의 추상화 수준이 올라가는 것으로 설명한다.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무신사 취업 질문에는 회사 특수 정보가 아니라 플랫폼 직무 일반론과 포트폴리오 기준으로 답한다.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Q&amp;A 첫 질문이 없으면 사전 질문 중 하나를 다시 꺼내서 시작한다.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마무리는 불안보다 실천으로 끝낸다. AI가 바꾸는 것은 사람의 가치가 아니라 배움과 책임의 방식이라는 메시지.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질문이 있으면 출처 슬라이드에서 공식 링크를 다시 안내한다.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67744fea43e4cfb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6895bfc2d78040c2" /><Relationship Type="http://schemas.openxmlformats.org/officeDocument/2006/relationships/slideLayout" Target="/ppt/slideLayouts/slideLayout1.xml" Id="R4779ebd3bd114728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4779ebd3bd114728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c5419257cba441e" /><Relationship Type="http://schemas.openxmlformats.org/officeDocument/2006/relationships/notesSlide" Target="/ppt/notesSlides/notesSlide1.xml" Id="Re8001a0a7b3e4d51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c87e981fac3424b" /><Relationship Type="http://schemas.openxmlformats.org/officeDocument/2006/relationships/notesSlide" Target="/ppt/notesSlides/notesSlide2.xml" Id="Rfb1fd8e214824020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396f73a4be44961" /><Relationship Type="http://schemas.openxmlformats.org/officeDocument/2006/relationships/notesSlide" Target="/ppt/notesSlides/notesSlide3.xml" Id="R9cd1474229ae4862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5c6881641134e4a" /><Relationship Type="http://schemas.openxmlformats.org/officeDocument/2006/relationships/notesSlide" Target="/ppt/notesSlides/notesSlide4.xml" Id="R2b48b77b9a854796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ab157d352094b47" /><Relationship Type="http://schemas.openxmlformats.org/officeDocument/2006/relationships/notesSlide" Target="/ppt/notesSlides/notesSlide5.xml" Id="Rdfdc49b060d44142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2c4d8b0f5a84e22" /><Relationship Type="http://schemas.openxmlformats.org/officeDocument/2006/relationships/notesSlide" Target="/ppt/notesSlides/notesSlide6.xml" Id="R1863b4a53adb4848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64727b989ab4b05" /><Relationship Type="http://schemas.openxmlformats.org/officeDocument/2006/relationships/notesSlide" Target="/ppt/notesSlides/notesSlide7.xml" Id="Rd5670630823441aa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3b048174eb24960" /><Relationship Type="http://schemas.openxmlformats.org/officeDocument/2006/relationships/notesSlide" Target="/ppt/notesSlides/notesSlide8.xml" Id="R562b7b61051443dd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68b2df8300c461c" /><Relationship Type="http://schemas.openxmlformats.org/officeDocument/2006/relationships/notesSlide" Target="/ppt/notesSlides/notesSlide9.xml" Id="Re5571a1c52d54f82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0aaa5a07ed24062" /><Relationship Type="http://schemas.openxmlformats.org/officeDocument/2006/relationships/notesSlide" Target="/ppt/notesSlides/notesSlide10.xml" Id="Ree7070a7dacc4509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7bbb1400ad4428d" /><Relationship Type="http://schemas.openxmlformats.org/officeDocument/2006/relationships/notesSlide" Target="/ppt/notesSlides/notesSlide11.xml" Id="Rcbe80769e1a34243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9b854c606954547" /><Relationship Type="http://schemas.openxmlformats.org/officeDocument/2006/relationships/notesSlide" Target="/ppt/notesSlides/notesSlide12.xml" Id="Rb129688cc20f434c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f3129f1b321472c" /><Relationship Type="http://schemas.openxmlformats.org/officeDocument/2006/relationships/notesSlide" Target="/ppt/notesSlides/notesSlide13.xml" Id="R62d6d9f886974774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42a4dde2cd64399" /><Relationship Type="http://schemas.openxmlformats.org/officeDocument/2006/relationships/notesSlide" Target="/ppt/notesSlides/notesSlide14.xml" Id="Re975540dcc0448f4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ffaffbf46f04523" /><Relationship Type="http://schemas.openxmlformats.org/officeDocument/2006/relationships/notesSlide" Target="/ppt/notesSlides/notesSlide15.xml" Id="R95e5fee97fa54bcb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f08cc344b7e4953" /><Relationship Type="http://schemas.openxmlformats.org/officeDocument/2006/relationships/notesSlide" Target="/ppt/notesSlides/notesSlide16.xml" Id="R7cbd954ae115420c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56f0431eb4f41fe" /><Relationship Type="http://schemas.openxmlformats.org/officeDocument/2006/relationships/notesSlide" Target="/ppt/notesSlides/notesSlide17.xml" Id="R21dc15aeb46941c1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bbfd32d1b8f4956" /><Relationship Type="http://schemas.openxmlformats.org/officeDocument/2006/relationships/notesSlide" Target="/ppt/notesSlides/notesSlide18.xml" Id="R7c8c6fcb8ac7427a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fbe52ae36c0413a" /><Relationship Type="http://schemas.openxmlformats.org/officeDocument/2006/relationships/notesSlide" Target="/ppt/notesSlides/notesSlide19.xml" Id="Rfe3496193de84fc3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51a61ef2c60438f" /><Relationship Type="http://schemas.openxmlformats.org/officeDocument/2006/relationships/notesSlide" Target="/ppt/notesSlides/notesSlide20.xml" Id="R2fe699968bd34c2e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30d0e550723428e" /><Relationship Type="http://schemas.openxmlformats.org/officeDocument/2006/relationships/notesSlide" Target="/ppt/notesSlides/notesSlide21.xml" Id="R51ae855d05c5491b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5e6c2f09bfe46af" /><Relationship Type="http://schemas.openxmlformats.org/officeDocument/2006/relationships/notesSlide" Target="/ppt/notesSlides/notesSlide22.xml" Id="Rc35252c5b80a4c5b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77cb108ef6e49ec" /><Relationship Type="http://schemas.openxmlformats.org/officeDocument/2006/relationships/notesSlide" Target="/ppt/notesSlides/notesSlide23.xml" Id="Rc1849f9716334df4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88f2ce1fd7f49e2" /><Relationship Type="http://schemas.openxmlformats.org/officeDocument/2006/relationships/notesSlide" Target="/ppt/notesSlides/notesSlide24.xml" Id="R87fa97a23b0b4c9a" /></Relationships>
</file>

<file path=ppt/slides/_rels/slide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161b511179d4dcd" /><Relationship Type="http://schemas.openxmlformats.org/officeDocument/2006/relationships/notesSlide" Target="/ppt/notesSlides/notesSlide25.xml" Id="Rcafa2af94ef04b81" /></Relationships>
</file>

<file path=ppt/slides/_rels/slide2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8b6ac1dbab04414" /><Relationship Type="http://schemas.openxmlformats.org/officeDocument/2006/relationships/notesSlide" Target="/ppt/notesSlides/notesSlide26.xml" Id="R88c8e980f7534019" /></Relationships>
</file>

<file path=ppt/slides/_rels/slide2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bcb821ae0164362" /><Relationship Type="http://schemas.openxmlformats.org/officeDocument/2006/relationships/notesSlide" Target="/ppt/notesSlides/notesSlide27.xml" Id="Rae31477ae7914b95" /></Relationships>
</file>

<file path=ppt/slides/_rels/slide2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9205404d69647da" /><Relationship Type="http://schemas.openxmlformats.org/officeDocument/2006/relationships/notesSlide" Target="/ppt/notesSlides/notesSlide28.xml" Id="R969366269c8b4bc7" /></Relationships>
</file>

<file path=ppt/slides/_rels/slide2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3532a02f7e1499e" /><Relationship Type="http://schemas.openxmlformats.org/officeDocument/2006/relationships/notesSlide" Target="/ppt/notesSlides/notesSlide29.xml" Id="Rc19bdfbf06774a6c" /></Relationships>
</file>

<file path=ppt/slides/_rels/slide3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370ffb8a3904693" /><Relationship Type="http://schemas.openxmlformats.org/officeDocument/2006/relationships/image" Target="/ppt/media/image.png" Id="Rd4178fdbfdb34080" /><Relationship Type="http://schemas.openxmlformats.org/officeDocument/2006/relationships/notesSlide" Target="/ppt/notesSlides/notesSlide30.xml" Id="R648c7c8042bc4fbf" /></Relationships>
</file>

<file path=ppt/slides/_rels/slide3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1ecfd5766bb4f31" /><Relationship Type="http://schemas.openxmlformats.org/officeDocument/2006/relationships/image" Target="/ppt/media/image2.png" Id="Rd0ffae2d9f8f4cde" /><Relationship Type="http://schemas.openxmlformats.org/officeDocument/2006/relationships/notesSlide" Target="/ppt/notesSlides/notesSlide31.xml" Id="Rd2172677d66745a1" /></Relationships>
</file>

<file path=ppt/slides/_rels/slide3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151aa301fd743f3" /><Relationship Type="http://schemas.openxmlformats.org/officeDocument/2006/relationships/image" Target="/ppt/media/image3.png" Id="Rdbebe825a9934b86" /><Relationship Type="http://schemas.openxmlformats.org/officeDocument/2006/relationships/image" Target="/ppt/media/image4.png" Id="R3778a49a120248a9" /><Relationship Type="http://schemas.openxmlformats.org/officeDocument/2006/relationships/image" Target="/ppt/media/image5.png" Id="Re1edbbebe55b4171" /><Relationship Type="http://schemas.openxmlformats.org/officeDocument/2006/relationships/notesSlide" Target="/ppt/notesSlides/notesSlide32.xml" Id="R73d08ccfa60e48b4" /></Relationships>
</file>

<file path=ppt/slides/_rels/slide3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d1f7cf8852f4e20" /><Relationship Type="http://schemas.openxmlformats.org/officeDocument/2006/relationships/image" Target="/ppt/media/image6.png" Id="R2432e5c1e6b54820" /><Relationship Type="http://schemas.openxmlformats.org/officeDocument/2006/relationships/image" Target="/ppt/media/image7.png" Id="R3aae5509712341be" /><Relationship Type="http://schemas.openxmlformats.org/officeDocument/2006/relationships/image" Target="/ppt/media/image8.png" Id="Re7fb5cf75c3c484a" /><Relationship Type="http://schemas.openxmlformats.org/officeDocument/2006/relationships/image" Target="/ppt/media/image9.png" Id="R4ae0526c847248e4" /><Relationship Type="http://schemas.openxmlformats.org/officeDocument/2006/relationships/notesSlide" Target="/ppt/notesSlides/notesSlide33.xml" Id="Re084984a29344813" /></Relationships>
</file>

<file path=ppt/slides/_rels/slide3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5121718a82042be" /><Relationship Type="http://schemas.openxmlformats.org/officeDocument/2006/relationships/image" Target="/ppt/media/image10.png" Id="R335f536af6a24b19" /><Relationship Type="http://schemas.openxmlformats.org/officeDocument/2006/relationships/image" Target="/ppt/media/image11.png" Id="Rd318f1b2a92f42b1" /><Relationship Type="http://schemas.openxmlformats.org/officeDocument/2006/relationships/notesSlide" Target="/ppt/notesSlides/notesSlide34.xml" Id="Re9177b5db5834874" /></Relationships>
</file>

<file path=ppt/slides/_rels/slide3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99b386421b34f2b" /><Relationship Type="http://schemas.openxmlformats.org/officeDocument/2006/relationships/notesSlide" Target="/ppt/notesSlides/notesSlide35.xml" Id="Rc31c39a372da4be0" /></Relationships>
</file>

<file path=ppt/slides/_rels/slide3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011636038784f1c" /><Relationship Type="http://schemas.openxmlformats.org/officeDocument/2006/relationships/notesSlide" Target="/ppt/notesSlides/notesSlide36.xml" Id="Rd92f96b564174de5" /></Relationships>
</file>

<file path=ppt/slides/_rels/slide3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67601e27ebc4c51" /><Relationship Type="http://schemas.openxmlformats.org/officeDocument/2006/relationships/notesSlide" Target="/ppt/notesSlides/notesSlide37.xml" Id="Rc50cb474f7be4784" /></Relationships>
</file>

<file path=ppt/slides/_rels/slide3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2e2b001124540b1" /><Relationship Type="http://schemas.openxmlformats.org/officeDocument/2006/relationships/notesSlide" Target="/ppt/notesSlides/notesSlide38.xml" Id="R24a3a51a8f7443d0" /></Relationships>
</file>

<file path=ppt/slides/_rels/slide3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529446a56f54125" /><Relationship Type="http://schemas.openxmlformats.org/officeDocument/2006/relationships/notesSlide" Target="/ppt/notesSlides/notesSlide39.xml" Id="R991d7ae9f0dd4ab4" /></Relationships>
</file>

<file path=ppt/slides/_rels/slide4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6ca454aa42e400a" /><Relationship Type="http://schemas.openxmlformats.org/officeDocument/2006/relationships/notesSlide" Target="/ppt/notesSlides/notesSlide40.xml" Id="Rd37ffb8216d64567" /></Relationships>
</file>

<file path=ppt/slides/_rels/slide4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c4c87e886614ecb" /><Relationship Type="http://schemas.openxmlformats.org/officeDocument/2006/relationships/notesSlide" Target="/ppt/notesSlides/notesSlide41.xml" Id="R3c70572f7f3044f3" /></Relationships>
</file>

<file path=ppt/slides/_rels/slide4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fad387463fa4b87" /><Relationship Type="http://schemas.openxmlformats.org/officeDocument/2006/relationships/notesSlide" Target="/ppt/notesSlides/notesSlide42.xml" Id="R0ddec4a532c143ce" /></Relationships>
</file>

<file path=ppt/slides/_rels/slide4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3d942fb459247b3" /><Relationship Type="http://schemas.openxmlformats.org/officeDocument/2006/relationships/notesSlide" Target="/ppt/notesSlides/notesSlide43.xml" Id="R461aa2d232274f07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3050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cover-right-panel">
            <a:extLst xmlns:a="http://schemas.openxmlformats.org/drawingml/2006/main">
              <a:ext uri="{FF2B5EF4-FFF2-40B4-BE49-F238E27FC236}">
                <a16:creationId xmlns:a16="http://schemas.microsoft.com/office/drawing/2014/main" id="{D5AFAF21-18F7-4170-AE90-D809C33D05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609600"/>
            <a:ext cx="2876550" cy="5143500"/>
          </a:xfrm>
          <a:prstGeom xmlns:a="http://schemas.openxmlformats.org/drawingml/2006/main" prst="roundRect">
            <a:avLst>
              <a:gd name="adj" fmla="val 5298"/>
            </a:avLst>
          </a:prstGeom>
          <a:solidFill xmlns:a="http://schemas.openxmlformats.org/drawingml/2006/main">
            <a:srgbClr val="101827"/>
          </a:solidFill>
          <a:ln xmlns:a="http://schemas.openxmlformats.org/drawingml/2006/main" w="9525">
            <a:solidFill>
              <a:srgbClr val="263449"/>
            </a:solidFill>
            <a:prstDash val="solid"/>
          </a:ln>
        </p:spPr>
      </p:sp>
      <p:sp>
        <p:nvSpPr>
          <p:cNvPr id="2" name="cover-accent-line">
            <a:extLst xmlns:a="http://schemas.openxmlformats.org/drawingml/2006/main">
              <a:ext uri="{FF2B5EF4-FFF2-40B4-BE49-F238E27FC236}">
                <a16:creationId xmlns:a16="http://schemas.microsoft.com/office/drawing/2014/main" id="{D17FC97B-B142-457D-95F9-0A74FDEF2A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609600"/>
            <a:ext cx="28765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D7EA"/>
          </a:solidFill>
          <a:ln xmlns:a="http://schemas.openxmlformats.org/drawingml/2006/main" w="9525">
            <a:solidFill>
              <a:srgbClr val="C7D7EA"/>
            </a:solidFill>
            <a:prstDash val="solid"/>
          </a:ln>
        </p:spPr>
      </p:sp>
      <p:sp>
        <p:nvSpPr>
          <p:cNvPr id="3" name="cover-eyebrow">
            <a:extLst xmlns:a="http://schemas.openxmlformats.org/drawingml/2006/main">
              <a:ext uri="{FF2B5EF4-FFF2-40B4-BE49-F238E27FC236}">
                <a16:creationId xmlns:a16="http://schemas.microsoft.com/office/drawing/2014/main" id="{4E501828-6167-4CF9-BBA9-3ACEADF16A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975" b="1">
                <a:solidFill>
                  <a:srgbClr val="9CA8B8"/>
                </a:solidFill>
                <a:latin typeface="NanumSquare"/>
                <a:ea typeface="NanumSquare"/>
                <a:cs typeface="NanumSquare"/>
              </a:defRPr>
            </a:pPr>
            <a:r>
              <a:rPr sz="975" b="1">
                <a:solidFill>
                  <a:srgbClr val="9CA8B8"/>
                </a:solidFill>
                <a:latin typeface="NanumSquare"/>
                <a:ea typeface="NanumSquare"/>
                <a:cs typeface="NanumSquare"/>
              </a:rPr>
              <a:t>GOORM AI CAMPUS PRISM</a:t>
            </a:r>
          </a:p>
        </p:txBody>
      </p:sp>
      <p:sp>
        <p:nvSpPr>
          <p:cNvPr id="4" name="cover-title-1">
            <a:extLst xmlns:a="http://schemas.openxmlformats.org/drawingml/2006/main">
              <a:ext uri="{FF2B5EF4-FFF2-40B4-BE49-F238E27FC236}">
                <a16:creationId xmlns:a16="http://schemas.microsoft.com/office/drawing/2014/main" id="{772520BF-D242-461A-AF90-CE0E22657F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09700"/>
            <a:ext cx="6858000" cy="1295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4050" b="1">
                <a:solidFill>
                  <a:srgbClr val="FFFFFF"/>
                </a:solidFill>
                <a:latin typeface="NanumSquare"/>
                <a:ea typeface="NanumSquare"/>
                <a:cs typeface="NanumSquare"/>
              </a:defRPr>
            </a:pPr>
            <a:r>
              <a:rPr sz="4050" b="1">
                <a:solidFill>
                  <a:srgbClr val="FFFFFF"/>
                </a:solidFill>
                <a:latin typeface="NanumSquare"/>
                <a:ea typeface="NanumSquare"/>
                <a:cs typeface="NanumSquare"/>
              </a:rPr>
              <a:t>어려운 문제를 AI로</a:t>
            </a:r>
          </a:p>
          <a:p xmlns:a="http://schemas.openxmlformats.org/drawingml/2006/main">
            <a:pPr algn="l">
              <a:lnSpc>
                <a:spcPct val="102000"/>
              </a:lnSpc>
              <a:buNone/>
              <a:defRPr sz="4050" b="1">
                <a:solidFill>
                  <a:srgbClr val="FFFFFF"/>
                </a:solidFill>
                <a:latin typeface="NanumSquare"/>
                <a:ea typeface="NanumSquare"/>
                <a:cs typeface="NanumSquare"/>
              </a:defRPr>
            </a:pPr>
            <a:r>
              <a:rPr sz="4050" b="1">
                <a:solidFill>
                  <a:srgbClr val="FFFFFF"/>
                </a:solidFill>
                <a:latin typeface="NanumSquare"/>
                <a:ea typeface="NanumSquare"/>
                <a:cs typeface="NanumSquare"/>
              </a:rPr>
              <a:t>해결하는 전문가</a:t>
            </a:r>
          </a:p>
        </p:txBody>
      </p:sp>
      <p:sp>
        <p:nvSpPr>
          <p:cNvPr id="5" name="cover-title-2">
            <a:extLst xmlns:a="http://schemas.openxmlformats.org/drawingml/2006/main">
              <a:ext uri="{FF2B5EF4-FFF2-40B4-BE49-F238E27FC236}">
                <a16:creationId xmlns:a16="http://schemas.microsoft.com/office/drawing/2014/main" id="{B31C0F6A-210C-469C-BE64-7883AD3389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76550"/>
            <a:ext cx="685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3150" b="1">
                <a:solidFill>
                  <a:srgbClr val="C7D7EA"/>
                </a:solidFill>
                <a:latin typeface="NanumSquare"/>
                <a:ea typeface="NanumSquare"/>
                <a:cs typeface="NanumSquare"/>
              </a:defRPr>
            </a:pPr>
            <a:r>
              <a:rPr sz="3150" b="1">
                <a:solidFill>
                  <a:srgbClr val="C7D7EA"/>
                </a:solidFill>
                <a:latin typeface="NanumSquare"/>
                <a:ea typeface="NanumSquare"/>
                <a:cs typeface="NanumSquare"/>
              </a:rPr>
              <a:t>AI로 더 나아진 세상을!</a:t>
            </a:r>
          </a:p>
        </p:txBody>
      </p:sp>
      <p:sp>
        <p:nvSpPr>
          <p:cNvPr id="6" name="cover-meta">
            <a:extLst xmlns:a="http://schemas.openxmlformats.org/drawingml/2006/main">
              <a:ext uri="{FF2B5EF4-FFF2-40B4-BE49-F238E27FC236}">
                <a16:creationId xmlns:a16="http://schemas.microsoft.com/office/drawing/2014/main" id="{668CA744-7BE7-4D2B-96E7-2B76D2C023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790950"/>
            <a:ext cx="495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275" b="1">
                <a:solidFill>
                  <a:srgbClr val="D7DEE8"/>
                </a:solidFill>
                <a:latin typeface="NanumSquare"/>
                <a:ea typeface="NanumSquare"/>
                <a:cs typeface="NanumSquare"/>
              </a:defRPr>
            </a:pPr>
            <a:r>
              <a:rPr sz="1275" b="1">
                <a:solidFill>
                  <a:srgbClr val="D7DEE8"/>
                </a:solidFill>
                <a:latin typeface="NanumSquare"/>
                <a:ea typeface="NanumSquare"/>
                <a:cs typeface="NanumSquare"/>
              </a:rPr>
              <a:t>20260701(수) 19:00-20:00 차성재</a:t>
            </a:r>
          </a:p>
        </p:txBody>
      </p:sp>
      <p:sp>
        <p:nvSpPr>
          <p:cNvPr id="7" name="cover-meta-role">
            <a:extLst xmlns:a="http://schemas.openxmlformats.org/drawingml/2006/main">
              <a:ext uri="{FF2B5EF4-FFF2-40B4-BE49-F238E27FC236}">
                <a16:creationId xmlns:a16="http://schemas.microsoft.com/office/drawing/2014/main" id="{A5FB3B82-02BB-4AE9-ACD2-657446F906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76700"/>
            <a:ext cx="5334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050" b="1">
                <a:solidFill>
                  <a:srgbClr val="B7C2D1"/>
                </a:solidFill>
                <a:latin typeface="NanumSquare"/>
                <a:ea typeface="NanumSquare"/>
                <a:cs typeface="NanumSquare"/>
              </a:defRPr>
            </a:pPr>
            <a:r>
              <a:rPr sz="1050" b="1">
                <a:solidFill>
                  <a:srgbClr val="B7C2D1"/>
                </a:solidFill>
                <a:latin typeface="NanumSquare"/>
                <a:ea typeface="NanumSquare"/>
                <a:cs typeface="NanumSquare"/>
              </a:rPr>
              <a:t>(패션 플랫폼 M사 Agentic AI PM, 시립대/아주대 AI 부문 겸임교수)</a:t>
            </a:r>
          </a:p>
        </p:txBody>
      </p:sp>
      <p:sp>
        <p:nvSpPr>
          <p:cNvPr id="8" name="cover-pill">
            <a:extLst xmlns:a="http://schemas.openxmlformats.org/drawingml/2006/main">
              <a:ext uri="{FF2B5EF4-FFF2-40B4-BE49-F238E27FC236}">
                <a16:creationId xmlns:a16="http://schemas.microsoft.com/office/drawing/2014/main" id="{32D72FD3-778E-4156-93CC-F168E6023C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33900"/>
            <a:ext cx="2476500" cy="3810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A2342"/>
          </a:solidFill>
          <a:ln xmlns:a="http://schemas.openxmlformats.org/drawingml/2006/main" w="9525">
            <a:solidFill>
              <a:srgbClr val="284565"/>
            </a:solidFill>
            <a:prstDash val="solid"/>
          </a:ln>
        </p:spPr>
      </p:sp>
      <p:sp>
        <p:nvSpPr>
          <p:cNvPr id="9" name="cover-pill-text">
            <a:extLst xmlns:a="http://schemas.openxmlformats.org/drawingml/2006/main">
              <a:ext uri="{FF2B5EF4-FFF2-40B4-BE49-F238E27FC236}">
                <a16:creationId xmlns:a16="http://schemas.microsoft.com/office/drawing/2014/main" id="{7F086843-1EBA-4702-8B2B-6C4E898FA2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33900"/>
            <a:ext cx="2476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ct val="118000"/>
              </a:lnSpc>
              <a:buNone/>
              <a:defRPr sz="1050" b="1">
                <a:solidFill>
                  <a:srgbClr val="FFFFFF"/>
                </a:solidFill>
                <a:latin typeface="NanumSquare"/>
                <a:ea typeface="NanumSquare"/>
                <a:cs typeface="NanumSquare"/>
              </a:defRPr>
            </a:pPr>
            <a:r>
              <a:rPr sz="1050" b="1">
                <a:solidFill>
                  <a:srgbClr val="FFFFFF"/>
                </a:solidFill>
                <a:latin typeface="NanumSquare"/>
                <a:ea typeface="NanumSquare"/>
                <a:cs typeface="NanumSquare"/>
              </a:rPr>
              <a:t>AI Campus Prism 사전 특강</a:t>
            </a:r>
          </a:p>
        </p:txBody>
      </p:sp>
      <p:sp>
        <p:nvSpPr>
          <p:cNvPr id="10" name="cover-subcopy">
            <a:extLst xmlns:a="http://schemas.openxmlformats.org/drawingml/2006/main">
              <a:ext uri="{FF2B5EF4-FFF2-40B4-BE49-F238E27FC236}">
                <a16:creationId xmlns:a16="http://schemas.microsoft.com/office/drawing/2014/main" id="{EF2E898B-6929-49AE-9E57-836732DA78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05400"/>
            <a:ext cx="685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200" b="0">
                <a:solidFill>
                  <a:srgbClr val="AEB8C6"/>
                </a:solidFill>
                <a:latin typeface="NanumSquare"/>
                <a:ea typeface="NanumSquare"/>
                <a:cs typeface="NanumSquare"/>
              </a:defRPr>
            </a:pPr>
            <a:r>
              <a:rPr sz="1200" b="0">
                <a:solidFill>
                  <a:srgbClr val="AEB8C6"/>
                </a:solidFill>
                <a:latin typeface="NanumSquare"/>
                <a:ea typeface="NanumSquare"/>
                <a:cs typeface="NanumSquare"/>
              </a:rPr>
              <a:t>기획·디자인·개발·데이터·인프라·보안이 AI Native로 연결되는 60분</a:t>
            </a:r>
          </a:p>
        </p:txBody>
      </p:sp>
      <p:sp>
        <p:nvSpPr>
          <p:cNvPr id="11" name="cover-ai-native">
            <a:extLst xmlns:a="http://schemas.openxmlformats.org/drawingml/2006/main">
              <a:ext uri="{FF2B5EF4-FFF2-40B4-BE49-F238E27FC236}">
                <a16:creationId xmlns:a16="http://schemas.microsoft.com/office/drawing/2014/main" id="{14BDE99A-70F4-428E-9674-D9292837C0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1447800"/>
            <a:ext cx="200025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3450" b="1">
                <a:solidFill>
                  <a:srgbClr val="FFFFFF"/>
                </a:solidFill>
                <a:latin typeface="NanumSquare"/>
                <a:ea typeface="NanumSquare"/>
                <a:cs typeface="NanumSquare"/>
              </a:defRPr>
            </a:pPr>
            <a:r>
              <a:rPr sz="3450" b="1">
                <a:solidFill>
                  <a:srgbClr val="FFFFFF"/>
                </a:solidFill>
                <a:latin typeface="NanumSquare"/>
                <a:ea typeface="NanumSquare"/>
                <a:cs typeface="NanumSquare"/>
              </a:rPr>
              <a:t>AI</a:t>
            </a:r>
          </a:p>
          <a:p xmlns:a="http://schemas.openxmlformats.org/drawingml/2006/main">
            <a:pPr algn="ctr">
              <a:lnSpc>
                <a:spcPct val="102000"/>
              </a:lnSpc>
              <a:buNone/>
              <a:defRPr sz="3450" b="1">
                <a:solidFill>
                  <a:srgbClr val="FFFFFF"/>
                </a:solidFill>
                <a:latin typeface="NanumSquare"/>
                <a:ea typeface="NanumSquare"/>
                <a:cs typeface="NanumSquare"/>
              </a:defRPr>
            </a:pPr>
            <a:r>
              <a:rPr sz="3450" b="1">
                <a:solidFill>
                  <a:srgbClr val="FFFFFF"/>
                </a:solidFill>
                <a:latin typeface="NanumSquare"/>
                <a:ea typeface="NanumSquare"/>
                <a:cs typeface="NanumSquare"/>
              </a:rPr>
              <a:t>Native</a:t>
            </a:r>
          </a:p>
        </p:txBody>
      </p:sp>
      <p:sp>
        <p:nvSpPr>
          <p:cNvPr id="12" name="cover-panel-rule">
            <a:extLst xmlns:a="http://schemas.openxmlformats.org/drawingml/2006/main">
              <a:ext uri="{FF2B5EF4-FFF2-40B4-BE49-F238E27FC236}">
                <a16:creationId xmlns:a16="http://schemas.microsoft.com/office/drawing/2014/main" id="{5F8A0DE3-C15B-4425-9A53-117E6F34E3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3009900"/>
            <a:ext cx="16573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3C52"/>
          </a:solidFill>
          <a:ln xmlns:a="http://schemas.openxmlformats.org/drawingml/2006/main" w="9525">
            <a:solidFill>
              <a:srgbClr val="2D3C52"/>
            </a:solidFill>
            <a:prstDash val="solid"/>
          </a:ln>
        </p:spPr>
      </p:sp>
      <p:sp>
        <p:nvSpPr>
          <p:cNvPr id="13" name="cover-four-p">
            <a:extLst xmlns:a="http://schemas.openxmlformats.org/drawingml/2006/main">
              <a:ext uri="{FF2B5EF4-FFF2-40B4-BE49-F238E27FC236}">
                <a16:creationId xmlns:a16="http://schemas.microsoft.com/office/drawing/2014/main" id="{AC04BEB9-BAFF-4B33-B144-3556CD2923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3352800"/>
            <a:ext cx="1771650" cy="1219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ct val="136000"/>
              </a:lnSpc>
              <a:buNone/>
              <a:defRPr sz="1575" b="0">
                <a:solidFill>
                  <a:srgbClr val="C4CEDB"/>
                </a:solidFill>
                <a:latin typeface="NanumSquare"/>
                <a:ea typeface="NanumSquare"/>
                <a:cs typeface="NanumSquare"/>
              </a:defRPr>
            </a:pPr>
            <a:r>
              <a:rPr sz="1575" b="0">
                <a:solidFill>
                  <a:srgbClr val="C4CEDB"/>
                </a:solidFill>
                <a:latin typeface="NanumSquare"/>
                <a:ea typeface="NanumSquare"/>
                <a:cs typeface="NanumSquare"/>
              </a:rPr>
              <a:t>Problem</a:t>
            </a:r>
          </a:p>
          <a:p xmlns:a="http://schemas.openxmlformats.org/drawingml/2006/main">
            <a:pPr algn="ctr">
              <a:lnSpc>
                <a:spcPct val="136000"/>
              </a:lnSpc>
              <a:buNone/>
              <a:defRPr sz="1575" b="0">
                <a:solidFill>
                  <a:srgbClr val="C4CEDB"/>
                </a:solidFill>
                <a:latin typeface="NanumSquare"/>
                <a:ea typeface="NanumSquare"/>
                <a:cs typeface="NanumSquare"/>
              </a:defRPr>
            </a:pPr>
            <a:r>
              <a:rPr sz="1575" b="0">
                <a:solidFill>
                  <a:srgbClr val="C4CEDB"/>
                </a:solidFill>
                <a:latin typeface="NanumSquare"/>
                <a:ea typeface="NanumSquare"/>
                <a:cs typeface="NanumSquare"/>
              </a:rPr>
              <a:t>Product</a:t>
            </a:r>
          </a:p>
          <a:p xmlns:a="http://schemas.openxmlformats.org/drawingml/2006/main">
            <a:pPr algn="ctr">
              <a:lnSpc>
                <a:spcPct val="136000"/>
              </a:lnSpc>
              <a:buNone/>
              <a:defRPr sz="1575" b="0">
                <a:solidFill>
                  <a:srgbClr val="C4CEDB"/>
                </a:solidFill>
                <a:latin typeface="NanumSquare"/>
                <a:ea typeface="NanumSquare"/>
                <a:cs typeface="NanumSquare"/>
              </a:defRPr>
            </a:pPr>
            <a:r>
              <a:rPr sz="1575" b="0">
                <a:solidFill>
                  <a:srgbClr val="C4CEDB"/>
                </a:solidFill>
                <a:latin typeface="NanumSquare"/>
                <a:ea typeface="NanumSquare"/>
                <a:cs typeface="NanumSquare"/>
              </a:rPr>
              <a:t>Platform</a:t>
            </a:r>
          </a:p>
          <a:p xmlns:a="http://schemas.openxmlformats.org/drawingml/2006/main">
            <a:pPr algn="ctr">
              <a:lnSpc>
                <a:spcPct val="136000"/>
              </a:lnSpc>
              <a:buNone/>
              <a:defRPr sz="1575" b="0">
                <a:solidFill>
                  <a:srgbClr val="C4CEDB"/>
                </a:solidFill>
                <a:latin typeface="NanumSquare"/>
                <a:ea typeface="NanumSquare"/>
                <a:cs typeface="NanumSquare"/>
              </a:defRPr>
            </a:pPr>
            <a:r>
              <a:rPr sz="1575" b="0">
                <a:solidFill>
                  <a:srgbClr val="C4CEDB"/>
                </a:solidFill>
                <a:latin typeface="NanumSquare"/>
                <a:ea typeface="NanumSquare"/>
                <a:cs typeface="NanumSquare"/>
              </a:rPr>
              <a:t>People</a:t>
            </a:r>
          </a:p>
        </p:txBody>
      </p:sp>
      <p:sp>
        <p:nvSpPr>
          <p:cNvPr id="14" name="cover-small-label">
            <a:extLst xmlns:a="http://schemas.openxmlformats.org/drawingml/2006/main">
              <a:ext uri="{FF2B5EF4-FFF2-40B4-BE49-F238E27FC236}">
                <a16:creationId xmlns:a16="http://schemas.microsoft.com/office/drawing/2014/main" id="{55962710-067A-404B-881C-85999F92F7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5010150"/>
            <a:ext cx="209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18000"/>
              </a:lnSpc>
              <a:buNone/>
              <a:defRPr sz="975" b="0">
                <a:solidFill>
                  <a:srgbClr val="7F8EA3"/>
                </a:solidFill>
                <a:latin typeface="NanumSquare"/>
                <a:ea typeface="NanumSquare"/>
                <a:cs typeface="NanumSquare"/>
              </a:defRPr>
            </a:pPr>
            <a:r>
              <a:rPr sz="975" b="0">
                <a:solidFill>
                  <a:srgbClr val="7F8EA3"/>
                </a:solidFill>
                <a:latin typeface="NanumSquare"/>
                <a:ea typeface="NanumSquare"/>
                <a:cs typeface="NanumSquare"/>
              </a:rPr>
              <a:t>Agentic AI PM Lecture</a:t>
            </a:r>
          </a:p>
        </p:txBody>
      </p:sp>
      <p:sp>
        <p:nvSpPr>
          <p:cNvPr id="15" name="footer-left">
            <a:extLst xmlns:a="http://schemas.openxmlformats.org/drawingml/2006/main">
              <a:ext uri="{FF2B5EF4-FFF2-40B4-BE49-F238E27FC236}">
                <a16:creationId xmlns:a16="http://schemas.microsoft.com/office/drawing/2014/main" id="{2DEC1264-EB36-4ECE-9DD9-4FDEAF72F6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476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825" b="0">
                <a:solidFill>
                  <a:srgbClr val="9CA8B8"/>
                </a:solidFill>
                <a:latin typeface="NanumSquare"/>
                <a:ea typeface="NanumSquare"/>
                <a:cs typeface="NanumSquare"/>
              </a:defRPr>
            </a:pPr>
            <a:r>
              <a:rPr sz="825" b="0">
                <a:solidFill>
                  <a:srgbClr val="9CA8B8"/>
                </a:solidFill>
                <a:latin typeface="NanumSquare"/>
                <a:ea typeface="NanumSquare"/>
                <a:cs typeface="NanumSquare"/>
              </a:rPr>
              <a:t>Goorm 20260701 AI Campus Prism 사전 특강</a:t>
            </a:r>
          </a:p>
        </p:txBody>
      </p:sp>
      <p:sp>
        <p:nvSpPr>
          <p:cNvPr id="16" name="footer-page">
            <a:extLst xmlns:a="http://schemas.openxmlformats.org/drawingml/2006/main">
              <a:ext uri="{FF2B5EF4-FFF2-40B4-BE49-F238E27FC236}">
                <a16:creationId xmlns:a16="http://schemas.microsoft.com/office/drawing/2014/main" id="{C246CFB0-29ED-4445-B4D5-8F74732579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6438900"/>
            <a:ext cx="400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lnSpc>
                <a:spcPct val="118000"/>
              </a:lnSpc>
              <a:buNone/>
              <a:defRPr sz="825" b="0">
                <a:solidFill>
                  <a:srgbClr val="9CA8B8"/>
                </a:solidFill>
                <a:latin typeface="NanumSquare"/>
                <a:ea typeface="NanumSquare"/>
                <a:cs typeface="NanumSquare"/>
              </a:defRPr>
            </a:pPr>
            <a:r>
              <a:rPr sz="825" b="0">
                <a:solidFill>
                  <a:srgbClr val="9CA8B8"/>
                </a:solidFill>
                <a:latin typeface="NanumSquare"/>
                <a:ea typeface="NanumSquare"/>
                <a:cs typeface="NanumSquare"/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140416186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eyebrow">
            <a:extLst xmlns:a="http://schemas.openxmlformats.org/drawingml/2006/main">
              <a:ext uri="{FF2B5EF4-FFF2-40B4-BE49-F238E27FC236}">
                <a16:creationId xmlns:a16="http://schemas.microsoft.com/office/drawing/2014/main" id="{E97951EF-6381-49B6-8ACF-7ADF8ED255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815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975" b="1">
                <a:solidFill>
                  <a:srgbClr val="667085"/>
                </a:solidFill>
                <a:latin typeface="NanumSquare"/>
                <a:ea typeface="NanumSquare"/>
                <a:cs typeface="NanumSquare"/>
              </a:defRPr>
            </a:pPr>
            <a:r>
              <a:rPr sz="975" b="1">
                <a:solidFill>
                  <a:srgbClr val="667085"/>
                </a:solidFill>
                <a:latin typeface="NanumSquare"/>
                <a:ea typeface="NanumSquare"/>
                <a:cs typeface="NanumSquare"/>
              </a:rPr>
              <a:t>RUN OF SHOW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24FC6CEC-C51F-48D2-AB8A-24288D1301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38200"/>
            <a:ext cx="103632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2850" b="1">
                <a:solidFill>
                  <a:srgbClr val="1D1D1F"/>
                </a:solidFill>
                <a:latin typeface="NanumSquare"/>
                <a:ea typeface="NanumSquare"/>
                <a:cs typeface="NanumSquare"/>
              </a:defRPr>
            </a:pPr>
            <a:r>
              <a:rPr sz="2850" b="1">
                <a:solidFill>
                  <a:srgbClr val="1D1D1F"/>
                </a:solidFill>
                <a:latin typeface="NanumSquare"/>
                <a:ea typeface="NanumSquare"/>
                <a:cs typeface="NanumSquare"/>
              </a:rPr>
              <a:t>60분 운영안</a:t>
            </a:r>
          </a:p>
        </p:txBody>
      </p:sp>
      <p:sp>
        <p:nvSpPr>
          <p:cNvPr id="3" name="subtitle">
            <a:extLst xmlns:a="http://schemas.openxmlformats.org/drawingml/2006/main">
              <a:ext uri="{FF2B5EF4-FFF2-40B4-BE49-F238E27FC236}">
                <a16:creationId xmlns:a16="http://schemas.microsoft.com/office/drawing/2014/main" id="{058AB9E3-BCFA-4504-A911-7D48942B10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47850"/>
            <a:ext cx="103632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22000"/>
              </a:lnSpc>
              <a:buNone/>
              <a:defRPr sz="1575" b="0">
                <a:solidFill>
                  <a:srgbClr val="667085"/>
                </a:solidFill>
                <a:latin typeface="NanumSquare"/>
                <a:ea typeface="NanumSquare"/>
                <a:cs typeface="NanumSquare"/>
              </a:defRPr>
            </a:pPr>
            <a:r>
              <a:rPr sz="1575" b="0">
                <a:solidFill>
                  <a:srgbClr val="667085"/>
                </a:solidFill>
                <a:latin typeface="NanumSquare"/>
                <a:ea typeface="NanumSquare"/>
                <a:cs typeface="NanumSquare"/>
              </a:rPr>
              <a:t>45~50분은 강의, 10~15분은 사전 질문과 실시간 Q&amp;A로 구성합니다.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D061023-92C9-42E2-92D9-2CC329C212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686050"/>
            <a:ext cx="876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350" b="1">
                <a:solidFill>
                  <a:srgbClr val="0A2342"/>
                </a:solidFill>
                <a:latin typeface="NanumSquare"/>
                <a:ea typeface="NanumSquare"/>
                <a:cs typeface="NanumSquare"/>
              </a:defRPr>
            </a:pPr>
            <a:r>
              <a:rPr sz="1350" b="1">
                <a:solidFill>
                  <a:srgbClr val="0A2342"/>
                </a:solidFill>
                <a:latin typeface="NanumSquare"/>
                <a:ea typeface="NanumSquare"/>
                <a:cs typeface="NanumSquare"/>
              </a:rPr>
              <a:t>00-05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300D3C2-D7CC-427B-B28B-DE5FBD314C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2686050"/>
            <a:ext cx="1809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500" b="1">
                <a:solidFill>
                  <a:srgbClr val="1D1D1F"/>
                </a:solidFill>
                <a:latin typeface="NanumSquare"/>
                <a:ea typeface="NanumSquare"/>
                <a:cs typeface="NanumSquare"/>
              </a:defRPr>
            </a:pPr>
            <a:r>
              <a:rPr sz="1500" b="1">
                <a:solidFill>
                  <a:srgbClr val="1D1D1F"/>
                </a:solidFill>
                <a:latin typeface="NanumSquare"/>
                <a:ea typeface="NanumSquare"/>
                <a:cs typeface="NanumSquare"/>
              </a:rPr>
              <a:t>오프닝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AABD8BD-1A0F-4800-BA0B-DD98599FEB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2686050"/>
            <a:ext cx="685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350" b="0">
                <a:solidFill>
                  <a:srgbClr val="667085"/>
                </a:solidFill>
                <a:latin typeface="NanumSquare"/>
                <a:ea typeface="NanumSquare"/>
                <a:cs typeface="NanumSquare"/>
              </a:defRPr>
            </a:pPr>
            <a:r>
              <a:rPr sz="1350" b="0">
                <a:solidFill>
                  <a:srgbClr val="667085"/>
                </a:solidFill>
                <a:latin typeface="NanumSquare"/>
                <a:ea typeface="NanumSquare"/>
                <a:cs typeface="NanumSquare"/>
              </a:rPr>
              <a:t>AI가 바꾸는 문제 해결의 관점</a:t>
            </a:r>
          </a:p>
        </p:txBody>
      </p:sp>
      <p:sp>
        <p:nvSpPr>
          <p:cNvPr id="7" name="rule-0">
            <a:extLst xmlns:a="http://schemas.openxmlformats.org/drawingml/2006/main">
              <a:ext uri="{FF2B5EF4-FFF2-40B4-BE49-F238E27FC236}">
                <a16:creationId xmlns:a16="http://schemas.microsoft.com/office/drawing/2014/main" id="{6E8F2F21-5534-467A-8346-9C254E8E81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048000"/>
            <a:ext cx="99631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6242607-7561-4BD7-834B-CFD2948183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200400"/>
            <a:ext cx="876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350" b="1">
                <a:solidFill>
                  <a:srgbClr val="0A2342"/>
                </a:solidFill>
                <a:latin typeface="NanumSquare"/>
                <a:ea typeface="NanumSquare"/>
                <a:cs typeface="NanumSquare"/>
              </a:defRPr>
            </a:pPr>
            <a:r>
              <a:rPr sz="1350" b="1">
                <a:solidFill>
                  <a:srgbClr val="0A2342"/>
                </a:solidFill>
                <a:latin typeface="NanumSquare"/>
                <a:ea typeface="NanumSquare"/>
                <a:cs typeface="NanumSquare"/>
              </a:rPr>
              <a:t>05-15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8B50701-9DDA-4F9B-86BA-F96E4D47D1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3200400"/>
            <a:ext cx="1809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500" b="1">
                <a:solidFill>
                  <a:srgbClr val="1D1D1F"/>
                </a:solidFill>
                <a:latin typeface="NanumSquare"/>
                <a:ea typeface="NanumSquare"/>
                <a:cs typeface="NanumSquare"/>
              </a:defRPr>
            </a:pPr>
            <a:r>
              <a:rPr sz="1500" b="1">
                <a:solidFill>
                  <a:srgbClr val="1D1D1F"/>
                </a:solidFill>
                <a:latin typeface="NanumSquare"/>
                <a:ea typeface="NanumSquare"/>
                <a:cs typeface="NanumSquare"/>
              </a:rPr>
              <a:t>어려운 문제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682AB50-1366-4EA5-A087-BAC7598B7E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3200400"/>
            <a:ext cx="685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350" b="0">
                <a:solidFill>
                  <a:srgbClr val="667085"/>
                </a:solidFill>
                <a:latin typeface="NanumSquare"/>
                <a:ea typeface="NanumSquare"/>
                <a:cs typeface="NanumSquare"/>
              </a:defRPr>
            </a:pPr>
            <a:r>
              <a:rPr sz="1350" b="0">
                <a:solidFill>
                  <a:srgbClr val="667085"/>
                </a:solidFill>
                <a:latin typeface="NanumSquare"/>
                <a:ea typeface="NanumSquare"/>
                <a:cs typeface="NanumSquare"/>
              </a:rPr>
              <a:t>모호함, 맥락, 스케일, 리스크를 다루는 법</a:t>
            </a:r>
          </a:p>
        </p:txBody>
      </p:sp>
      <p:sp>
        <p:nvSpPr>
          <p:cNvPr id="11" name="rule-1">
            <a:extLst xmlns:a="http://schemas.openxmlformats.org/drawingml/2006/main">
              <a:ext uri="{FF2B5EF4-FFF2-40B4-BE49-F238E27FC236}">
                <a16:creationId xmlns:a16="http://schemas.microsoft.com/office/drawing/2014/main" id="{029E04CA-E6D7-410B-B0BA-A29B56DEE6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562350"/>
            <a:ext cx="99631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0B9D309-2876-410E-BAE0-BAA576AAE5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714750"/>
            <a:ext cx="876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350" b="1">
                <a:solidFill>
                  <a:srgbClr val="0A2342"/>
                </a:solidFill>
                <a:latin typeface="NanumSquare"/>
                <a:ea typeface="NanumSquare"/>
                <a:cs typeface="NanumSquare"/>
              </a:defRPr>
            </a:pPr>
            <a:r>
              <a:rPr sz="1350" b="1">
                <a:solidFill>
                  <a:srgbClr val="0A2342"/>
                </a:solidFill>
                <a:latin typeface="NanumSquare"/>
                <a:ea typeface="NanumSquare"/>
                <a:cs typeface="NanumSquare"/>
              </a:rPr>
              <a:t>15-25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0628A00-E61D-4F5D-BC10-6638D1A099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3714750"/>
            <a:ext cx="1809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500" b="1">
                <a:solidFill>
                  <a:srgbClr val="1D1D1F"/>
                </a:solidFill>
                <a:latin typeface="NanumSquare"/>
                <a:ea typeface="NanumSquare"/>
                <a:cs typeface="NanumSquare"/>
              </a:defRPr>
            </a:pPr>
            <a:r>
              <a:rPr sz="1500" b="1">
                <a:solidFill>
                  <a:srgbClr val="1D1D1F"/>
                </a:solidFill>
                <a:latin typeface="NanumSquare"/>
                <a:ea typeface="NanumSquare"/>
                <a:cs typeface="NanumSquare"/>
              </a:rPr>
              <a:t>Agentic AI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91D6BF6-7967-4D1C-846F-92EF5DE8BC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3714750"/>
            <a:ext cx="685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350" b="0">
                <a:solidFill>
                  <a:srgbClr val="667085"/>
                </a:solidFill>
                <a:latin typeface="NanumSquare"/>
                <a:ea typeface="NanumSquare"/>
                <a:cs typeface="NanumSquare"/>
              </a:defRPr>
            </a:pPr>
            <a:r>
              <a:rPr sz="1350" b="0">
                <a:solidFill>
                  <a:srgbClr val="667085"/>
                </a:solidFill>
                <a:latin typeface="NanumSquare"/>
                <a:ea typeface="NanumSquare"/>
                <a:cs typeface="NanumSquare"/>
              </a:rPr>
              <a:t>모델, 도구, 메모리, 평가, 가드레일</a:t>
            </a:r>
          </a:p>
        </p:txBody>
      </p:sp>
      <p:sp>
        <p:nvSpPr>
          <p:cNvPr id="15" name="rule-2">
            <a:extLst xmlns:a="http://schemas.openxmlformats.org/drawingml/2006/main">
              <a:ext uri="{FF2B5EF4-FFF2-40B4-BE49-F238E27FC236}">
                <a16:creationId xmlns:a16="http://schemas.microsoft.com/office/drawing/2014/main" id="{7D8663E3-0F7D-4A28-8EA1-640FAD89F4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076700"/>
            <a:ext cx="99631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F62C45A-69A7-4C69-B8AD-83C8B97103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229100"/>
            <a:ext cx="876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350" b="1">
                <a:solidFill>
                  <a:srgbClr val="0A2342"/>
                </a:solidFill>
                <a:latin typeface="NanumSquare"/>
                <a:ea typeface="NanumSquare"/>
                <a:cs typeface="NanumSquare"/>
              </a:defRPr>
            </a:pPr>
            <a:r>
              <a:rPr sz="1350" b="1">
                <a:solidFill>
                  <a:srgbClr val="0A2342"/>
                </a:solidFill>
                <a:latin typeface="NanumSquare"/>
                <a:ea typeface="NanumSquare"/>
                <a:cs typeface="NanumSquare"/>
              </a:rPr>
              <a:t>25-38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7A36CCB-F250-42DA-A714-07795F4120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4229100"/>
            <a:ext cx="1809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500" b="1">
                <a:solidFill>
                  <a:srgbClr val="1D1D1F"/>
                </a:solidFill>
                <a:latin typeface="NanumSquare"/>
                <a:ea typeface="NanumSquare"/>
                <a:cs typeface="NanumSquare"/>
              </a:defRPr>
            </a:pPr>
            <a:r>
              <a:rPr sz="1500" b="1">
                <a:solidFill>
                  <a:srgbClr val="1D1D1F"/>
                </a:solidFill>
                <a:latin typeface="NanumSquare"/>
                <a:ea typeface="NanumSquare"/>
                <a:cs typeface="NanumSquare"/>
              </a:rPr>
              <a:t>역할 변화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5B7ABDC-5958-4B81-AEC9-1104A423A0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4229100"/>
            <a:ext cx="685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350" b="0">
                <a:solidFill>
                  <a:srgbClr val="667085"/>
                </a:solidFill>
                <a:latin typeface="NanumSquare"/>
                <a:ea typeface="NanumSquare"/>
                <a:cs typeface="NanumSquare"/>
              </a:defRPr>
            </a:pPr>
            <a:r>
              <a:rPr sz="1350" b="0">
                <a:solidFill>
                  <a:srgbClr val="667085"/>
                </a:solidFill>
                <a:latin typeface="NanumSquare"/>
                <a:ea typeface="NanumSquare"/>
                <a:cs typeface="NanumSquare"/>
              </a:rPr>
              <a:t>PM, UX/UI, Engineering, AI-side가 함께 일하는 방식</a:t>
            </a:r>
          </a:p>
        </p:txBody>
      </p:sp>
      <p:sp>
        <p:nvSpPr>
          <p:cNvPr id="19" name="rule-3">
            <a:extLst xmlns:a="http://schemas.openxmlformats.org/drawingml/2006/main">
              <a:ext uri="{FF2B5EF4-FFF2-40B4-BE49-F238E27FC236}">
                <a16:creationId xmlns:a16="http://schemas.microsoft.com/office/drawing/2014/main" id="{766E1BA0-E5E9-48BB-AEEA-CD495632AC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591050"/>
            <a:ext cx="99631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EDB640B-850E-48B2-B2B2-4AD6350816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743450"/>
            <a:ext cx="876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350" b="1">
                <a:solidFill>
                  <a:srgbClr val="0A2342"/>
                </a:solidFill>
                <a:latin typeface="NanumSquare"/>
                <a:ea typeface="NanumSquare"/>
                <a:cs typeface="NanumSquare"/>
              </a:defRPr>
            </a:pPr>
            <a:r>
              <a:rPr sz="1350" b="1">
                <a:solidFill>
                  <a:srgbClr val="0A2342"/>
                </a:solidFill>
                <a:latin typeface="NanumSquare"/>
                <a:ea typeface="NanumSquare"/>
                <a:cs typeface="NanumSquare"/>
              </a:rPr>
              <a:t>38-50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7428B0C-3026-4E24-BF00-4C412BCD50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4743450"/>
            <a:ext cx="1809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500" b="1">
                <a:solidFill>
                  <a:srgbClr val="1D1D1F"/>
                </a:solidFill>
                <a:latin typeface="NanumSquare"/>
                <a:ea typeface="NanumSquare"/>
                <a:cs typeface="NanumSquare"/>
              </a:defRPr>
            </a:pPr>
            <a:r>
              <a:rPr sz="1500" b="1">
                <a:solidFill>
                  <a:srgbClr val="1D1D1F"/>
                </a:solidFill>
                <a:latin typeface="NanumSquare"/>
                <a:ea typeface="NanumSquare"/>
                <a:cs typeface="NanumSquare"/>
              </a:rPr>
              <a:t>커리큘럼 연결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3F0B27E-221A-47A9-95D9-FB1FFC4EA8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4743450"/>
            <a:ext cx="685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350" b="0">
                <a:solidFill>
                  <a:srgbClr val="667085"/>
                </a:solidFill>
                <a:latin typeface="NanumSquare"/>
                <a:ea typeface="NanumSquare"/>
                <a:cs typeface="NanumSquare"/>
              </a:defRPr>
            </a:pPr>
            <a:r>
              <a:rPr sz="1350" b="0">
                <a:solidFill>
                  <a:srgbClr val="667085"/>
                </a:solidFill>
                <a:latin typeface="NanumSquare"/>
                <a:ea typeface="NanumSquare"/>
                <a:cs typeface="NanumSquare"/>
              </a:rPr>
              <a:t>AI Native 기술 키워드를 현업 문제로 번역</a:t>
            </a:r>
          </a:p>
        </p:txBody>
      </p:sp>
      <p:sp>
        <p:nvSpPr>
          <p:cNvPr id="23" name="rule-4">
            <a:extLst xmlns:a="http://schemas.openxmlformats.org/drawingml/2006/main">
              <a:ext uri="{FF2B5EF4-FFF2-40B4-BE49-F238E27FC236}">
                <a16:creationId xmlns:a16="http://schemas.microsoft.com/office/drawing/2014/main" id="{19F21A1E-969A-47CB-AF85-064D3509AF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5105400"/>
            <a:ext cx="99631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F4840FA-AB83-40EB-B96C-DF964E4592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5257800"/>
            <a:ext cx="876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350" b="1">
                <a:solidFill>
                  <a:srgbClr val="0A2342"/>
                </a:solidFill>
                <a:latin typeface="NanumSquare"/>
                <a:ea typeface="NanumSquare"/>
                <a:cs typeface="NanumSquare"/>
              </a:defRPr>
            </a:pPr>
            <a:r>
              <a:rPr sz="1350" b="1">
                <a:solidFill>
                  <a:srgbClr val="0A2342"/>
                </a:solidFill>
                <a:latin typeface="NanumSquare"/>
                <a:ea typeface="NanumSquare"/>
                <a:cs typeface="NanumSquare"/>
              </a:rPr>
              <a:t>50-60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7D0CC8E-585D-47A4-A0B8-6529DB3F03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5257800"/>
            <a:ext cx="1809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500" b="1">
                <a:solidFill>
                  <a:srgbClr val="1D1D1F"/>
                </a:solidFill>
                <a:latin typeface="NanumSquare"/>
                <a:ea typeface="NanumSquare"/>
                <a:cs typeface="NanumSquare"/>
              </a:defRPr>
            </a:pPr>
            <a:r>
              <a:rPr sz="1500" b="1">
                <a:solidFill>
                  <a:srgbClr val="1D1D1F"/>
                </a:solidFill>
                <a:latin typeface="NanumSquare"/>
                <a:ea typeface="NanumSquare"/>
                <a:cs typeface="NanumSquare"/>
              </a:rPr>
              <a:t>Q&amp;A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3A9C40E-0670-472B-A029-37947DDEC8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5257800"/>
            <a:ext cx="685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350" b="0">
                <a:solidFill>
                  <a:srgbClr val="667085"/>
                </a:solidFill>
                <a:latin typeface="NanumSquare"/>
                <a:ea typeface="NanumSquare"/>
                <a:cs typeface="NanumSquare"/>
              </a:defRPr>
            </a:pPr>
            <a:r>
              <a:rPr sz="1350" b="0">
                <a:solidFill>
                  <a:srgbClr val="667085"/>
                </a:solidFill>
                <a:latin typeface="NanumSquare"/>
                <a:ea typeface="NanumSquare"/>
                <a:cs typeface="NanumSquare"/>
              </a:rPr>
              <a:t>사전 질문 4개 + 실시간 질문</a:t>
            </a:r>
          </a:p>
        </p:txBody>
      </p:sp>
      <p:sp>
        <p:nvSpPr>
          <p:cNvPr id="27" name="rule-5">
            <a:extLst xmlns:a="http://schemas.openxmlformats.org/drawingml/2006/main">
              <a:ext uri="{FF2B5EF4-FFF2-40B4-BE49-F238E27FC236}">
                <a16:creationId xmlns:a16="http://schemas.microsoft.com/office/drawing/2014/main" id="{7EB0109F-B77C-42B3-ACB1-69FF6FD57B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5619750"/>
            <a:ext cx="99631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28" name="footer-left">
            <a:extLst xmlns:a="http://schemas.openxmlformats.org/drawingml/2006/main">
              <a:ext uri="{FF2B5EF4-FFF2-40B4-BE49-F238E27FC236}">
                <a16:creationId xmlns:a16="http://schemas.microsoft.com/office/drawing/2014/main" id="{096A8933-123C-4F64-97A1-DDD19E7267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476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825" b="0">
                <a:solidFill>
                  <a:srgbClr val="667085"/>
                </a:solidFill>
                <a:latin typeface="NanumSquare"/>
                <a:ea typeface="NanumSquare"/>
                <a:cs typeface="NanumSquare"/>
              </a:defRPr>
            </a:pPr>
            <a:r>
              <a:rPr sz="825" b="0">
                <a:solidFill>
                  <a:srgbClr val="667085"/>
                </a:solidFill>
                <a:latin typeface="NanumSquare"/>
                <a:ea typeface="NanumSquare"/>
                <a:cs typeface="NanumSquare"/>
              </a:rPr>
              <a:t>Goorm 20260701 AI Campus Prism 사전 특강</a:t>
            </a:r>
          </a:p>
        </p:txBody>
      </p:sp>
      <p:sp>
        <p:nvSpPr>
          <p:cNvPr id="29" name="footer-page">
            <a:extLst xmlns:a="http://schemas.openxmlformats.org/drawingml/2006/main">
              <a:ext uri="{FF2B5EF4-FFF2-40B4-BE49-F238E27FC236}">
                <a16:creationId xmlns:a16="http://schemas.microsoft.com/office/drawing/2014/main" id="{45D39953-A084-43F6-ABE5-63C6FCCCBB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6438900"/>
            <a:ext cx="400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lnSpc>
                <a:spcPct val="118000"/>
              </a:lnSpc>
              <a:buNone/>
              <a:defRPr sz="825" b="0">
                <a:solidFill>
                  <a:srgbClr val="667085"/>
                </a:solidFill>
                <a:latin typeface="NanumSquare"/>
                <a:ea typeface="NanumSquare"/>
                <a:cs typeface="NanumSquare"/>
              </a:defRPr>
            </a:pPr>
            <a:r>
              <a:rPr sz="825" b="0">
                <a:solidFill>
                  <a:srgbClr val="667085"/>
                </a:solidFill>
                <a:latin typeface="NanumSquare"/>
                <a:ea typeface="NanumSquare"/>
                <a:cs typeface="NanumSquare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1601647098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5F6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eyebrow">
            <a:extLst xmlns:a="http://schemas.openxmlformats.org/drawingml/2006/main">
              <a:ext uri="{FF2B5EF4-FFF2-40B4-BE49-F238E27FC236}">
                <a16:creationId xmlns:a16="http://schemas.microsoft.com/office/drawing/2014/main" id="{CEF3251C-88C7-4C1C-B9A2-E9CF577A12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815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975" b="1">
                <a:solidFill>
                  <a:srgbClr val="667085"/>
                </a:solidFill>
                <a:latin typeface="NanumSquare"/>
                <a:ea typeface="NanumSquare"/>
                <a:cs typeface="NanumSquare"/>
              </a:defRPr>
            </a:pPr>
            <a:r>
              <a:rPr sz="975" b="1">
                <a:solidFill>
                  <a:srgbClr val="667085"/>
                </a:solidFill>
                <a:latin typeface="NanumSquare"/>
                <a:ea typeface="NanumSquare"/>
                <a:cs typeface="NanumSquare"/>
              </a:rPr>
              <a:t>AUDIENCE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E317BE2B-7FE5-4E4C-A21C-A2E8ED1CAC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38200"/>
            <a:ext cx="103632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2850" b="1">
                <a:solidFill>
                  <a:srgbClr val="1D1D1F"/>
                </a:solidFill>
                <a:latin typeface="NanumSquare"/>
                <a:ea typeface="NanumSquare"/>
                <a:cs typeface="NanumSquare"/>
              </a:defRPr>
            </a:pPr>
            <a:r>
              <a:rPr sz="2850" b="1">
                <a:solidFill>
                  <a:srgbClr val="1D1D1F"/>
                </a:solidFill>
                <a:latin typeface="NanumSquare"/>
                <a:ea typeface="NanumSquare"/>
                <a:cs typeface="NanumSquare"/>
              </a:rPr>
              <a:t>오늘의 청중: 이미 질문이 좋습니다</a:t>
            </a:r>
          </a:p>
        </p:txBody>
      </p:sp>
      <p:sp>
        <p:nvSpPr>
          <p:cNvPr id="3" name="subtitle">
            <a:extLst xmlns:a="http://schemas.openxmlformats.org/drawingml/2006/main">
              <a:ext uri="{FF2B5EF4-FFF2-40B4-BE49-F238E27FC236}">
                <a16:creationId xmlns:a16="http://schemas.microsoft.com/office/drawing/2014/main" id="{7C3A75DD-B38B-4FC2-82AD-8DD9921C7B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47850"/>
            <a:ext cx="103632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22000"/>
              </a:lnSpc>
              <a:buNone/>
              <a:defRPr sz="1575" b="0">
                <a:solidFill>
                  <a:srgbClr val="667085"/>
                </a:solidFill>
                <a:latin typeface="NanumSquare"/>
                <a:ea typeface="NanumSquare"/>
                <a:cs typeface="NanumSquare"/>
              </a:defRPr>
            </a:pPr>
            <a:r>
              <a:rPr sz="1575" b="0">
                <a:solidFill>
                  <a:srgbClr val="667085"/>
                </a:solidFill>
                <a:latin typeface="NanumSquare"/>
                <a:ea typeface="NanumSquare"/>
                <a:cs typeface="NanumSquare"/>
              </a:rPr>
              <a:t>사전 질문은 전공, 직무, 현업 사례, 취업 역량으로 모입니다.</a:t>
            </a:r>
          </a:p>
        </p:txBody>
      </p:sp>
      <p:sp>
        <p:nvSpPr>
          <p:cNvPr id="4" name="card-1">
            <a:extLst xmlns:a="http://schemas.openxmlformats.org/drawingml/2006/main">
              <a:ext uri="{FF2B5EF4-FFF2-40B4-BE49-F238E27FC236}">
                <a16:creationId xmlns:a16="http://schemas.microsoft.com/office/drawing/2014/main" id="{17E054BD-DC37-4B43-81B1-F90CBC5039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0"/>
            <a:ext cx="3333750" cy="2362200"/>
          </a:xfrm>
          <a:prstGeom xmlns:a="http://schemas.openxmlformats.org/drawingml/2006/main" prst="roundRect">
            <a:avLst>
              <a:gd name="adj" fmla="val 483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AA2DDB8-B7DB-4EA2-8091-4AD50B9A1A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086100"/>
            <a:ext cx="2876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200" b="1">
                <a:solidFill>
                  <a:srgbClr val="0A2342"/>
                </a:solidFill>
                <a:latin typeface="NanumSquare"/>
                <a:ea typeface="NanumSquare"/>
                <a:cs typeface="NanumSquare"/>
              </a:defRPr>
            </a:pPr>
            <a:r>
              <a:rPr sz="1200" b="1">
                <a:solidFill>
                  <a:srgbClr val="0A2342"/>
                </a:solidFill>
                <a:latin typeface="NanumSquare"/>
                <a:ea typeface="NanumSquare"/>
                <a:cs typeface="NanumSquare"/>
              </a:rPr>
              <a:t>QUESTION 01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054E22B-3BB6-4534-ACF7-69E3E51466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486150"/>
            <a:ext cx="28765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1D1D1F"/>
                </a:solidFill>
                <a:latin typeface="NanumSquare"/>
                <a:ea typeface="NanumSquare"/>
                <a:cs typeface="NanumSquare"/>
              </a:defRPr>
            </a:pPr>
            <a:r>
              <a:rPr sz="1800" b="1">
                <a:solidFill>
                  <a:srgbClr val="1D1D1F"/>
                </a:solidFill>
                <a:latin typeface="NanumSquare"/>
                <a:ea typeface="NanumSquare"/>
                <a:cs typeface="NanumSquare"/>
              </a:rPr>
              <a:t>UX 전공자는 AX 시대에 무엇을 준비해야 하나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5322D4C-5CEF-4086-9B0C-5F6F2C2C82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229100"/>
            <a:ext cx="28765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275" b="0">
                <a:solidFill>
                  <a:srgbClr val="667085"/>
                </a:solidFill>
                <a:latin typeface="NanumSquare"/>
                <a:ea typeface="NanumSquare"/>
                <a:cs typeface="NanumSquare"/>
              </a:defRPr>
            </a:pPr>
            <a:r>
              <a:rPr sz="1275" b="0">
                <a:solidFill>
                  <a:srgbClr val="667085"/>
                </a:solidFill>
                <a:latin typeface="NanumSquare"/>
                <a:ea typeface="NanumSquare"/>
                <a:cs typeface="NanumSquare"/>
              </a:rPr>
              <a:t>기업이 보는 역량은 화면 제작보다 문제 정의, 실험, 데이터, 프로토타이핑으로 확장됩니다.</a:t>
            </a:r>
          </a:p>
        </p:txBody>
      </p:sp>
      <p:sp>
        <p:nvSpPr>
          <p:cNvPr id="8" name="card-2">
            <a:extLst xmlns:a="http://schemas.openxmlformats.org/drawingml/2006/main">
              <a:ext uri="{FF2B5EF4-FFF2-40B4-BE49-F238E27FC236}">
                <a16:creationId xmlns:a16="http://schemas.microsoft.com/office/drawing/2014/main" id="{744E9093-6899-4720-AEEE-4EE3063917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2857500"/>
            <a:ext cx="3333750" cy="2362200"/>
          </a:xfrm>
          <a:prstGeom xmlns:a="http://schemas.openxmlformats.org/drawingml/2006/main" prst="roundRect">
            <a:avLst>
              <a:gd name="adj" fmla="val 483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E1385C7-32F7-47CE-BF06-45EF5749FF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3086100"/>
            <a:ext cx="2876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200" b="1">
                <a:solidFill>
                  <a:srgbClr val="0A2342"/>
                </a:solidFill>
                <a:latin typeface="NanumSquare"/>
                <a:ea typeface="NanumSquare"/>
                <a:cs typeface="NanumSquare"/>
              </a:defRPr>
            </a:pPr>
            <a:r>
              <a:rPr sz="1200" b="1">
                <a:solidFill>
                  <a:srgbClr val="0A2342"/>
                </a:solidFill>
                <a:latin typeface="NanumSquare"/>
                <a:ea typeface="NanumSquare"/>
                <a:cs typeface="NanumSquare"/>
              </a:rPr>
              <a:t>QUESTION 02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4636E77-7C08-4003-9B8B-87376C2167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3486150"/>
            <a:ext cx="28765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1D1D1F"/>
                </a:solidFill>
                <a:latin typeface="NanumSquare"/>
                <a:ea typeface="NanumSquare"/>
                <a:cs typeface="NanumSquare"/>
              </a:defRPr>
            </a:pPr>
            <a:r>
              <a:rPr sz="1800" b="1">
                <a:solidFill>
                  <a:srgbClr val="1D1D1F"/>
                </a:solidFill>
                <a:latin typeface="NanumSquare"/>
                <a:ea typeface="NanumSquare"/>
                <a:cs typeface="NanumSquare"/>
              </a:rPr>
              <a:t>빌더와 디자인+엔지니어링은 주류가 될까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8878E9A-BEC1-41AE-95F3-E556291716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4229100"/>
            <a:ext cx="28765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275" b="0">
                <a:solidFill>
                  <a:srgbClr val="667085"/>
                </a:solidFill>
                <a:latin typeface="NanumSquare"/>
                <a:ea typeface="NanumSquare"/>
                <a:cs typeface="NanumSquare"/>
              </a:defRPr>
            </a:pPr>
            <a:r>
              <a:rPr sz="1275" b="0">
                <a:solidFill>
                  <a:srgbClr val="667085"/>
                </a:solidFill>
                <a:latin typeface="NanumSquare"/>
                <a:ea typeface="NanumSquare"/>
                <a:cs typeface="NanumSquare"/>
              </a:rPr>
              <a:t>모든 사람이 풀스택이 되는 것은 아니지만, 경계에서 빠르게 검증하는 역할은 커집니다.</a:t>
            </a:r>
          </a:p>
        </p:txBody>
      </p:sp>
      <p:sp>
        <p:nvSpPr>
          <p:cNvPr id="12" name="card-3">
            <a:extLst xmlns:a="http://schemas.openxmlformats.org/drawingml/2006/main">
              <a:ext uri="{FF2B5EF4-FFF2-40B4-BE49-F238E27FC236}">
                <a16:creationId xmlns:a16="http://schemas.microsoft.com/office/drawing/2014/main" id="{19B76A15-3069-498D-923A-9804CC0FD0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2857500"/>
            <a:ext cx="3333750" cy="2362200"/>
          </a:xfrm>
          <a:prstGeom xmlns:a="http://schemas.openxmlformats.org/drawingml/2006/main" prst="roundRect">
            <a:avLst>
              <a:gd name="adj" fmla="val 483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DB139F0-AE47-4CFD-B21C-6658137E13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3086100"/>
            <a:ext cx="2876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200" b="1">
                <a:solidFill>
                  <a:srgbClr val="0A2342"/>
                </a:solidFill>
                <a:latin typeface="NanumSquare"/>
                <a:ea typeface="NanumSquare"/>
                <a:cs typeface="NanumSquare"/>
              </a:defRPr>
            </a:pPr>
            <a:r>
              <a:rPr sz="1200" b="1">
                <a:solidFill>
                  <a:srgbClr val="0A2342"/>
                </a:solidFill>
                <a:latin typeface="NanumSquare"/>
                <a:ea typeface="NanumSquare"/>
                <a:cs typeface="NanumSquare"/>
              </a:rPr>
              <a:t>QUESTION 03/04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32F1DC2-B429-447A-8C6B-EC3C12A5B1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3486150"/>
            <a:ext cx="28765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1D1D1F"/>
                </a:solidFill>
                <a:latin typeface="NanumSquare"/>
                <a:ea typeface="NanumSquare"/>
                <a:cs typeface="NanumSquare"/>
              </a:defRPr>
            </a:pPr>
            <a:r>
              <a:rPr sz="1800" b="1">
                <a:solidFill>
                  <a:srgbClr val="1D1D1F"/>
                </a:solidFill>
                <a:latin typeface="NanumSquare"/>
                <a:ea typeface="NanumSquare"/>
                <a:cs typeface="NanumSquare"/>
              </a:rPr>
              <a:t>직군 변화와 실제 활용 사례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666828A-EDA6-4251-9470-3FFDAAC2B5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4229100"/>
            <a:ext cx="28765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275" b="0">
                <a:solidFill>
                  <a:srgbClr val="667085"/>
                </a:solidFill>
                <a:latin typeface="NanumSquare"/>
                <a:ea typeface="NanumSquare"/>
                <a:cs typeface="NanumSquare"/>
              </a:defRPr>
            </a:pPr>
            <a:r>
              <a:rPr sz="1275" b="0">
                <a:solidFill>
                  <a:srgbClr val="667085"/>
                </a:solidFill>
                <a:latin typeface="NanumSquare"/>
                <a:ea typeface="NanumSquare"/>
                <a:cs typeface="NanumSquare"/>
              </a:rPr>
              <a:t>추천, 검색, 리뷰, 운영, 보안, 내부 지식 등 업무 자체가 AI와 다시 설계됩니다.</a:t>
            </a:r>
          </a:p>
        </p:txBody>
      </p:sp>
      <p:sp>
        <p:nvSpPr>
          <p:cNvPr id="16" name="footer-left">
            <a:extLst xmlns:a="http://schemas.openxmlformats.org/drawingml/2006/main">
              <a:ext uri="{FF2B5EF4-FFF2-40B4-BE49-F238E27FC236}">
                <a16:creationId xmlns:a16="http://schemas.microsoft.com/office/drawing/2014/main" id="{3FB1B747-EE54-40E4-90AC-CAFBD07F7E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476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825" b="0">
                <a:solidFill>
                  <a:srgbClr val="667085"/>
                </a:solidFill>
                <a:latin typeface="NanumSquare"/>
                <a:ea typeface="NanumSquare"/>
                <a:cs typeface="NanumSquare"/>
              </a:defRPr>
            </a:pPr>
            <a:r>
              <a:rPr sz="825" b="0">
                <a:solidFill>
                  <a:srgbClr val="667085"/>
                </a:solidFill>
                <a:latin typeface="NanumSquare"/>
                <a:ea typeface="NanumSquare"/>
                <a:cs typeface="NanumSquare"/>
              </a:rPr>
              <a:t>Goorm 20260701 AI Campus Prism 사전 특강</a:t>
            </a:r>
          </a:p>
        </p:txBody>
      </p:sp>
      <p:sp>
        <p:nvSpPr>
          <p:cNvPr id="17" name="footer-page">
            <a:extLst xmlns:a="http://schemas.openxmlformats.org/drawingml/2006/main">
              <a:ext uri="{FF2B5EF4-FFF2-40B4-BE49-F238E27FC236}">
                <a16:creationId xmlns:a16="http://schemas.microsoft.com/office/drawing/2014/main" id="{F70F1780-D463-4393-B1B9-4239B5A374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6438900"/>
            <a:ext cx="400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lnSpc>
                <a:spcPct val="118000"/>
              </a:lnSpc>
              <a:buNone/>
              <a:defRPr sz="825" b="0">
                <a:solidFill>
                  <a:srgbClr val="667085"/>
                </a:solidFill>
                <a:latin typeface="NanumSquare"/>
                <a:ea typeface="NanumSquare"/>
                <a:cs typeface="NanumSquare"/>
              </a:defRPr>
            </a:pPr>
            <a:r>
              <a:rPr sz="825" b="0">
                <a:solidFill>
                  <a:srgbClr val="667085"/>
                </a:solidFill>
                <a:latin typeface="NanumSquare"/>
                <a:ea typeface="NanumSquare"/>
                <a:cs typeface="NanumSquare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442511770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070B1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2E465D81-445C-4E4F-8299-4F02FFABBC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3340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975" b="1">
                <a:solidFill>
                  <a:srgbClr val="CCCCCC"/>
                </a:solidFill>
                <a:latin typeface="NanumSquare"/>
                <a:ea typeface="NanumSquare"/>
                <a:cs typeface="NanumSquare"/>
              </a:defRPr>
            </a:pPr>
            <a:r>
              <a:rPr sz="975" b="1">
                <a:solidFill>
                  <a:srgbClr val="CCCCCC"/>
                </a:solidFill>
                <a:latin typeface="NanumSquare"/>
                <a:ea typeface="NanumSquare"/>
                <a:cs typeface="NanumSquare"/>
              </a:rPr>
              <a:t>AI CAMPUS PRISM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51732DE-9B30-4969-B404-562C15150E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19300"/>
            <a:ext cx="93345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3900" b="1">
                <a:solidFill>
                  <a:srgbClr val="FFFFFF"/>
                </a:solidFill>
                <a:latin typeface="NanumSquare"/>
                <a:ea typeface="NanumSquare"/>
                <a:cs typeface="NanumSquare"/>
              </a:defRPr>
            </a:pPr>
            <a:r>
              <a:rPr sz="3900" b="1">
                <a:solidFill>
                  <a:srgbClr val="FFFFFF"/>
                </a:solidFill>
                <a:latin typeface="NanumSquare"/>
                <a:ea typeface="NanumSquare"/>
                <a:cs typeface="NanumSquare"/>
              </a:rPr>
              <a:t>어려운 문제는 기술 문제가 아닙니다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1D1F4EE-1243-4B39-A421-5929F0F9AB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67100"/>
            <a:ext cx="8382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800" b="0">
                <a:solidFill>
                  <a:srgbClr val="D6D6D6"/>
                </a:solidFill>
                <a:latin typeface="NanumSquare"/>
                <a:ea typeface="NanumSquare"/>
                <a:cs typeface="NanumSquare"/>
              </a:defRPr>
            </a:pPr>
            <a:r>
              <a:rPr sz="1800" b="0">
                <a:solidFill>
                  <a:srgbClr val="D6D6D6"/>
                </a:solidFill>
                <a:latin typeface="NanumSquare"/>
                <a:ea typeface="NanumSquare"/>
                <a:cs typeface="NanumSquare"/>
              </a:rPr>
              <a:t>정답이 없고, 이해관계자가 많고, 실패 비용이 있으며, 계속 변하는 문제가 어렵습니다.</a:t>
            </a:r>
          </a:p>
        </p:txBody>
      </p:sp>
      <p:sp>
        <p:nvSpPr>
          <p:cNvPr id="4" name="footer-left">
            <a:extLst xmlns:a="http://schemas.openxmlformats.org/drawingml/2006/main">
              <a:ext uri="{FF2B5EF4-FFF2-40B4-BE49-F238E27FC236}">
                <a16:creationId xmlns:a16="http://schemas.microsoft.com/office/drawing/2014/main" id="{8F1603C7-79A0-464C-8BFD-7C60358E74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476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825" b="0">
                <a:solidFill>
                  <a:srgbClr val="9CA8B8"/>
                </a:solidFill>
                <a:latin typeface="NanumSquare"/>
                <a:ea typeface="NanumSquare"/>
                <a:cs typeface="NanumSquare"/>
              </a:defRPr>
            </a:pPr>
            <a:r>
              <a:rPr sz="825" b="0">
                <a:solidFill>
                  <a:srgbClr val="9CA8B8"/>
                </a:solidFill>
                <a:latin typeface="NanumSquare"/>
                <a:ea typeface="NanumSquare"/>
                <a:cs typeface="NanumSquare"/>
              </a:rPr>
              <a:t>Goorm 20260701 AI Campus Prism 사전 특강</a:t>
            </a:r>
          </a:p>
        </p:txBody>
      </p:sp>
      <p:sp>
        <p:nvSpPr>
          <p:cNvPr id="5" name="footer-page">
            <a:extLst xmlns:a="http://schemas.openxmlformats.org/drawingml/2006/main">
              <a:ext uri="{FF2B5EF4-FFF2-40B4-BE49-F238E27FC236}">
                <a16:creationId xmlns:a16="http://schemas.microsoft.com/office/drawing/2014/main" id="{0785F5E0-09B4-4948-A247-AF8D224E47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6438900"/>
            <a:ext cx="400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lnSpc>
                <a:spcPct val="118000"/>
              </a:lnSpc>
              <a:buNone/>
              <a:defRPr sz="825" b="0">
                <a:solidFill>
                  <a:srgbClr val="9CA8B8"/>
                </a:solidFill>
                <a:latin typeface="NanumSquare"/>
                <a:ea typeface="NanumSquare"/>
                <a:cs typeface="NanumSquare"/>
              </a:defRPr>
            </a:pPr>
            <a:r>
              <a:rPr sz="825" b="0">
                <a:solidFill>
                  <a:srgbClr val="9CA8B8"/>
                </a:solidFill>
                <a:latin typeface="NanumSquare"/>
                <a:ea typeface="NanumSquare"/>
                <a:cs typeface="NanumSquare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174739358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eyebrow">
            <a:extLst xmlns:a="http://schemas.openxmlformats.org/drawingml/2006/main">
              <a:ext uri="{FF2B5EF4-FFF2-40B4-BE49-F238E27FC236}">
                <a16:creationId xmlns:a16="http://schemas.microsoft.com/office/drawing/2014/main" id="{A20052B4-6E2B-40DE-9AF5-82413047C1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815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975" b="1">
                <a:solidFill>
                  <a:srgbClr val="667085"/>
                </a:solidFill>
                <a:latin typeface="NanumSquare"/>
                <a:ea typeface="NanumSquare"/>
                <a:cs typeface="NanumSquare"/>
              </a:defRPr>
            </a:pPr>
            <a:r>
              <a:rPr sz="975" b="1">
                <a:solidFill>
                  <a:srgbClr val="667085"/>
                </a:solidFill>
                <a:latin typeface="NanumSquare"/>
                <a:ea typeface="NanumSquare"/>
                <a:cs typeface="NanumSquare"/>
              </a:rPr>
              <a:t>PROBLEM TYPE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233E969E-266A-429C-80F8-336AD93827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38200"/>
            <a:ext cx="103632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2850" b="1">
                <a:solidFill>
                  <a:srgbClr val="1D1D1F"/>
                </a:solidFill>
                <a:latin typeface="NanumSquare"/>
                <a:ea typeface="NanumSquare"/>
                <a:cs typeface="NanumSquare"/>
              </a:defRPr>
            </a:pPr>
            <a:r>
              <a:rPr sz="2850" b="1">
                <a:solidFill>
                  <a:srgbClr val="1D1D1F"/>
                </a:solidFill>
                <a:latin typeface="NanumSquare"/>
                <a:ea typeface="NanumSquare"/>
                <a:cs typeface="NanumSquare"/>
              </a:rPr>
              <a:t>AI가 잘 도와주는 문제의 조건</a:t>
            </a:r>
          </a:p>
        </p:txBody>
      </p:sp>
      <p:sp>
        <p:nvSpPr>
          <p:cNvPr id="3" name="subtitle">
            <a:extLst xmlns:a="http://schemas.openxmlformats.org/drawingml/2006/main">
              <a:ext uri="{FF2B5EF4-FFF2-40B4-BE49-F238E27FC236}">
                <a16:creationId xmlns:a16="http://schemas.microsoft.com/office/drawing/2014/main" id="{2DF29EA5-4DC2-4B1E-AF37-2138EE86EB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47850"/>
            <a:ext cx="103632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22000"/>
              </a:lnSpc>
              <a:buNone/>
              <a:defRPr sz="1575" b="0">
                <a:solidFill>
                  <a:srgbClr val="667085"/>
                </a:solidFill>
                <a:latin typeface="NanumSquare"/>
                <a:ea typeface="NanumSquare"/>
                <a:cs typeface="NanumSquare"/>
              </a:defRPr>
            </a:pPr>
            <a:r>
              <a:rPr sz="1575" b="0">
                <a:solidFill>
                  <a:srgbClr val="667085"/>
                </a:solidFill>
                <a:latin typeface="NanumSquare"/>
                <a:ea typeface="NanumSquare"/>
                <a:cs typeface="NanumSquare"/>
              </a:rPr>
              <a:t>AI는 답을 주는 기계가 아니라, 복잡한 탐색을 빠르게 반복하게 해주는 협업 인터페이스입니다.</a:t>
            </a:r>
          </a:p>
        </p:txBody>
      </p:sp>
      <p:sp>
        <p:nvSpPr>
          <p:cNvPr id="4" name="card-1">
            <a:extLst xmlns:a="http://schemas.openxmlformats.org/drawingml/2006/main">
              <a:ext uri="{FF2B5EF4-FFF2-40B4-BE49-F238E27FC236}">
                <a16:creationId xmlns:a16="http://schemas.microsoft.com/office/drawing/2014/main" id="{E88CA88C-C366-4E9D-B85B-991CC8C636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0"/>
            <a:ext cx="3333750" cy="2362200"/>
          </a:xfrm>
          <a:prstGeom xmlns:a="http://schemas.openxmlformats.org/drawingml/2006/main" prst="roundRect">
            <a:avLst>
              <a:gd name="adj" fmla="val 483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4FE6D53-B302-4F52-8647-354A4DA3ED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086100"/>
            <a:ext cx="2876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200" b="1">
                <a:solidFill>
                  <a:srgbClr val="0A2342"/>
                </a:solidFill>
                <a:latin typeface="NanumSquare"/>
                <a:ea typeface="NanumSquare"/>
                <a:cs typeface="NanumSquare"/>
              </a:defRPr>
            </a:pPr>
            <a:r>
              <a:rPr sz="1200" b="1">
                <a:solidFill>
                  <a:srgbClr val="0A2342"/>
                </a:solidFill>
                <a:latin typeface="NanumSquare"/>
                <a:ea typeface="NanumSquare"/>
                <a:cs typeface="NanumSquare"/>
              </a:rPr>
              <a:t>AMBIGUITY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CE04400-B1D2-4B87-9F7A-A222FC9C13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486150"/>
            <a:ext cx="28765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1D1D1F"/>
                </a:solidFill>
                <a:latin typeface="NanumSquare"/>
                <a:ea typeface="NanumSquare"/>
                <a:cs typeface="NanumSquare"/>
              </a:defRPr>
            </a:pPr>
            <a:r>
              <a:rPr sz="1800" b="1">
                <a:solidFill>
                  <a:srgbClr val="1D1D1F"/>
                </a:solidFill>
                <a:latin typeface="NanumSquare"/>
                <a:ea typeface="NanumSquare"/>
                <a:cs typeface="NanumSquare"/>
              </a:rPr>
              <a:t>요구가 모호하다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C372D32-B89F-4C21-9AD0-49AD4BCCFB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229100"/>
            <a:ext cx="28765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275" b="0">
                <a:solidFill>
                  <a:srgbClr val="667085"/>
                </a:solidFill>
                <a:latin typeface="NanumSquare"/>
                <a:ea typeface="NanumSquare"/>
                <a:cs typeface="NanumSquare"/>
              </a:defRPr>
            </a:pPr>
            <a:r>
              <a:rPr sz="1275" b="0">
                <a:solidFill>
                  <a:srgbClr val="667085"/>
                </a:solidFill>
                <a:latin typeface="NanumSquare"/>
                <a:ea typeface="NanumSquare"/>
                <a:cs typeface="NanumSquare"/>
              </a:rPr>
              <a:t>사용자 말, 문서, 로그, 리뷰에서 의도와 제약을 구조화해야 하는 문제</a:t>
            </a:r>
          </a:p>
        </p:txBody>
      </p:sp>
      <p:sp>
        <p:nvSpPr>
          <p:cNvPr id="8" name="card-2">
            <a:extLst xmlns:a="http://schemas.openxmlformats.org/drawingml/2006/main">
              <a:ext uri="{FF2B5EF4-FFF2-40B4-BE49-F238E27FC236}">
                <a16:creationId xmlns:a16="http://schemas.microsoft.com/office/drawing/2014/main" id="{5CA49776-87B6-4F53-82E7-49664D00F5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2857500"/>
            <a:ext cx="3333750" cy="2362200"/>
          </a:xfrm>
          <a:prstGeom xmlns:a="http://schemas.openxmlformats.org/drawingml/2006/main" prst="roundRect">
            <a:avLst>
              <a:gd name="adj" fmla="val 483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795B457-F22E-4DDD-B7A7-A542FE50F2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3086100"/>
            <a:ext cx="2876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200" b="1">
                <a:solidFill>
                  <a:srgbClr val="0A2342"/>
                </a:solidFill>
                <a:latin typeface="NanumSquare"/>
                <a:ea typeface="NanumSquare"/>
                <a:cs typeface="NanumSquare"/>
              </a:defRPr>
            </a:pPr>
            <a:r>
              <a:rPr sz="1200" b="1">
                <a:solidFill>
                  <a:srgbClr val="0A2342"/>
                </a:solidFill>
                <a:latin typeface="NanumSquare"/>
                <a:ea typeface="NanumSquare"/>
                <a:cs typeface="NanumSquare"/>
              </a:rPr>
              <a:t>SCALE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D5DAB7C-FF5A-4D3C-B9F2-3448BE2268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3486150"/>
            <a:ext cx="28765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1D1D1F"/>
                </a:solidFill>
                <a:latin typeface="NanumSquare"/>
                <a:ea typeface="NanumSquare"/>
                <a:cs typeface="NanumSquare"/>
              </a:defRPr>
            </a:pPr>
            <a:r>
              <a:rPr sz="1800" b="1">
                <a:solidFill>
                  <a:srgbClr val="1D1D1F"/>
                </a:solidFill>
                <a:latin typeface="NanumSquare"/>
                <a:ea typeface="NanumSquare"/>
                <a:cs typeface="NanumSquare"/>
              </a:rPr>
              <a:t>정보가 너무 많다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3A5658D-C6CA-4EC3-9388-2BC5FC1BBA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4229100"/>
            <a:ext cx="28765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275" b="0">
                <a:solidFill>
                  <a:srgbClr val="667085"/>
                </a:solidFill>
                <a:latin typeface="NanumSquare"/>
                <a:ea typeface="NanumSquare"/>
                <a:cs typeface="NanumSquare"/>
              </a:defRPr>
            </a:pPr>
            <a:r>
              <a:rPr sz="1275" b="0">
                <a:solidFill>
                  <a:srgbClr val="667085"/>
                </a:solidFill>
                <a:latin typeface="NanumSquare"/>
                <a:ea typeface="NanumSquare"/>
                <a:cs typeface="NanumSquare"/>
              </a:rPr>
              <a:t>상품, 리뷰, CS, 정책, 문서처럼 사람이 다 읽기 어려운 문제</a:t>
            </a:r>
          </a:p>
        </p:txBody>
      </p:sp>
      <p:sp>
        <p:nvSpPr>
          <p:cNvPr id="12" name="card-3">
            <a:extLst xmlns:a="http://schemas.openxmlformats.org/drawingml/2006/main">
              <a:ext uri="{FF2B5EF4-FFF2-40B4-BE49-F238E27FC236}">
                <a16:creationId xmlns:a16="http://schemas.microsoft.com/office/drawing/2014/main" id="{455D9D84-C98F-49C7-AC7D-A7A6995F8F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2857500"/>
            <a:ext cx="3333750" cy="2362200"/>
          </a:xfrm>
          <a:prstGeom xmlns:a="http://schemas.openxmlformats.org/drawingml/2006/main" prst="roundRect">
            <a:avLst>
              <a:gd name="adj" fmla="val 483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3C08CFF-5415-4191-931D-A53924F657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3086100"/>
            <a:ext cx="2876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200" b="1">
                <a:solidFill>
                  <a:srgbClr val="0A2342"/>
                </a:solidFill>
                <a:latin typeface="NanumSquare"/>
                <a:ea typeface="NanumSquare"/>
                <a:cs typeface="NanumSquare"/>
              </a:defRPr>
            </a:pPr>
            <a:r>
              <a:rPr sz="1200" b="1">
                <a:solidFill>
                  <a:srgbClr val="0A2342"/>
                </a:solidFill>
                <a:latin typeface="NanumSquare"/>
                <a:ea typeface="NanumSquare"/>
                <a:cs typeface="NanumSquare"/>
              </a:rPr>
              <a:t>FEEDBACK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2F0CEF2-E49E-4F51-9FCC-39F59CD0EC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3486150"/>
            <a:ext cx="28765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1D1D1F"/>
                </a:solidFill>
                <a:latin typeface="NanumSquare"/>
                <a:ea typeface="NanumSquare"/>
                <a:cs typeface="NanumSquare"/>
              </a:defRPr>
            </a:pPr>
            <a:r>
              <a:rPr sz="1800" b="1">
                <a:solidFill>
                  <a:srgbClr val="1D1D1F"/>
                </a:solidFill>
                <a:latin typeface="NanumSquare"/>
                <a:ea typeface="NanumSquare"/>
                <a:cs typeface="NanumSquare"/>
              </a:rPr>
              <a:t>정답이 계속 바뀐다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B459C08-F30F-492D-9AA1-A650B659C8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4229100"/>
            <a:ext cx="28765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275" b="0">
                <a:solidFill>
                  <a:srgbClr val="667085"/>
                </a:solidFill>
                <a:latin typeface="NanumSquare"/>
                <a:ea typeface="NanumSquare"/>
                <a:cs typeface="NanumSquare"/>
              </a:defRPr>
            </a:pPr>
            <a:r>
              <a:rPr sz="1275" b="0">
                <a:solidFill>
                  <a:srgbClr val="667085"/>
                </a:solidFill>
                <a:latin typeface="NanumSquare"/>
                <a:ea typeface="NanumSquare"/>
                <a:cs typeface="NanumSquare"/>
              </a:rPr>
              <a:t>추천 품질, 검색 만족도, 응답 안전성처럼 운영 중 개선해야 하는 문제</a:t>
            </a:r>
          </a:p>
        </p:txBody>
      </p:sp>
      <p:sp>
        <p:nvSpPr>
          <p:cNvPr id="16" name="footer-left">
            <a:extLst xmlns:a="http://schemas.openxmlformats.org/drawingml/2006/main">
              <a:ext uri="{FF2B5EF4-FFF2-40B4-BE49-F238E27FC236}">
                <a16:creationId xmlns:a16="http://schemas.microsoft.com/office/drawing/2014/main" id="{499D492E-DC26-46F9-A952-90FADD9E83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476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825" b="0">
                <a:solidFill>
                  <a:srgbClr val="667085"/>
                </a:solidFill>
                <a:latin typeface="NanumSquare"/>
                <a:ea typeface="NanumSquare"/>
                <a:cs typeface="NanumSquare"/>
              </a:defRPr>
            </a:pPr>
            <a:r>
              <a:rPr sz="825" b="0">
                <a:solidFill>
                  <a:srgbClr val="667085"/>
                </a:solidFill>
                <a:latin typeface="NanumSquare"/>
                <a:ea typeface="NanumSquare"/>
                <a:cs typeface="NanumSquare"/>
              </a:rPr>
              <a:t>Goorm 20260701 AI Campus Prism 사전 특강</a:t>
            </a:r>
          </a:p>
        </p:txBody>
      </p:sp>
      <p:sp>
        <p:nvSpPr>
          <p:cNvPr id="17" name="footer-page">
            <a:extLst xmlns:a="http://schemas.openxmlformats.org/drawingml/2006/main">
              <a:ext uri="{FF2B5EF4-FFF2-40B4-BE49-F238E27FC236}">
                <a16:creationId xmlns:a16="http://schemas.microsoft.com/office/drawing/2014/main" id="{75A27A04-C0D7-4FA6-9389-B8A9B7CCC0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6438900"/>
            <a:ext cx="400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lnSpc>
                <a:spcPct val="118000"/>
              </a:lnSpc>
              <a:buNone/>
              <a:defRPr sz="825" b="0">
                <a:solidFill>
                  <a:srgbClr val="667085"/>
                </a:solidFill>
                <a:latin typeface="NanumSquare"/>
                <a:ea typeface="NanumSquare"/>
                <a:cs typeface="NanumSquare"/>
              </a:defRPr>
            </a:pPr>
            <a:r>
              <a:rPr sz="825" b="0">
                <a:solidFill>
                  <a:srgbClr val="667085"/>
                </a:solidFill>
                <a:latin typeface="NanumSquare"/>
                <a:ea typeface="NanumSquare"/>
                <a:cs typeface="NanumSquare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70331688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5F6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eyebrow">
            <a:extLst xmlns:a="http://schemas.openxmlformats.org/drawingml/2006/main">
              <a:ext uri="{FF2B5EF4-FFF2-40B4-BE49-F238E27FC236}">
                <a16:creationId xmlns:a16="http://schemas.microsoft.com/office/drawing/2014/main" id="{1466AFA8-E214-4395-9109-3F67FD5A1B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815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975" b="1">
                <a:solidFill>
                  <a:srgbClr val="667085"/>
                </a:solidFill>
                <a:latin typeface="NanumSquare"/>
                <a:ea typeface="NanumSquare"/>
                <a:cs typeface="NanumSquare"/>
              </a:defRPr>
            </a:pPr>
            <a:r>
              <a:rPr sz="975" b="1">
                <a:solidFill>
                  <a:srgbClr val="667085"/>
                </a:solidFill>
                <a:latin typeface="NanumSquare"/>
                <a:ea typeface="NanumSquare"/>
                <a:cs typeface="NanumSquare"/>
              </a:rPr>
              <a:t>LOOP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5C2C1307-6584-4A59-9806-67A40C4A5D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38200"/>
            <a:ext cx="103632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2850" b="1">
                <a:solidFill>
                  <a:srgbClr val="1D1D1F"/>
                </a:solidFill>
                <a:latin typeface="NanumSquare"/>
                <a:ea typeface="NanumSquare"/>
                <a:cs typeface="NanumSquare"/>
              </a:defRPr>
            </a:pPr>
            <a:r>
              <a:rPr sz="2850" b="1">
                <a:solidFill>
                  <a:srgbClr val="1D1D1F"/>
                </a:solidFill>
                <a:latin typeface="NanumSquare"/>
                <a:ea typeface="NanumSquare"/>
                <a:cs typeface="NanumSquare"/>
              </a:rPr>
              <a:t>AI 시대의 문제 해결 루프</a:t>
            </a:r>
          </a:p>
        </p:txBody>
      </p:sp>
      <p:sp>
        <p:nvSpPr>
          <p:cNvPr id="3" name="subtitle">
            <a:extLst xmlns:a="http://schemas.openxmlformats.org/drawingml/2006/main">
              <a:ext uri="{FF2B5EF4-FFF2-40B4-BE49-F238E27FC236}">
                <a16:creationId xmlns:a16="http://schemas.microsoft.com/office/drawing/2014/main" id="{BAC731F1-84B7-4F59-A664-793507CA5E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47850"/>
            <a:ext cx="103632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22000"/>
              </a:lnSpc>
              <a:buNone/>
              <a:defRPr sz="1575" b="0">
                <a:solidFill>
                  <a:srgbClr val="667085"/>
                </a:solidFill>
                <a:latin typeface="NanumSquare"/>
                <a:ea typeface="NanumSquare"/>
                <a:cs typeface="NanumSquare"/>
              </a:defRPr>
            </a:pPr>
            <a:r>
              <a:rPr sz="1575" b="0">
                <a:solidFill>
                  <a:srgbClr val="667085"/>
                </a:solidFill>
                <a:latin typeface="NanumSquare"/>
                <a:ea typeface="NanumSquare"/>
                <a:cs typeface="NanumSquare"/>
              </a:rPr>
              <a:t>좋은 AI 제품은 한 번에 완성되지 않고, 관찰-구조화-생성-검증-운영의 루프를 빨리 돌립니다.</a:t>
            </a:r>
          </a:p>
        </p:txBody>
      </p:sp>
      <p:sp>
        <p:nvSpPr>
          <p:cNvPr id="4" name="loop-0">
            <a:extLst xmlns:a="http://schemas.openxmlformats.org/drawingml/2006/main">
              <a:ext uri="{FF2B5EF4-FFF2-40B4-BE49-F238E27FC236}">
                <a16:creationId xmlns:a16="http://schemas.microsoft.com/office/drawing/2014/main" id="{483C7A9A-5631-4532-AC68-830281E77F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028950"/>
            <a:ext cx="1752600" cy="1485900"/>
          </a:xfrm>
          <a:prstGeom xmlns:a="http://schemas.openxmlformats.org/drawingml/2006/main" prst="roundRect">
            <a:avLst>
              <a:gd name="adj" fmla="val 769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EF74718-6AAD-4ED4-A07A-DA0F4F7696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23850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500" b="1">
                <a:solidFill>
                  <a:srgbClr val="0A2342"/>
                </a:solidFill>
                <a:latin typeface="NanumSquare"/>
                <a:ea typeface="NanumSquare"/>
                <a:cs typeface="NanumSquare"/>
              </a:defRPr>
            </a:pPr>
            <a:r>
              <a:rPr sz="1500" b="1">
                <a:solidFill>
                  <a:srgbClr val="0A2342"/>
                </a:solidFill>
                <a:latin typeface="NanumSquare"/>
                <a:ea typeface="NanumSquare"/>
                <a:cs typeface="NanumSquare"/>
              </a:rPr>
              <a:t>01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2D7E903-D640-4151-AA57-9E767B01EB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638550"/>
            <a:ext cx="12954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650" b="1">
                <a:solidFill>
                  <a:srgbClr val="1D1D1F"/>
                </a:solidFill>
                <a:latin typeface="NanumSquare"/>
                <a:ea typeface="NanumSquare"/>
                <a:cs typeface="NanumSquare"/>
              </a:defRPr>
            </a:pPr>
            <a:r>
              <a:rPr sz="1650" b="1">
                <a:solidFill>
                  <a:srgbClr val="1D1D1F"/>
                </a:solidFill>
                <a:latin typeface="NanumSquare"/>
                <a:ea typeface="NanumSquare"/>
                <a:cs typeface="NanumSquare"/>
              </a:rPr>
              <a:t>Observe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5F2B637-013B-48E7-B505-E0B85DEF45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076700"/>
            <a:ext cx="12954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050" b="0">
                <a:solidFill>
                  <a:srgbClr val="667085"/>
                </a:solidFill>
                <a:latin typeface="NanumSquare"/>
                <a:ea typeface="NanumSquare"/>
                <a:cs typeface="NanumSquare"/>
              </a:defRPr>
            </a:pPr>
            <a:r>
              <a:rPr sz="1050" b="0">
                <a:solidFill>
                  <a:srgbClr val="667085"/>
                </a:solidFill>
                <a:latin typeface="NanumSquare"/>
                <a:ea typeface="NanumSquare"/>
                <a:cs typeface="NanumSquare"/>
              </a:rPr>
              <a:t>사용자/업무/데이터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050" b="0">
                <a:solidFill>
                  <a:srgbClr val="667085"/>
                </a:solidFill>
                <a:latin typeface="NanumSquare"/>
                <a:ea typeface="NanumSquare"/>
                <a:cs typeface="NanumSquare"/>
              </a:defRPr>
            </a:pPr>
            <a:r>
              <a:rPr sz="1050" b="0">
                <a:solidFill>
                  <a:srgbClr val="667085"/>
                </a:solidFill>
                <a:latin typeface="NanumSquare"/>
                <a:ea typeface="NanumSquare"/>
                <a:cs typeface="NanumSquare"/>
              </a:rPr>
              <a:t>관찰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7362FCA-0AE0-4BE5-B58C-930FCFE5C5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3600450"/>
            <a:ext cx="285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18000"/>
              </a:lnSpc>
              <a:buNone/>
              <a:defRPr sz="1875" b="0">
                <a:solidFill>
                  <a:srgbClr val="0A2342"/>
                </a:solidFill>
                <a:latin typeface="NanumSquare"/>
                <a:ea typeface="NanumSquare"/>
                <a:cs typeface="NanumSquare"/>
              </a:defRPr>
            </a:pPr>
            <a:r>
              <a:rPr sz="1875" b="0">
                <a:solidFill>
                  <a:srgbClr val="0A2342"/>
                </a:solidFill>
                <a:latin typeface="NanumSquare"/>
                <a:ea typeface="NanumSquare"/>
                <a:cs typeface="NanumSquare"/>
              </a:rPr>
              <a:t>→</a:t>
            </a:r>
          </a:p>
        </p:txBody>
      </p:sp>
      <p:sp>
        <p:nvSpPr>
          <p:cNvPr id="9" name="loop-1">
            <a:extLst xmlns:a="http://schemas.openxmlformats.org/drawingml/2006/main">
              <a:ext uri="{FF2B5EF4-FFF2-40B4-BE49-F238E27FC236}">
                <a16:creationId xmlns:a16="http://schemas.microsoft.com/office/drawing/2014/main" id="{609E0584-CAB3-42F9-A2C6-92B85CA523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3028950"/>
            <a:ext cx="1752600" cy="1485900"/>
          </a:xfrm>
          <a:prstGeom xmlns:a="http://schemas.openxmlformats.org/drawingml/2006/main" prst="roundRect">
            <a:avLst>
              <a:gd name="adj" fmla="val 769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5889884-2F3F-4FA7-B171-2985E9BB64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323850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500" b="1">
                <a:solidFill>
                  <a:srgbClr val="0A2342"/>
                </a:solidFill>
                <a:latin typeface="NanumSquare"/>
                <a:ea typeface="NanumSquare"/>
                <a:cs typeface="NanumSquare"/>
              </a:defRPr>
            </a:pPr>
            <a:r>
              <a:rPr sz="1500" b="1">
                <a:solidFill>
                  <a:srgbClr val="0A2342"/>
                </a:solidFill>
                <a:latin typeface="NanumSquare"/>
                <a:ea typeface="NanumSquare"/>
                <a:cs typeface="NanumSquare"/>
              </a:rPr>
              <a:t>02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B65BC61-1241-4214-A165-94E9303F9B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3638550"/>
            <a:ext cx="12954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650" b="1">
                <a:solidFill>
                  <a:srgbClr val="1D1D1F"/>
                </a:solidFill>
                <a:latin typeface="NanumSquare"/>
                <a:ea typeface="NanumSquare"/>
                <a:cs typeface="NanumSquare"/>
              </a:defRPr>
            </a:pPr>
            <a:r>
              <a:rPr sz="1650" b="1">
                <a:solidFill>
                  <a:srgbClr val="1D1D1F"/>
                </a:solidFill>
                <a:latin typeface="NanumSquare"/>
                <a:ea typeface="NanumSquare"/>
                <a:cs typeface="NanumSquare"/>
              </a:rPr>
              <a:t>Structure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48319D6-6E53-42CB-AAC5-3D2C63E21E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4076700"/>
            <a:ext cx="12954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050" b="0">
                <a:solidFill>
                  <a:srgbClr val="667085"/>
                </a:solidFill>
                <a:latin typeface="NanumSquare"/>
                <a:ea typeface="NanumSquare"/>
                <a:cs typeface="NanumSquare"/>
              </a:defRPr>
            </a:pPr>
            <a:r>
              <a:rPr sz="1050" b="0">
                <a:solidFill>
                  <a:srgbClr val="667085"/>
                </a:solidFill>
                <a:latin typeface="NanumSquare"/>
                <a:ea typeface="NanumSquare"/>
                <a:cs typeface="NanumSquare"/>
              </a:rPr>
              <a:t>의도/조건/지식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050" b="0">
                <a:solidFill>
                  <a:srgbClr val="667085"/>
                </a:solidFill>
                <a:latin typeface="NanumSquare"/>
                <a:ea typeface="NanumSquare"/>
                <a:cs typeface="NanumSquare"/>
              </a:defRPr>
            </a:pPr>
            <a:r>
              <a:rPr sz="1050" b="0">
                <a:solidFill>
                  <a:srgbClr val="667085"/>
                </a:solidFill>
                <a:latin typeface="NanumSquare"/>
                <a:ea typeface="NanumSquare"/>
                <a:cs typeface="NanumSquare"/>
              </a:rPr>
              <a:t>구조화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280B441-D820-4C7F-A614-8AC74AE218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4400" y="3600450"/>
            <a:ext cx="285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18000"/>
              </a:lnSpc>
              <a:buNone/>
              <a:defRPr sz="1875" b="0">
                <a:solidFill>
                  <a:srgbClr val="0A2342"/>
                </a:solidFill>
                <a:latin typeface="NanumSquare"/>
                <a:ea typeface="NanumSquare"/>
                <a:cs typeface="NanumSquare"/>
              </a:defRPr>
            </a:pPr>
            <a:r>
              <a:rPr sz="1875" b="0">
                <a:solidFill>
                  <a:srgbClr val="0A2342"/>
                </a:solidFill>
                <a:latin typeface="NanumSquare"/>
                <a:ea typeface="NanumSquare"/>
                <a:cs typeface="NanumSquare"/>
              </a:rPr>
              <a:t>→</a:t>
            </a:r>
          </a:p>
        </p:txBody>
      </p:sp>
      <p:sp>
        <p:nvSpPr>
          <p:cNvPr id="14" name="loop-2">
            <a:extLst xmlns:a="http://schemas.openxmlformats.org/drawingml/2006/main">
              <a:ext uri="{FF2B5EF4-FFF2-40B4-BE49-F238E27FC236}">
                <a16:creationId xmlns:a16="http://schemas.microsoft.com/office/drawing/2014/main" id="{79A71358-7FFB-4702-BCAA-4B5F2A6561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3028950"/>
            <a:ext cx="1752600" cy="1485900"/>
          </a:xfrm>
          <a:prstGeom xmlns:a="http://schemas.openxmlformats.org/drawingml/2006/main" prst="roundRect">
            <a:avLst>
              <a:gd name="adj" fmla="val 769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244746B-ACEA-408F-9914-9F6237EE25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6850" y="323850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500" b="1">
                <a:solidFill>
                  <a:srgbClr val="0A2342"/>
                </a:solidFill>
                <a:latin typeface="NanumSquare"/>
                <a:ea typeface="NanumSquare"/>
                <a:cs typeface="NanumSquare"/>
              </a:defRPr>
            </a:pPr>
            <a:r>
              <a:rPr sz="1500" b="1">
                <a:solidFill>
                  <a:srgbClr val="0A2342"/>
                </a:solidFill>
                <a:latin typeface="NanumSquare"/>
                <a:ea typeface="NanumSquare"/>
                <a:cs typeface="NanumSquare"/>
              </a:rPr>
              <a:t>03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AD958A9-E7EC-4EC4-9100-9D366E1168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6850" y="3638550"/>
            <a:ext cx="12954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650" b="1">
                <a:solidFill>
                  <a:srgbClr val="1D1D1F"/>
                </a:solidFill>
                <a:latin typeface="NanumSquare"/>
                <a:ea typeface="NanumSquare"/>
                <a:cs typeface="NanumSquare"/>
              </a:defRPr>
            </a:pPr>
            <a:r>
              <a:rPr sz="1650" b="1">
                <a:solidFill>
                  <a:srgbClr val="1D1D1F"/>
                </a:solidFill>
                <a:latin typeface="NanumSquare"/>
                <a:ea typeface="NanumSquare"/>
                <a:cs typeface="NanumSquare"/>
              </a:rPr>
              <a:t>Generate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BD0E811-09CA-4A94-9A35-465F1F8305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6850" y="4076700"/>
            <a:ext cx="12954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050" b="0">
                <a:solidFill>
                  <a:srgbClr val="667085"/>
                </a:solidFill>
                <a:latin typeface="NanumSquare"/>
                <a:ea typeface="NanumSquare"/>
                <a:cs typeface="NanumSquare"/>
              </a:defRPr>
            </a:pPr>
            <a:r>
              <a:rPr sz="1050" b="0">
                <a:solidFill>
                  <a:srgbClr val="667085"/>
                </a:solidFill>
                <a:latin typeface="NanumSquare"/>
                <a:ea typeface="NanumSquare"/>
                <a:cs typeface="NanumSquare"/>
              </a:rPr>
              <a:t>초안/추천/코드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050" b="0">
                <a:solidFill>
                  <a:srgbClr val="667085"/>
                </a:solidFill>
                <a:latin typeface="NanumSquare"/>
                <a:ea typeface="NanumSquare"/>
                <a:cs typeface="NanumSquare"/>
              </a:defRPr>
            </a:pPr>
            <a:r>
              <a:rPr sz="1050" b="0">
                <a:solidFill>
                  <a:srgbClr val="667085"/>
                </a:solidFill>
                <a:latin typeface="NanumSquare"/>
                <a:ea typeface="NanumSquare"/>
                <a:cs typeface="NanumSquare"/>
              </a:rPr>
              <a:t>생성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5C8A91B-0EDA-452E-9331-0FA506E7EC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3600450"/>
            <a:ext cx="285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18000"/>
              </a:lnSpc>
              <a:buNone/>
              <a:defRPr sz="1875" b="0">
                <a:solidFill>
                  <a:srgbClr val="0A2342"/>
                </a:solidFill>
                <a:latin typeface="NanumSquare"/>
                <a:ea typeface="NanumSquare"/>
                <a:cs typeface="NanumSquare"/>
              </a:defRPr>
            </a:pPr>
            <a:r>
              <a:rPr sz="1875" b="0">
                <a:solidFill>
                  <a:srgbClr val="0A2342"/>
                </a:solidFill>
                <a:latin typeface="NanumSquare"/>
                <a:ea typeface="NanumSquare"/>
                <a:cs typeface="NanumSquare"/>
              </a:rPr>
              <a:t>→</a:t>
            </a:r>
          </a:p>
        </p:txBody>
      </p:sp>
      <p:sp>
        <p:nvSpPr>
          <p:cNvPr id="19" name="loop-3">
            <a:extLst xmlns:a="http://schemas.openxmlformats.org/drawingml/2006/main">
              <a:ext uri="{FF2B5EF4-FFF2-40B4-BE49-F238E27FC236}">
                <a16:creationId xmlns:a16="http://schemas.microsoft.com/office/drawing/2014/main" id="{C0EB8619-34AD-4801-A7AD-5265EDCBF6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3028950"/>
            <a:ext cx="1752600" cy="1485900"/>
          </a:xfrm>
          <a:prstGeom xmlns:a="http://schemas.openxmlformats.org/drawingml/2006/main" prst="roundRect">
            <a:avLst>
              <a:gd name="adj" fmla="val 769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209A410-DC63-4237-B736-D9B32DFEB4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323850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500" b="1">
                <a:solidFill>
                  <a:srgbClr val="0A2342"/>
                </a:solidFill>
                <a:latin typeface="NanumSquare"/>
                <a:ea typeface="NanumSquare"/>
                <a:cs typeface="NanumSquare"/>
              </a:defRPr>
            </a:pPr>
            <a:r>
              <a:rPr sz="1500" b="1">
                <a:solidFill>
                  <a:srgbClr val="0A2342"/>
                </a:solidFill>
                <a:latin typeface="NanumSquare"/>
                <a:ea typeface="NanumSquare"/>
                <a:cs typeface="NanumSquare"/>
              </a:rPr>
              <a:t>04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D38EA4B-7A02-4EA2-80D2-C30AC529D5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3638550"/>
            <a:ext cx="12954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650" b="1">
                <a:solidFill>
                  <a:srgbClr val="1D1D1F"/>
                </a:solidFill>
                <a:latin typeface="NanumSquare"/>
                <a:ea typeface="NanumSquare"/>
                <a:cs typeface="NanumSquare"/>
              </a:defRPr>
            </a:pPr>
            <a:r>
              <a:rPr sz="1650" b="1">
                <a:solidFill>
                  <a:srgbClr val="1D1D1F"/>
                </a:solidFill>
                <a:latin typeface="NanumSquare"/>
                <a:ea typeface="NanumSquare"/>
                <a:cs typeface="NanumSquare"/>
              </a:rPr>
              <a:t>Evaluate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CD1D061-27F2-41B3-9A4C-A783AD1210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4076700"/>
            <a:ext cx="12954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050" b="0">
                <a:solidFill>
                  <a:srgbClr val="667085"/>
                </a:solidFill>
                <a:latin typeface="NanumSquare"/>
                <a:ea typeface="NanumSquare"/>
                <a:cs typeface="NanumSquare"/>
              </a:defRPr>
            </a:pPr>
            <a:r>
              <a:rPr sz="1050" b="0">
                <a:solidFill>
                  <a:srgbClr val="667085"/>
                </a:solidFill>
                <a:latin typeface="NanumSquare"/>
                <a:ea typeface="NanumSquare"/>
                <a:cs typeface="NanumSquare"/>
              </a:rPr>
              <a:t>품질/안전/비용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050" b="0">
                <a:solidFill>
                  <a:srgbClr val="667085"/>
                </a:solidFill>
                <a:latin typeface="NanumSquare"/>
                <a:ea typeface="NanumSquare"/>
                <a:cs typeface="NanumSquare"/>
              </a:defRPr>
            </a:pPr>
            <a:r>
              <a:rPr sz="1050" b="0">
                <a:solidFill>
                  <a:srgbClr val="667085"/>
                </a:solidFill>
                <a:latin typeface="NanumSquare"/>
                <a:ea typeface="NanumSquare"/>
                <a:cs typeface="NanumSquare"/>
              </a:rPr>
              <a:t>평가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13AF57B-B098-411D-97E5-B75764332B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3600450"/>
            <a:ext cx="285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18000"/>
              </a:lnSpc>
              <a:buNone/>
              <a:defRPr sz="1875" b="0">
                <a:solidFill>
                  <a:srgbClr val="0A2342"/>
                </a:solidFill>
                <a:latin typeface="NanumSquare"/>
                <a:ea typeface="NanumSquare"/>
                <a:cs typeface="NanumSquare"/>
              </a:defRPr>
            </a:pPr>
            <a:r>
              <a:rPr sz="1875" b="0">
                <a:solidFill>
                  <a:srgbClr val="0A2342"/>
                </a:solidFill>
                <a:latin typeface="NanumSquare"/>
                <a:ea typeface="NanumSquare"/>
                <a:cs typeface="NanumSquare"/>
              </a:rPr>
              <a:t>→</a:t>
            </a:r>
          </a:p>
        </p:txBody>
      </p:sp>
      <p:sp>
        <p:nvSpPr>
          <p:cNvPr id="24" name="loop-4">
            <a:extLst xmlns:a="http://schemas.openxmlformats.org/drawingml/2006/main">
              <a:ext uri="{FF2B5EF4-FFF2-40B4-BE49-F238E27FC236}">
                <a16:creationId xmlns:a16="http://schemas.microsoft.com/office/drawing/2014/main" id="{BBFA96DA-77E7-439C-9436-9BB567702A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3028950"/>
            <a:ext cx="1752600" cy="1485900"/>
          </a:xfrm>
          <a:prstGeom xmlns:a="http://schemas.openxmlformats.org/drawingml/2006/main" prst="roundRect">
            <a:avLst>
              <a:gd name="adj" fmla="val 769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020BD03-B68B-422D-B9A3-8FB738A7BC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323850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500" b="1">
                <a:solidFill>
                  <a:srgbClr val="0A2342"/>
                </a:solidFill>
                <a:latin typeface="NanumSquare"/>
                <a:ea typeface="NanumSquare"/>
                <a:cs typeface="NanumSquare"/>
              </a:defRPr>
            </a:pPr>
            <a:r>
              <a:rPr sz="1500" b="1">
                <a:solidFill>
                  <a:srgbClr val="0A2342"/>
                </a:solidFill>
                <a:latin typeface="NanumSquare"/>
                <a:ea typeface="NanumSquare"/>
                <a:cs typeface="NanumSquare"/>
              </a:rPr>
              <a:t>05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D83CB02-CC35-4E83-8A0A-1F16A2C6D6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3638550"/>
            <a:ext cx="12954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650" b="1">
                <a:solidFill>
                  <a:srgbClr val="1D1D1F"/>
                </a:solidFill>
                <a:latin typeface="NanumSquare"/>
                <a:ea typeface="NanumSquare"/>
                <a:cs typeface="NanumSquare"/>
              </a:defRPr>
            </a:pPr>
            <a:r>
              <a:rPr sz="1650" b="1">
                <a:solidFill>
                  <a:srgbClr val="1D1D1F"/>
                </a:solidFill>
                <a:latin typeface="NanumSquare"/>
                <a:ea typeface="NanumSquare"/>
                <a:cs typeface="NanumSquare"/>
              </a:rPr>
              <a:t>Operate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4FFED77-7100-40FC-9B40-95D155A58E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4076700"/>
            <a:ext cx="12954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050" b="0">
                <a:solidFill>
                  <a:srgbClr val="667085"/>
                </a:solidFill>
                <a:latin typeface="NanumSquare"/>
                <a:ea typeface="NanumSquare"/>
                <a:cs typeface="NanumSquare"/>
              </a:defRPr>
            </a:pPr>
            <a:r>
              <a:rPr sz="1050" b="0">
                <a:solidFill>
                  <a:srgbClr val="667085"/>
                </a:solidFill>
                <a:latin typeface="NanumSquare"/>
                <a:ea typeface="NanumSquare"/>
                <a:cs typeface="NanumSquare"/>
              </a:rPr>
              <a:t>로그/피드백/가드레일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050" b="0">
                <a:solidFill>
                  <a:srgbClr val="667085"/>
                </a:solidFill>
                <a:latin typeface="NanumSquare"/>
                <a:ea typeface="NanumSquare"/>
                <a:cs typeface="NanumSquare"/>
              </a:defRPr>
            </a:pPr>
            <a:r>
              <a:rPr sz="1050" b="0">
                <a:solidFill>
                  <a:srgbClr val="667085"/>
                </a:solidFill>
                <a:latin typeface="NanumSquare"/>
                <a:ea typeface="NanumSquare"/>
                <a:cs typeface="NanumSquare"/>
              </a:rPr>
              <a:t>운영</a:t>
            </a:r>
          </a:p>
        </p:txBody>
      </p:sp>
      <p:sp>
        <p:nvSpPr>
          <p:cNvPr id="28" name="footer-left">
            <a:extLst xmlns:a="http://schemas.openxmlformats.org/drawingml/2006/main">
              <a:ext uri="{FF2B5EF4-FFF2-40B4-BE49-F238E27FC236}">
                <a16:creationId xmlns:a16="http://schemas.microsoft.com/office/drawing/2014/main" id="{22312562-1F53-4076-8BFA-8988D966FC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476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825" b="0">
                <a:solidFill>
                  <a:srgbClr val="667085"/>
                </a:solidFill>
                <a:latin typeface="NanumSquare"/>
                <a:ea typeface="NanumSquare"/>
                <a:cs typeface="NanumSquare"/>
              </a:defRPr>
            </a:pPr>
            <a:r>
              <a:rPr sz="825" b="0">
                <a:solidFill>
                  <a:srgbClr val="667085"/>
                </a:solidFill>
                <a:latin typeface="NanumSquare"/>
                <a:ea typeface="NanumSquare"/>
                <a:cs typeface="NanumSquare"/>
              </a:rPr>
              <a:t>Goorm 20260701 AI Campus Prism 사전 특강</a:t>
            </a:r>
          </a:p>
        </p:txBody>
      </p:sp>
      <p:sp>
        <p:nvSpPr>
          <p:cNvPr id="29" name="footer-page">
            <a:extLst xmlns:a="http://schemas.openxmlformats.org/drawingml/2006/main">
              <a:ext uri="{FF2B5EF4-FFF2-40B4-BE49-F238E27FC236}">
                <a16:creationId xmlns:a16="http://schemas.microsoft.com/office/drawing/2014/main" id="{38E7317C-F8AE-4DE6-ADF3-466CEE0B14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6438900"/>
            <a:ext cx="400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lnSpc>
                <a:spcPct val="118000"/>
              </a:lnSpc>
              <a:buNone/>
              <a:defRPr sz="825" b="0">
                <a:solidFill>
                  <a:srgbClr val="667085"/>
                </a:solidFill>
                <a:latin typeface="NanumSquare"/>
                <a:ea typeface="NanumSquare"/>
                <a:cs typeface="NanumSquare"/>
              </a:defRPr>
            </a:pPr>
            <a:r>
              <a:rPr sz="825" b="0">
                <a:solidFill>
                  <a:srgbClr val="667085"/>
                </a:solidFill>
                <a:latin typeface="NanumSquare"/>
                <a:ea typeface="NanumSquare"/>
                <a:cs typeface="NanumSquare"/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2068672745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eyebrow">
            <a:extLst xmlns:a="http://schemas.openxmlformats.org/drawingml/2006/main">
              <a:ext uri="{FF2B5EF4-FFF2-40B4-BE49-F238E27FC236}">
                <a16:creationId xmlns:a16="http://schemas.microsoft.com/office/drawing/2014/main" id="{68E14AB4-B21C-49AF-B666-4B20CCD56F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815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975" b="1">
                <a:solidFill>
                  <a:srgbClr val="667085"/>
                </a:solidFill>
                <a:latin typeface="NanumSquare"/>
                <a:ea typeface="NanumSquare"/>
                <a:cs typeface="NanumSquare"/>
              </a:defRPr>
            </a:pPr>
            <a:r>
              <a:rPr sz="975" b="1">
                <a:solidFill>
                  <a:srgbClr val="667085"/>
                </a:solidFill>
                <a:latin typeface="NanumSquare"/>
                <a:ea typeface="NanumSquare"/>
                <a:cs typeface="NanumSquare"/>
              </a:rPr>
              <a:t>AI STACK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AB165949-08F0-405C-B8A6-C4BEF2188E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38200"/>
            <a:ext cx="103632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2850" b="1">
                <a:solidFill>
                  <a:srgbClr val="1D1D1F"/>
                </a:solidFill>
                <a:latin typeface="NanumSquare"/>
                <a:ea typeface="NanumSquare"/>
                <a:cs typeface="NanumSquare"/>
              </a:defRPr>
            </a:pPr>
            <a:r>
              <a:rPr sz="2850" b="1">
                <a:solidFill>
                  <a:srgbClr val="1D1D1F"/>
                </a:solidFill>
                <a:latin typeface="NanumSquare"/>
                <a:ea typeface="NanumSquare"/>
                <a:cs typeface="NanumSquare"/>
              </a:rPr>
              <a:t>AI는 ‘기능’이 아니라 문제 해결 스택입니다</a:t>
            </a:r>
          </a:p>
        </p:txBody>
      </p:sp>
      <p:sp>
        <p:nvSpPr>
          <p:cNvPr id="3" name="subtitle">
            <a:extLst xmlns:a="http://schemas.openxmlformats.org/drawingml/2006/main">
              <a:ext uri="{FF2B5EF4-FFF2-40B4-BE49-F238E27FC236}">
                <a16:creationId xmlns:a16="http://schemas.microsoft.com/office/drawing/2014/main" id="{F0261613-AEF3-4A07-8F03-53230C9626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47850"/>
            <a:ext cx="103632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22000"/>
              </a:lnSpc>
              <a:buNone/>
              <a:defRPr sz="1575" b="0">
                <a:solidFill>
                  <a:srgbClr val="667085"/>
                </a:solidFill>
                <a:latin typeface="NanumSquare"/>
                <a:ea typeface="NanumSquare"/>
                <a:cs typeface="NanumSquare"/>
              </a:defRPr>
            </a:pPr>
            <a:r>
              <a:rPr sz="1575" b="0">
                <a:solidFill>
                  <a:srgbClr val="667085"/>
                </a:solidFill>
                <a:latin typeface="NanumSquare"/>
                <a:ea typeface="NanumSquare"/>
                <a:cs typeface="NanumSquare"/>
              </a:rPr>
              <a:t>프롬프트 하나가 아니라 데이터, 도구, 평가, 운영이 결합될 때 현업 가치가 생깁니다.</a:t>
            </a:r>
          </a:p>
        </p:txBody>
      </p:sp>
      <p:sp>
        <p:nvSpPr>
          <p:cNvPr id="4" name="layer-0">
            <a:extLst xmlns:a="http://schemas.openxmlformats.org/drawingml/2006/main">
              <a:ext uri="{FF2B5EF4-FFF2-40B4-BE49-F238E27FC236}">
                <a16:creationId xmlns:a16="http://schemas.microsoft.com/office/drawing/2014/main" id="{B8E767BD-81EB-4DA9-95F9-CBF692BAFC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2628900"/>
            <a:ext cx="8096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5F6F8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9C3BCBD-1A31-4FE4-BBCE-6A06AC8814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2714625"/>
            <a:ext cx="1809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350" b="1">
                <a:solidFill>
                  <a:srgbClr val="1D1D1F"/>
                </a:solidFill>
                <a:latin typeface="NanumSquare"/>
                <a:ea typeface="NanumSquare"/>
                <a:cs typeface="NanumSquare"/>
              </a:defRPr>
            </a:pPr>
            <a:r>
              <a:rPr sz="1350" b="1">
                <a:solidFill>
                  <a:srgbClr val="1D1D1F"/>
                </a:solidFill>
                <a:latin typeface="NanumSquare"/>
                <a:ea typeface="NanumSquare"/>
                <a:cs typeface="NanumSquare"/>
              </a:rPr>
              <a:t>Experience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6BEE3AB-9CB6-4534-9350-24BE15EE2E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2724150"/>
            <a:ext cx="533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200" b="0">
                <a:solidFill>
                  <a:srgbClr val="667085"/>
                </a:solidFill>
                <a:latin typeface="NanumSquare"/>
                <a:ea typeface="NanumSquare"/>
                <a:cs typeface="NanumSquare"/>
              </a:defRPr>
            </a:pPr>
            <a:r>
              <a:rPr sz="1200" b="0">
                <a:solidFill>
                  <a:srgbClr val="667085"/>
                </a:solidFill>
                <a:latin typeface="NanumSquare"/>
                <a:ea typeface="NanumSquare"/>
                <a:cs typeface="NanumSquare"/>
              </a:rPr>
              <a:t>사용자가 만나는 화면·대화·흐름</a:t>
            </a:r>
          </a:p>
        </p:txBody>
      </p:sp>
      <p:sp>
        <p:nvSpPr>
          <p:cNvPr id="7" name="layer-1">
            <a:extLst xmlns:a="http://schemas.openxmlformats.org/drawingml/2006/main">
              <a:ext uri="{FF2B5EF4-FFF2-40B4-BE49-F238E27FC236}">
                <a16:creationId xmlns:a16="http://schemas.microsoft.com/office/drawing/2014/main" id="{672AECA1-5EDE-4457-80F6-A6C313CABF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3550" y="3219450"/>
            <a:ext cx="76771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AFAFC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0FDB4DB-24FC-4C35-A891-34914602C3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9300" y="3305175"/>
            <a:ext cx="1809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350" b="1">
                <a:solidFill>
                  <a:srgbClr val="1D1D1F"/>
                </a:solidFill>
                <a:latin typeface="NanumSquare"/>
                <a:ea typeface="NanumSquare"/>
                <a:cs typeface="NanumSquare"/>
              </a:defRPr>
            </a:pPr>
            <a:r>
              <a:rPr sz="1350" b="1">
                <a:solidFill>
                  <a:srgbClr val="1D1D1F"/>
                </a:solidFill>
                <a:latin typeface="NanumSquare"/>
                <a:ea typeface="NanumSquare"/>
                <a:cs typeface="NanumSquare"/>
              </a:rPr>
              <a:t>Agent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2D1A1CE-BED7-4773-90C7-BD88F36BCD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24300" y="3314700"/>
            <a:ext cx="4914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200" b="0">
                <a:solidFill>
                  <a:srgbClr val="667085"/>
                </a:solidFill>
                <a:latin typeface="NanumSquare"/>
                <a:ea typeface="NanumSquare"/>
                <a:cs typeface="NanumSquare"/>
              </a:defRPr>
            </a:pPr>
            <a:r>
              <a:rPr sz="1200" b="0">
                <a:solidFill>
                  <a:srgbClr val="667085"/>
                </a:solidFill>
                <a:latin typeface="NanumSquare"/>
                <a:ea typeface="NanumSquare"/>
                <a:cs typeface="NanumSquare"/>
              </a:rPr>
              <a:t>목표를 이해하고 도구를 선택하는 실행 흐름</a:t>
            </a:r>
          </a:p>
        </p:txBody>
      </p:sp>
      <p:sp>
        <p:nvSpPr>
          <p:cNvPr id="10" name="layer-2">
            <a:extLst xmlns:a="http://schemas.openxmlformats.org/drawingml/2006/main">
              <a:ext uri="{FF2B5EF4-FFF2-40B4-BE49-F238E27FC236}">
                <a16:creationId xmlns:a16="http://schemas.microsoft.com/office/drawing/2014/main" id="{755A1758-7F27-4A79-B695-D2E3F8BAC4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3100" y="3810000"/>
            <a:ext cx="72580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5F6F8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FECF8B3-3EC1-4F05-9330-61957F3E43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28850" y="3895725"/>
            <a:ext cx="1809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350" b="1">
                <a:solidFill>
                  <a:srgbClr val="1D1D1F"/>
                </a:solidFill>
                <a:latin typeface="NanumSquare"/>
                <a:ea typeface="NanumSquare"/>
                <a:cs typeface="NanumSquare"/>
              </a:defRPr>
            </a:pPr>
            <a:r>
              <a:rPr sz="1350" b="1">
                <a:solidFill>
                  <a:srgbClr val="1D1D1F"/>
                </a:solidFill>
                <a:latin typeface="NanumSquare"/>
                <a:ea typeface="NanumSquare"/>
                <a:cs typeface="NanumSquare"/>
              </a:rPr>
              <a:t>Knowledge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020B179-2937-4266-AE3C-E9377BCDB0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33850" y="3905250"/>
            <a:ext cx="4495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200" b="0">
                <a:solidFill>
                  <a:srgbClr val="667085"/>
                </a:solidFill>
                <a:latin typeface="NanumSquare"/>
                <a:ea typeface="NanumSquare"/>
                <a:cs typeface="NanumSquare"/>
              </a:defRPr>
            </a:pPr>
            <a:r>
              <a:rPr sz="1200" b="0">
                <a:solidFill>
                  <a:srgbClr val="667085"/>
                </a:solidFill>
                <a:latin typeface="NanumSquare"/>
                <a:ea typeface="NanumSquare"/>
                <a:cs typeface="NanumSquare"/>
              </a:rPr>
              <a:t>문서, 상품, 로그, 정책, 리뷰를 검색 가능한 구조로</a:t>
            </a:r>
          </a:p>
        </p:txBody>
      </p:sp>
      <p:sp>
        <p:nvSpPr>
          <p:cNvPr id="13" name="layer-3">
            <a:extLst xmlns:a="http://schemas.openxmlformats.org/drawingml/2006/main">
              <a:ext uri="{FF2B5EF4-FFF2-40B4-BE49-F238E27FC236}">
                <a16:creationId xmlns:a16="http://schemas.microsoft.com/office/drawing/2014/main" id="{0D6A33C1-C1E5-4079-B106-F29519CF7D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2650" y="4400550"/>
            <a:ext cx="68389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AFAFC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3A2575A-0F83-420C-92CF-933CE11FCE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8400" y="4486275"/>
            <a:ext cx="1809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350" b="1">
                <a:solidFill>
                  <a:srgbClr val="1D1D1F"/>
                </a:solidFill>
                <a:latin typeface="NanumSquare"/>
                <a:ea typeface="NanumSquare"/>
                <a:cs typeface="NanumSquare"/>
              </a:defRPr>
            </a:pPr>
            <a:r>
              <a:rPr sz="1350" b="1">
                <a:solidFill>
                  <a:srgbClr val="1D1D1F"/>
                </a:solidFill>
                <a:latin typeface="NanumSquare"/>
                <a:ea typeface="NanumSquare"/>
                <a:cs typeface="NanumSquare"/>
              </a:rPr>
              <a:t>Evaluation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C546E77-1730-40F4-A9DB-C57A924741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4495800"/>
            <a:ext cx="40767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200" b="0">
                <a:solidFill>
                  <a:srgbClr val="667085"/>
                </a:solidFill>
                <a:latin typeface="NanumSquare"/>
                <a:ea typeface="NanumSquare"/>
                <a:cs typeface="NanumSquare"/>
              </a:defRPr>
            </a:pPr>
            <a:r>
              <a:rPr sz="1200" b="0">
                <a:solidFill>
                  <a:srgbClr val="667085"/>
                </a:solidFill>
                <a:latin typeface="NanumSquare"/>
                <a:ea typeface="NanumSquare"/>
                <a:cs typeface="NanumSquare"/>
              </a:rPr>
              <a:t>정확성, 유용성, 안전성, 비용을 측정</a:t>
            </a:r>
          </a:p>
        </p:txBody>
      </p:sp>
      <p:sp>
        <p:nvSpPr>
          <p:cNvPr id="16" name="layer-4">
            <a:extLst xmlns:a="http://schemas.openxmlformats.org/drawingml/2006/main">
              <a:ext uri="{FF2B5EF4-FFF2-40B4-BE49-F238E27FC236}">
                <a16:creationId xmlns:a16="http://schemas.microsoft.com/office/drawing/2014/main" id="{C74726AD-5D12-442D-B6D8-8FB968DD43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2200" y="4991100"/>
            <a:ext cx="64198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5F6F8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4A8BD22-8B7D-4D79-A9B5-838C0F6B27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7950" y="5076825"/>
            <a:ext cx="1809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350" b="1">
                <a:solidFill>
                  <a:srgbClr val="1D1D1F"/>
                </a:solidFill>
                <a:latin typeface="NanumSquare"/>
                <a:ea typeface="NanumSquare"/>
                <a:cs typeface="NanumSquare"/>
              </a:defRPr>
            </a:pPr>
            <a:r>
              <a:rPr sz="1350" b="1">
                <a:solidFill>
                  <a:srgbClr val="1D1D1F"/>
                </a:solidFill>
                <a:latin typeface="NanumSquare"/>
                <a:ea typeface="NanumSquare"/>
                <a:cs typeface="NanumSquare"/>
              </a:rPr>
              <a:t>Platform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F21A17D-C67A-4EC7-A63B-1F57B07B57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5086350"/>
            <a:ext cx="3657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200" b="0">
                <a:solidFill>
                  <a:srgbClr val="667085"/>
                </a:solidFill>
                <a:latin typeface="NanumSquare"/>
                <a:ea typeface="NanumSquare"/>
                <a:cs typeface="NanumSquare"/>
              </a:defRPr>
            </a:pPr>
            <a:r>
              <a:rPr sz="1200" b="0">
                <a:solidFill>
                  <a:srgbClr val="667085"/>
                </a:solidFill>
                <a:latin typeface="NanumSquare"/>
                <a:ea typeface="NanumSquare"/>
                <a:cs typeface="NanumSquare"/>
              </a:rPr>
              <a:t>배포, 관측성, 보안, 권한, 장애 대응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08E1F74-2A36-46CA-ADF4-E4A3E1E3CA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5829300"/>
            <a:ext cx="8191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500" b="1">
                <a:solidFill>
                  <a:srgbClr val="0A2342"/>
                </a:solidFill>
                <a:latin typeface="NanumSquare"/>
                <a:ea typeface="NanumSquare"/>
                <a:cs typeface="NanumSquare"/>
              </a:defRPr>
            </a:pPr>
            <a:r>
              <a:rPr sz="1500" b="1">
                <a:solidFill>
                  <a:srgbClr val="0A2342"/>
                </a:solidFill>
                <a:latin typeface="NanumSquare"/>
                <a:ea typeface="NanumSquare"/>
                <a:cs typeface="NanumSquare"/>
              </a:rPr>
              <a:t>핵심: AI Native는 도구 사용 능력이 아니라, 이 스택을 제품/업무에 맞게 조합하는 능력입니다.</a:t>
            </a:r>
          </a:p>
        </p:txBody>
      </p:sp>
      <p:sp>
        <p:nvSpPr>
          <p:cNvPr id="20" name="footer-left">
            <a:extLst xmlns:a="http://schemas.openxmlformats.org/drawingml/2006/main">
              <a:ext uri="{FF2B5EF4-FFF2-40B4-BE49-F238E27FC236}">
                <a16:creationId xmlns:a16="http://schemas.microsoft.com/office/drawing/2014/main" id="{E5389632-0828-4C8F-8086-4F3BFE1ED7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476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825" b="0">
                <a:solidFill>
                  <a:srgbClr val="667085"/>
                </a:solidFill>
                <a:latin typeface="NanumSquare"/>
                <a:ea typeface="NanumSquare"/>
                <a:cs typeface="NanumSquare"/>
              </a:defRPr>
            </a:pPr>
            <a:r>
              <a:rPr sz="825" b="0">
                <a:solidFill>
                  <a:srgbClr val="667085"/>
                </a:solidFill>
                <a:latin typeface="NanumSquare"/>
                <a:ea typeface="NanumSquare"/>
                <a:cs typeface="NanumSquare"/>
              </a:rPr>
              <a:t>Goorm 20260701 AI Campus Prism 사전 특강</a:t>
            </a:r>
          </a:p>
        </p:txBody>
      </p:sp>
      <p:sp>
        <p:nvSpPr>
          <p:cNvPr id="21" name="footer-page">
            <a:extLst xmlns:a="http://schemas.openxmlformats.org/drawingml/2006/main">
              <a:ext uri="{FF2B5EF4-FFF2-40B4-BE49-F238E27FC236}">
                <a16:creationId xmlns:a16="http://schemas.microsoft.com/office/drawing/2014/main" id="{95AB2D50-7780-4805-8485-8E16E22F3B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6438900"/>
            <a:ext cx="400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lnSpc>
                <a:spcPct val="118000"/>
              </a:lnSpc>
              <a:buNone/>
              <a:defRPr sz="825" b="0">
                <a:solidFill>
                  <a:srgbClr val="667085"/>
                </a:solidFill>
                <a:latin typeface="NanumSquare"/>
                <a:ea typeface="NanumSquare"/>
                <a:cs typeface="NanumSquare"/>
              </a:defRPr>
            </a:pPr>
            <a:r>
              <a:rPr sz="825" b="0">
                <a:solidFill>
                  <a:srgbClr val="667085"/>
                </a:solidFill>
                <a:latin typeface="NanumSquare"/>
                <a:ea typeface="NanumSquare"/>
                <a:cs typeface="NanumSquare"/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978115209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070B1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eyebrow">
            <a:extLst xmlns:a="http://schemas.openxmlformats.org/drawingml/2006/main">
              <a:ext uri="{FF2B5EF4-FFF2-40B4-BE49-F238E27FC236}">
                <a16:creationId xmlns:a16="http://schemas.microsoft.com/office/drawing/2014/main" id="{C172D20E-06F2-4D8E-ACA8-1EBF8A3529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815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975" b="1">
                <a:solidFill>
                  <a:srgbClr val="CCCCCC"/>
                </a:solidFill>
                <a:latin typeface="NanumSquare"/>
                <a:ea typeface="NanumSquare"/>
                <a:cs typeface="NanumSquare"/>
              </a:defRPr>
            </a:pPr>
            <a:r>
              <a:rPr sz="975" b="1">
                <a:solidFill>
                  <a:srgbClr val="CCCCCC"/>
                </a:solidFill>
                <a:latin typeface="NanumSquare"/>
                <a:ea typeface="NanumSquare"/>
                <a:cs typeface="NanumSquare"/>
              </a:rPr>
              <a:t>AGENTIC AI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EF8F15AD-5BDD-446A-AA56-C1A642A144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38200"/>
            <a:ext cx="103632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3150" b="1">
                <a:solidFill>
                  <a:srgbClr val="FFFFFF"/>
                </a:solidFill>
                <a:latin typeface="NanumSquare"/>
                <a:ea typeface="NanumSquare"/>
                <a:cs typeface="NanumSquare"/>
              </a:defRPr>
            </a:pPr>
            <a:r>
              <a:rPr sz="3150" b="1">
                <a:solidFill>
                  <a:srgbClr val="FFFFFF"/>
                </a:solidFill>
                <a:latin typeface="NanumSquare"/>
                <a:ea typeface="NanumSquare"/>
                <a:cs typeface="NanumSquare"/>
              </a:rPr>
              <a:t>Agentic AI를 한 문장으로</a:t>
            </a:r>
          </a:p>
        </p:txBody>
      </p:sp>
      <p:sp>
        <p:nvSpPr>
          <p:cNvPr id="3" name="subtitle">
            <a:extLst xmlns:a="http://schemas.openxmlformats.org/drawingml/2006/main">
              <a:ext uri="{FF2B5EF4-FFF2-40B4-BE49-F238E27FC236}">
                <a16:creationId xmlns:a16="http://schemas.microsoft.com/office/drawing/2014/main" id="{19B430B8-5F05-4E08-8E8E-6EA7815A13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47850"/>
            <a:ext cx="103632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22000"/>
              </a:lnSpc>
              <a:buNone/>
              <a:defRPr sz="1575" b="0">
                <a:solidFill>
                  <a:srgbClr val="D6D6D6"/>
                </a:solidFill>
                <a:latin typeface="NanumSquare"/>
                <a:ea typeface="NanumSquare"/>
                <a:cs typeface="NanumSquare"/>
              </a:defRPr>
            </a:pPr>
            <a:r>
              <a:rPr sz="1575" b="0">
                <a:solidFill>
                  <a:srgbClr val="D6D6D6"/>
                </a:solidFill>
                <a:latin typeface="NanumSquare"/>
                <a:ea typeface="NanumSquare"/>
                <a:cs typeface="NanumSquare"/>
              </a:rPr>
              <a:t>사용자의 목표를 받아, 필요한 지식과 도구를 선택하고, 실행 결과를 다시 판단하는 소프트웨어 패턴입니다.</a:t>
            </a:r>
          </a:p>
        </p:txBody>
      </p:sp>
      <p:sp>
        <p:nvSpPr>
          <p:cNvPr id="4" name="card-1">
            <a:extLst xmlns:a="http://schemas.openxmlformats.org/drawingml/2006/main">
              <a:ext uri="{FF2B5EF4-FFF2-40B4-BE49-F238E27FC236}">
                <a16:creationId xmlns:a16="http://schemas.microsoft.com/office/drawing/2014/main" id="{FA18E510-B8C6-4F0F-8F7A-98955E305E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95600"/>
            <a:ext cx="3333750" cy="2362200"/>
          </a:xfrm>
          <a:prstGeom xmlns:a="http://schemas.openxmlformats.org/drawingml/2006/main" prst="roundRect">
            <a:avLst>
              <a:gd name="adj" fmla="val 4839"/>
            </a:avLst>
          </a:prstGeom>
          <a:solidFill xmlns:a="http://schemas.openxmlformats.org/drawingml/2006/main">
            <a:srgbClr val="101827"/>
          </a:solidFill>
          <a:ln xmlns:a="http://schemas.openxmlformats.org/drawingml/2006/main" w="9525">
            <a:solidFill>
              <a:srgbClr val="3B3B3D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02E52E5-A7CF-4ED9-BAC4-D0A29E907C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124200"/>
            <a:ext cx="2876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200" b="1">
                <a:solidFill>
                  <a:srgbClr val="C7D7EA"/>
                </a:solidFill>
                <a:latin typeface="NanumSquare"/>
                <a:ea typeface="NanumSquare"/>
                <a:cs typeface="NanumSquare"/>
              </a:defRPr>
            </a:pPr>
            <a:r>
              <a:rPr sz="1200" b="1">
                <a:solidFill>
                  <a:srgbClr val="C7D7EA"/>
                </a:solidFill>
                <a:latin typeface="NanumSquare"/>
                <a:ea typeface="NanumSquare"/>
                <a:cs typeface="NanumSquare"/>
              </a:rPr>
              <a:t>GOAL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A3AC9F8-C8C3-41AE-80CA-590F604B5D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524250"/>
            <a:ext cx="28765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FFFFFF"/>
                </a:solidFill>
                <a:latin typeface="NanumSquare"/>
                <a:ea typeface="NanumSquare"/>
                <a:cs typeface="NanumSquare"/>
              </a:defRPr>
            </a:pPr>
            <a:r>
              <a:rPr sz="1800" b="1">
                <a:solidFill>
                  <a:srgbClr val="FFFFFF"/>
                </a:solidFill>
                <a:latin typeface="NanumSquare"/>
                <a:ea typeface="NanumSquare"/>
                <a:cs typeface="NanumSquare"/>
              </a:rPr>
              <a:t>목표를 이해한다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2FF2A70-8F53-4171-81A2-F5C4733230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267200"/>
            <a:ext cx="28765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275" b="0">
                <a:solidFill>
                  <a:srgbClr val="D6D6D6"/>
                </a:solidFill>
                <a:latin typeface="NanumSquare"/>
                <a:ea typeface="NanumSquare"/>
                <a:cs typeface="NanumSquare"/>
              </a:defRPr>
            </a:pPr>
            <a:r>
              <a:rPr sz="1275" b="0">
                <a:solidFill>
                  <a:srgbClr val="D6D6D6"/>
                </a:solidFill>
                <a:latin typeface="NanumSquare"/>
                <a:ea typeface="NanumSquare"/>
                <a:cs typeface="NanumSquare"/>
              </a:rPr>
              <a:t>단순 질의응답을 넘어 의도, 제약, 성공 기준을 분해합니다.</a:t>
            </a:r>
          </a:p>
        </p:txBody>
      </p:sp>
      <p:sp>
        <p:nvSpPr>
          <p:cNvPr id="8" name="card-2">
            <a:extLst xmlns:a="http://schemas.openxmlformats.org/drawingml/2006/main">
              <a:ext uri="{FF2B5EF4-FFF2-40B4-BE49-F238E27FC236}">
                <a16:creationId xmlns:a16="http://schemas.microsoft.com/office/drawing/2014/main" id="{42832B1F-4D5E-44E9-8D4D-184F581E59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2895600"/>
            <a:ext cx="3333750" cy="2362200"/>
          </a:xfrm>
          <a:prstGeom xmlns:a="http://schemas.openxmlformats.org/drawingml/2006/main" prst="roundRect">
            <a:avLst>
              <a:gd name="adj" fmla="val 4839"/>
            </a:avLst>
          </a:prstGeom>
          <a:solidFill xmlns:a="http://schemas.openxmlformats.org/drawingml/2006/main">
            <a:srgbClr val="101827"/>
          </a:solidFill>
          <a:ln xmlns:a="http://schemas.openxmlformats.org/drawingml/2006/main" w="9525">
            <a:solidFill>
              <a:srgbClr val="3B3B3D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AC5CE91-4425-40D0-9DA2-A7E97C0F96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3124200"/>
            <a:ext cx="2876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200" b="1">
                <a:solidFill>
                  <a:srgbClr val="C7D7EA"/>
                </a:solidFill>
                <a:latin typeface="NanumSquare"/>
                <a:ea typeface="NanumSquare"/>
                <a:cs typeface="NanumSquare"/>
              </a:defRPr>
            </a:pPr>
            <a:r>
              <a:rPr sz="1200" b="1">
                <a:solidFill>
                  <a:srgbClr val="C7D7EA"/>
                </a:solidFill>
                <a:latin typeface="NanumSquare"/>
                <a:ea typeface="NanumSquare"/>
                <a:cs typeface="NanumSquare"/>
              </a:rPr>
              <a:t>TOOLS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DA50EE5-0EB0-424E-97B5-43EAA4988A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3524250"/>
            <a:ext cx="28765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FFFFFF"/>
                </a:solidFill>
                <a:latin typeface="NanumSquare"/>
                <a:ea typeface="NanumSquare"/>
                <a:cs typeface="NanumSquare"/>
              </a:defRPr>
            </a:pPr>
            <a:r>
              <a:rPr sz="1800" b="1">
                <a:solidFill>
                  <a:srgbClr val="FFFFFF"/>
                </a:solidFill>
                <a:latin typeface="NanumSquare"/>
                <a:ea typeface="NanumSquare"/>
                <a:cs typeface="NanumSquare"/>
              </a:rPr>
              <a:t>도구를 호출한다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92214E1-6740-43D2-B364-7E15436572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4267200"/>
            <a:ext cx="28765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275" b="0">
                <a:solidFill>
                  <a:srgbClr val="D6D6D6"/>
                </a:solidFill>
                <a:latin typeface="NanumSquare"/>
                <a:ea typeface="NanumSquare"/>
                <a:cs typeface="NanumSquare"/>
              </a:defRPr>
            </a:pPr>
            <a:r>
              <a:rPr sz="1275" b="0">
                <a:solidFill>
                  <a:srgbClr val="D6D6D6"/>
                </a:solidFill>
                <a:latin typeface="NanumSquare"/>
                <a:ea typeface="NanumSquare"/>
                <a:cs typeface="NanumSquare"/>
              </a:rPr>
              <a:t>검색, DB, 코드 실행, 업무 시스템, API를 필요에 따라 연결합니다.</a:t>
            </a:r>
          </a:p>
        </p:txBody>
      </p:sp>
      <p:sp>
        <p:nvSpPr>
          <p:cNvPr id="12" name="card-3">
            <a:extLst xmlns:a="http://schemas.openxmlformats.org/drawingml/2006/main">
              <a:ext uri="{FF2B5EF4-FFF2-40B4-BE49-F238E27FC236}">
                <a16:creationId xmlns:a16="http://schemas.microsoft.com/office/drawing/2014/main" id="{91EF6513-9544-499E-9A26-D67853825C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2895600"/>
            <a:ext cx="3333750" cy="2362200"/>
          </a:xfrm>
          <a:prstGeom xmlns:a="http://schemas.openxmlformats.org/drawingml/2006/main" prst="roundRect">
            <a:avLst>
              <a:gd name="adj" fmla="val 4839"/>
            </a:avLst>
          </a:prstGeom>
          <a:solidFill xmlns:a="http://schemas.openxmlformats.org/drawingml/2006/main">
            <a:srgbClr val="101827"/>
          </a:solidFill>
          <a:ln xmlns:a="http://schemas.openxmlformats.org/drawingml/2006/main" w="9525">
            <a:solidFill>
              <a:srgbClr val="3B3B3D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4103014-9E9B-4546-92FA-72DCCE9951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3124200"/>
            <a:ext cx="2876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200" b="1">
                <a:solidFill>
                  <a:srgbClr val="C7D7EA"/>
                </a:solidFill>
                <a:latin typeface="NanumSquare"/>
                <a:ea typeface="NanumSquare"/>
                <a:cs typeface="NanumSquare"/>
              </a:defRPr>
            </a:pPr>
            <a:r>
              <a:rPr sz="1200" b="1">
                <a:solidFill>
                  <a:srgbClr val="C7D7EA"/>
                </a:solidFill>
                <a:latin typeface="NanumSquare"/>
                <a:ea typeface="NanumSquare"/>
                <a:cs typeface="NanumSquare"/>
              </a:rPr>
              <a:t>CONTROL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221B5D2-409B-4440-9320-AB0B46C9D4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3524250"/>
            <a:ext cx="28765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FFFFFF"/>
                </a:solidFill>
                <a:latin typeface="NanumSquare"/>
                <a:ea typeface="NanumSquare"/>
                <a:cs typeface="NanumSquare"/>
              </a:defRPr>
            </a:pPr>
            <a:r>
              <a:rPr sz="1800" b="1">
                <a:solidFill>
                  <a:srgbClr val="FFFFFF"/>
                </a:solidFill>
                <a:latin typeface="NanumSquare"/>
                <a:ea typeface="NanumSquare"/>
                <a:cs typeface="NanumSquare"/>
              </a:rPr>
              <a:t>결과를 검증한다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B681134-4673-4A9C-8F32-5B907F45AE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4267200"/>
            <a:ext cx="28765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275" b="0">
                <a:solidFill>
                  <a:srgbClr val="D6D6D6"/>
                </a:solidFill>
                <a:latin typeface="NanumSquare"/>
                <a:ea typeface="NanumSquare"/>
                <a:cs typeface="NanumSquare"/>
              </a:defRPr>
            </a:pPr>
            <a:r>
              <a:rPr sz="1275" b="0">
                <a:solidFill>
                  <a:srgbClr val="D6D6D6"/>
                </a:solidFill>
                <a:latin typeface="NanumSquare"/>
                <a:ea typeface="NanumSquare"/>
                <a:cs typeface="NanumSquare"/>
              </a:rPr>
              <a:t>에러, 권한, 안전성, 비용, 품질을 확인하며 루프를 멈춥니다.</a:t>
            </a:r>
          </a:p>
        </p:txBody>
      </p:sp>
      <p:sp>
        <p:nvSpPr>
          <p:cNvPr id="16" name="footer-left">
            <a:extLst xmlns:a="http://schemas.openxmlformats.org/drawingml/2006/main">
              <a:ext uri="{FF2B5EF4-FFF2-40B4-BE49-F238E27FC236}">
                <a16:creationId xmlns:a16="http://schemas.microsoft.com/office/drawing/2014/main" id="{382C55FE-6C93-49B4-821A-31DE9D7322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476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825" b="0">
                <a:solidFill>
                  <a:srgbClr val="9CA8B8"/>
                </a:solidFill>
                <a:latin typeface="NanumSquare"/>
                <a:ea typeface="NanumSquare"/>
                <a:cs typeface="NanumSquare"/>
              </a:defRPr>
            </a:pPr>
            <a:r>
              <a:rPr sz="825" b="0">
                <a:solidFill>
                  <a:srgbClr val="9CA8B8"/>
                </a:solidFill>
                <a:latin typeface="NanumSquare"/>
                <a:ea typeface="NanumSquare"/>
                <a:cs typeface="NanumSquare"/>
              </a:rPr>
              <a:t>Goorm 20260701 AI Campus Prism 사전 특강</a:t>
            </a:r>
          </a:p>
        </p:txBody>
      </p:sp>
      <p:sp>
        <p:nvSpPr>
          <p:cNvPr id="17" name="footer-page">
            <a:extLst xmlns:a="http://schemas.openxmlformats.org/drawingml/2006/main">
              <a:ext uri="{FF2B5EF4-FFF2-40B4-BE49-F238E27FC236}">
                <a16:creationId xmlns:a16="http://schemas.microsoft.com/office/drawing/2014/main" id="{5E1F5D06-CB03-4739-85D5-4D074AB179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6438900"/>
            <a:ext cx="400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lnSpc>
                <a:spcPct val="118000"/>
              </a:lnSpc>
              <a:buNone/>
              <a:defRPr sz="825" b="0">
                <a:solidFill>
                  <a:srgbClr val="9CA8B8"/>
                </a:solidFill>
                <a:latin typeface="NanumSquare"/>
                <a:ea typeface="NanumSquare"/>
                <a:cs typeface="NanumSquare"/>
              </a:defRPr>
            </a:pPr>
            <a:r>
              <a:rPr sz="825" b="0">
                <a:solidFill>
                  <a:srgbClr val="9CA8B8"/>
                </a:solidFill>
                <a:latin typeface="NanumSquare"/>
                <a:ea typeface="NanumSquare"/>
                <a:cs typeface="NanumSquare"/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296413089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5F6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eyebrow">
            <a:extLst xmlns:a="http://schemas.openxmlformats.org/drawingml/2006/main">
              <a:ext uri="{FF2B5EF4-FFF2-40B4-BE49-F238E27FC236}">
                <a16:creationId xmlns:a16="http://schemas.microsoft.com/office/drawing/2014/main" id="{0719EF73-51E9-4D2E-81B2-DE75009AD7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815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975" b="1">
                <a:solidFill>
                  <a:srgbClr val="667085"/>
                </a:solidFill>
                <a:latin typeface="NanumSquare"/>
                <a:ea typeface="NanumSquare"/>
                <a:cs typeface="NanumSquare"/>
              </a:defRPr>
            </a:pPr>
            <a:r>
              <a:rPr sz="975" b="1">
                <a:solidFill>
                  <a:srgbClr val="667085"/>
                </a:solidFill>
                <a:latin typeface="NanumSquare"/>
                <a:ea typeface="NanumSquare"/>
                <a:cs typeface="NanumSquare"/>
              </a:rPr>
              <a:t>AGENT LOOP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6FC79C02-0A01-43F7-9DC0-4995DA0D2C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38200"/>
            <a:ext cx="103632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2850" b="1">
                <a:solidFill>
                  <a:srgbClr val="1D1D1F"/>
                </a:solidFill>
                <a:latin typeface="NanumSquare"/>
                <a:ea typeface="NanumSquare"/>
                <a:cs typeface="NanumSquare"/>
              </a:defRPr>
            </a:pPr>
            <a:r>
              <a:rPr sz="2850" b="1">
                <a:solidFill>
                  <a:srgbClr val="1D1D1F"/>
                </a:solidFill>
                <a:latin typeface="NanumSquare"/>
                <a:ea typeface="NanumSquare"/>
                <a:cs typeface="NanumSquare"/>
              </a:rPr>
              <a:t>에이전트의 기본 루프</a:t>
            </a:r>
          </a:p>
        </p:txBody>
      </p:sp>
      <p:sp>
        <p:nvSpPr>
          <p:cNvPr id="3" name="subtitle">
            <a:extLst xmlns:a="http://schemas.openxmlformats.org/drawingml/2006/main">
              <a:ext uri="{FF2B5EF4-FFF2-40B4-BE49-F238E27FC236}">
                <a16:creationId xmlns:a16="http://schemas.microsoft.com/office/drawing/2014/main" id="{3FED2FBB-EB22-4EE3-B7FC-27EFC9D49A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47850"/>
            <a:ext cx="103632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22000"/>
              </a:lnSpc>
              <a:buNone/>
              <a:defRPr sz="1575" b="0">
                <a:solidFill>
                  <a:srgbClr val="667085"/>
                </a:solidFill>
                <a:latin typeface="NanumSquare"/>
                <a:ea typeface="NanumSquare"/>
                <a:cs typeface="NanumSquare"/>
              </a:defRPr>
            </a:pPr>
            <a:r>
              <a:rPr sz="1575" b="0">
                <a:solidFill>
                  <a:srgbClr val="667085"/>
                </a:solidFill>
                <a:latin typeface="NanumSquare"/>
                <a:ea typeface="NanumSquare"/>
                <a:cs typeface="NanumSquare"/>
              </a:rPr>
              <a:t>Planner, Tools, Memory, Evaluator, Guardrail이 모이면 실무형 AI 흐름이 됩니다.</a:t>
            </a:r>
          </a:p>
        </p:txBody>
      </p:sp>
      <p:sp>
        <p:nvSpPr>
          <p:cNvPr id="4" name="agent-node-0">
            <a:extLst xmlns:a="http://schemas.openxmlformats.org/drawingml/2006/main">
              <a:ext uri="{FF2B5EF4-FFF2-40B4-BE49-F238E27FC236}">
                <a16:creationId xmlns:a16="http://schemas.microsoft.com/office/drawing/2014/main" id="{3217B61A-28B3-43E7-928A-A42FE448E1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009900"/>
            <a:ext cx="1581150" cy="12573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792EC1A-563F-4262-A019-F5AEAC3630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352800"/>
            <a:ext cx="1162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18000"/>
              </a:lnSpc>
              <a:buNone/>
              <a:defRPr sz="1725" b="1">
                <a:solidFill>
                  <a:srgbClr val="1D1D1F"/>
                </a:solidFill>
                <a:latin typeface="NanumSquare"/>
                <a:ea typeface="NanumSquare"/>
                <a:cs typeface="NanumSquare"/>
              </a:defRPr>
            </a:pPr>
            <a:r>
              <a:rPr sz="1725" b="1">
                <a:solidFill>
                  <a:srgbClr val="1D1D1F"/>
                </a:solidFill>
                <a:latin typeface="NanumSquare"/>
                <a:ea typeface="NanumSquare"/>
                <a:cs typeface="NanumSquare"/>
              </a:rPr>
              <a:t>Plan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83FAE04-3FB6-4560-87C9-0D9D29AE74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733800"/>
            <a:ext cx="12001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18000"/>
              </a:lnSpc>
              <a:buNone/>
              <a:defRPr sz="1125" b="0">
                <a:solidFill>
                  <a:srgbClr val="667085"/>
                </a:solidFill>
                <a:latin typeface="NanumSquare"/>
                <a:ea typeface="NanumSquare"/>
                <a:cs typeface="NanumSquare"/>
              </a:defRPr>
            </a:pPr>
            <a:r>
              <a:rPr sz="1125" b="0">
                <a:solidFill>
                  <a:srgbClr val="667085"/>
                </a:solidFill>
                <a:latin typeface="NanumSquare"/>
                <a:ea typeface="NanumSquare"/>
                <a:cs typeface="NanumSquare"/>
              </a:rPr>
              <a:t>무엇을 해야 하는가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B749E43-0A52-4002-A2FD-A493F606F3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3429000"/>
            <a:ext cx="3238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18000"/>
              </a:lnSpc>
              <a:buNone/>
              <a:defRPr sz="1950" b="0">
                <a:solidFill>
                  <a:srgbClr val="0A2342"/>
                </a:solidFill>
                <a:latin typeface="NanumSquare"/>
                <a:ea typeface="NanumSquare"/>
                <a:cs typeface="NanumSquare"/>
              </a:defRPr>
            </a:pPr>
            <a:r>
              <a:rPr sz="1950" b="0">
                <a:solidFill>
                  <a:srgbClr val="0A2342"/>
                </a:solidFill>
                <a:latin typeface="NanumSquare"/>
                <a:ea typeface="NanumSquare"/>
                <a:cs typeface="NanumSquare"/>
              </a:rPr>
              <a:t>→</a:t>
            </a:r>
          </a:p>
        </p:txBody>
      </p:sp>
      <p:sp>
        <p:nvSpPr>
          <p:cNvPr id="8" name="agent-node-1">
            <a:extLst xmlns:a="http://schemas.openxmlformats.org/drawingml/2006/main">
              <a:ext uri="{FF2B5EF4-FFF2-40B4-BE49-F238E27FC236}">
                <a16:creationId xmlns:a16="http://schemas.microsoft.com/office/drawing/2014/main" id="{4ECD2BAC-3B44-4643-BDAB-3E3B775689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3009900"/>
            <a:ext cx="1581150" cy="12573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7D02D32-3E1F-4A7A-81CD-189DC50117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3352800"/>
            <a:ext cx="1162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18000"/>
              </a:lnSpc>
              <a:buNone/>
              <a:defRPr sz="1725" b="1">
                <a:solidFill>
                  <a:srgbClr val="1D1D1F"/>
                </a:solidFill>
                <a:latin typeface="NanumSquare"/>
                <a:ea typeface="NanumSquare"/>
                <a:cs typeface="NanumSquare"/>
              </a:defRPr>
            </a:pPr>
            <a:r>
              <a:rPr sz="1725" b="1">
                <a:solidFill>
                  <a:srgbClr val="1D1D1F"/>
                </a:solidFill>
                <a:latin typeface="NanumSquare"/>
                <a:ea typeface="NanumSquare"/>
                <a:cs typeface="NanumSquare"/>
              </a:rPr>
              <a:t>Retrieve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BD59A1C-5116-4933-8262-5A7D6BA5AB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3733800"/>
            <a:ext cx="12001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18000"/>
              </a:lnSpc>
              <a:buNone/>
              <a:defRPr sz="1125" b="0">
                <a:solidFill>
                  <a:srgbClr val="667085"/>
                </a:solidFill>
                <a:latin typeface="NanumSquare"/>
                <a:ea typeface="NanumSquare"/>
                <a:cs typeface="NanumSquare"/>
              </a:defRPr>
            </a:pPr>
            <a:r>
              <a:rPr sz="1125" b="0">
                <a:solidFill>
                  <a:srgbClr val="667085"/>
                </a:solidFill>
                <a:latin typeface="NanumSquare"/>
                <a:ea typeface="NanumSquare"/>
                <a:cs typeface="NanumSquare"/>
              </a:rPr>
              <a:t>무엇을 알아야 하는가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9FB40C7-278F-438A-BAF5-61642A49C0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4400" y="3429000"/>
            <a:ext cx="3238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18000"/>
              </a:lnSpc>
              <a:buNone/>
              <a:defRPr sz="1950" b="0">
                <a:solidFill>
                  <a:srgbClr val="0A2342"/>
                </a:solidFill>
                <a:latin typeface="NanumSquare"/>
                <a:ea typeface="NanumSquare"/>
                <a:cs typeface="NanumSquare"/>
              </a:defRPr>
            </a:pPr>
            <a:r>
              <a:rPr sz="1950" b="0">
                <a:solidFill>
                  <a:srgbClr val="0A2342"/>
                </a:solidFill>
                <a:latin typeface="NanumSquare"/>
                <a:ea typeface="NanumSquare"/>
                <a:cs typeface="NanumSquare"/>
              </a:rPr>
              <a:t>→</a:t>
            </a:r>
          </a:p>
        </p:txBody>
      </p:sp>
      <p:sp>
        <p:nvSpPr>
          <p:cNvPr id="12" name="agent-node-2">
            <a:extLst xmlns:a="http://schemas.openxmlformats.org/drawingml/2006/main">
              <a:ext uri="{FF2B5EF4-FFF2-40B4-BE49-F238E27FC236}">
                <a16:creationId xmlns:a16="http://schemas.microsoft.com/office/drawing/2014/main" id="{0E4BD169-37FA-42C3-9202-A47D2FC26B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3009900"/>
            <a:ext cx="1581150" cy="12573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727F2B6-28FC-4AAD-BA8B-99861E0AF4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50" y="3352800"/>
            <a:ext cx="1162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18000"/>
              </a:lnSpc>
              <a:buNone/>
              <a:defRPr sz="1725" b="1">
                <a:solidFill>
                  <a:srgbClr val="1D1D1F"/>
                </a:solidFill>
                <a:latin typeface="NanumSquare"/>
                <a:ea typeface="NanumSquare"/>
                <a:cs typeface="NanumSquare"/>
              </a:defRPr>
            </a:pPr>
            <a:r>
              <a:rPr sz="1725" b="1">
                <a:solidFill>
                  <a:srgbClr val="1D1D1F"/>
                </a:solidFill>
                <a:latin typeface="NanumSquare"/>
                <a:ea typeface="NanumSquare"/>
                <a:cs typeface="NanumSquare"/>
              </a:rPr>
              <a:t>Act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66DF30F-1D72-4D0E-84B8-0900024B01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95900" y="3733800"/>
            <a:ext cx="12001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18000"/>
              </a:lnSpc>
              <a:buNone/>
              <a:defRPr sz="1125" b="0">
                <a:solidFill>
                  <a:srgbClr val="667085"/>
                </a:solidFill>
                <a:latin typeface="NanumSquare"/>
                <a:ea typeface="NanumSquare"/>
                <a:cs typeface="NanumSquare"/>
              </a:defRPr>
            </a:pPr>
            <a:r>
              <a:rPr sz="1125" b="0">
                <a:solidFill>
                  <a:srgbClr val="667085"/>
                </a:solidFill>
                <a:latin typeface="NanumSquare"/>
                <a:ea typeface="NanumSquare"/>
                <a:cs typeface="NanumSquare"/>
              </a:rPr>
              <a:t>어떤 도구를 쓸 것인가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7664E04-992C-432F-8941-E2BB28ADDF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3429000"/>
            <a:ext cx="3238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18000"/>
              </a:lnSpc>
              <a:buNone/>
              <a:defRPr sz="1950" b="0">
                <a:solidFill>
                  <a:srgbClr val="0A2342"/>
                </a:solidFill>
                <a:latin typeface="NanumSquare"/>
                <a:ea typeface="NanumSquare"/>
                <a:cs typeface="NanumSquare"/>
              </a:defRPr>
            </a:pPr>
            <a:r>
              <a:rPr sz="1950" b="0">
                <a:solidFill>
                  <a:srgbClr val="0A2342"/>
                </a:solidFill>
                <a:latin typeface="NanumSquare"/>
                <a:ea typeface="NanumSquare"/>
                <a:cs typeface="NanumSquare"/>
              </a:rPr>
              <a:t>→</a:t>
            </a:r>
          </a:p>
        </p:txBody>
      </p:sp>
      <p:sp>
        <p:nvSpPr>
          <p:cNvPr id="16" name="agent-node-3">
            <a:extLst xmlns:a="http://schemas.openxmlformats.org/drawingml/2006/main">
              <a:ext uri="{FF2B5EF4-FFF2-40B4-BE49-F238E27FC236}">
                <a16:creationId xmlns:a16="http://schemas.microsoft.com/office/drawing/2014/main" id="{88C432DE-46FB-4464-B03D-3AF906907E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3009900"/>
            <a:ext cx="1581150" cy="12573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033F9E3-4720-4462-A939-27127BFD04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3352800"/>
            <a:ext cx="1162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18000"/>
              </a:lnSpc>
              <a:buNone/>
              <a:defRPr sz="1725" b="1">
                <a:solidFill>
                  <a:srgbClr val="1D1D1F"/>
                </a:solidFill>
                <a:latin typeface="NanumSquare"/>
                <a:ea typeface="NanumSquare"/>
                <a:cs typeface="NanumSquare"/>
              </a:defRPr>
            </a:pPr>
            <a:r>
              <a:rPr sz="1725" b="1">
                <a:solidFill>
                  <a:srgbClr val="1D1D1F"/>
                </a:solidFill>
                <a:latin typeface="NanumSquare"/>
                <a:ea typeface="NanumSquare"/>
                <a:cs typeface="NanumSquare"/>
              </a:rPr>
              <a:t>Check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BF34D77-55BE-4AB1-9F56-DB0120B4CC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3733800"/>
            <a:ext cx="12001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18000"/>
              </a:lnSpc>
              <a:buNone/>
              <a:defRPr sz="1125" b="0">
                <a:solidFill>
                  <a:srgbClr val="667085"/>
                </a:solidFill>
                <a:latin typeface="NanumSquare"/>
                <a:ea typeface="NanumSquare"/>
                <a:cs typeface="NanumSquare"/>
              </a:defRPr>
            </a:pPr>
            <a:r>
              <a:rPr sz="1125" b="0">
                <a:solidFill>
                  <a:srgbClr val="667085"/>
                </a:solidFill>
                <a:latin typeface="NanumSquare"/>
                <a:ea typeface="NanumSquare"/>
                <a:cs typeface="NanumSquare"/>
              </a:rPr>
              <a:t>믿어도 되는가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694F958-5F7A-43FB-B6E6-C0F20F1909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3429000"/>
            <a:ext cx="3238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18000"/>
              </a:lnSpc>
              <a:buNone/>
              <a:defRPr sz="1950" b="0">
                <a:solidFill>
                  <a:srgbClr val="0A2342"/>
                </a:solidFill>
                <a:latin typeface="NanumSquare"/>
                <a:ea typeface="NanumSquare"/>
                <a:cs typeface="NanumSquare"/>
              </a:defRPr>
            </a:pPr>
            <a:r>
              <a:rPr sz="1950" b="0">
                <a:solidFill>
                  <a:srgbClr val="0A2342"/>
                </a:solidFill>
                <a:latin typeface="NanumSquare"/>
                <a:ea typeface="NanumSquare"/>
                <a:cs typeface="NanumSquare"/>
              </a:rPr>
              <a:t>→</a:t>
            </a:r>
          </a:p>
        </p:txBody>
      </p:sp>
      <p:sp>
        <p:nvSpPr>
          <p:cNvPr id="20" name="agent-node-4">
            <a:extLst xmlns:a="http://schemas.openxmlformats.org/drawingml/2006/main">
              <a:ext uri="{FF2B5EF4-FFF2-40B4-BE49-F238E27FC236}">
                <a16:creationId xmlns:a16="http://schemas.microsoft.com/office/drawing/2014/main" id="{B0948920-3B15-4468-A7B8-CE07FD22CE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0" y="3009900"/>
            <a:ext cx="1581150" cy="12573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75202BF-2DC3-485E-A1AF-01D877CB84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3352800"/>
            <a:ext cx="1162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18000"/>
              </a:lnSpc>
              <a:buNone/>
              <a:defRPr sz="1725" b="1">
                <a:solidFill>
                  <a:srgbClr val="1D1D1F"/>
                </a:solidFill>
                <a:latin typeface="NanumSquare"/>
                <a:ea typeface="NanumSquare"/>
                <a:cs typeface="NanumSquare"/>
              </a:defRPr>
            </a:pPr>
            <a:r>
              <a:rPr sz="1725" b="1">
                <a:solidFill>
                  <a:srgbClr val="1D1D1F"/>
                </a:solidFill>
                <a:latin typeface="NanumSquare"/>
                <a:ea typeface="NanumSquare"/>
                <a:cs typeface="NanumSquare"/>
              </a:rPr>
              <a:t>Learn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1EC55E9-A557-45CD-B392-EE37050B50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3733800"/>
            <a:ext cx="12001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18000"/>
              </a:lnSpc>
              <a:buNone/>
              <a:defRPr sz="1125" b="0">
                <a:solidFill>
                  <a:srgbClr val="667085"/>
                </a:solidFill>
                <a:latin typeface="NanumSquare"/>
                <a:ea typeface="NanumSquare"/>
                <a:cs typeface="NanumSquare"/>
              </a:defRPr>
            </a:pPr>
            <a:r>
              <a:rPr sz="1125" b="0">
                <a:solidFill>
                  <a:srgbClr val="667085"/>
                </a:solidFill>
                <a:latin typeface="NanumSquare"/>
                <a:ea typeface="NanumSquare"/>
                <a:cs typeface="NanumSquare"/>
              </a:rPr>
              <a:t>다음에 더 잘하려면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EBD4B57-C1A1-44ED-B6D9-EBF60BEA4E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5295900"/>
            <a:ext cx="9334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18000"/>
              </a:lnSpc>
              <a:buNone/>
              <a:defRPr sz="1575" b="0">
                <a:solidFill>
                  <a:srgbClr val="1D1D1F"/>
                </a:solidFill>
                <a:latin typeface="NanumSquare"/>
                <a:ea typeface="NanumSquare"/>
                <a:cs typeface="NanumSquare"/>
              </a:defRPr>
            </a:pPr>
            <a:r>
              <a:rPr sz="1575" b="0">
                <a:solidFill>
                  <a:srgbClr val="1D1D1F"/>
                </a:solidFill>
                <a:latin typeface="NanumSquare"/>
                <a:ea typeface="NanumSquare"/>
                <a:cs typeface="NanumSquare"/>
              </a:rPr>
              <a:t>이 루프가 제품 안으로 들어오면 PM은 정책을, 디자이너는 인터랙션을, 엔지니어는 실행/검증을 설계하게 됩니다.</a:t>
            </a:r>
          </a:p>
        </p:txBody>
      </p:sp>
      <p:sp>
        <p:nvSpPr>
          <p:cNvPr id="24" name="footer-left">
            <a:extLst xmlns:a="http://schemas.openxmlformats.org/drawingml/2006/main">
              <a:ext uri="{FF2B5EF4-FFF2-40B4-BE49-F238E27FC236}">
                <a16:creationId xmlns:a16="http://schemas.microsoft.com/office/drawing/2014/main" id="{9FFAAAF6-9273-4B86-84AC-4CCDCDEE34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476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825" b="0">
                <a:solidFill>
                  <a:srgbClr val="667085"/>
                </a:solidFill>
                <a:latin typeface="NanumSquare"/>
                <a:ea typeface="NanumSquare"/>
                <a:cs typeface="NanumSquare"/>
              </a:defRPr>
            </a:pPr>
            <a:r>
              <a:rPr sz="825" b="0">
                <a:solidFill>
                  <a:srgbClr val="667085"/>
                </a:solidFill>
                <a:latin typeface="NanumSquare"/>
                <a:ea typeface="NanumSquare"/>
                <a:cs typeface="NanumSquare"/>
              </a:rPr>
              <a:t>Goorm 20260701 AI Campus Prism 사전 특강</a:t>
            </a:r>
          </a:p>
        </p:txBody>
      </p:sp>
      <p:sp>
        <p:nvSpPr>
          <p:cNvPr id="25" name="footer-page">
            <a:extLst xmlns:a="http://schemas.openxmlformats.org/drawingml/2006/main">
              <a:ext uri="{FF2B5EF4-FFF2-40B4-BE49-F238E27FC236}">
                <a16:creationId xmlns:a16="http://schemas.microsoft.com/office/drawing/2014/main" id="{2F17EAB9-980C-411C-AB24-425AA67674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6438900"/>
            <a:ext cx="400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lnSpc>
                <a:spcPct val="118000"/>
              </a:lnSpc>
              <a:buNone/>
              <a:defRPr sz="825" b="0">
                <a:solidFill>
                  <a:srgbClr val="667085"/>
                </a:solidFill>
                <a:latin typeface="NanumSquare"/>
                <a:ea typeface="NanumSquare"/>
                <a:cs typeface="NanumSquare"/>
              </a:defRPr>
            </a:pPr>
            <a:r>
              <a:rPr sz="825" b="0">
                <a:solidFill>
                  <a:srgbClr val="667085"/>
                </a:solidFill>
                <a:latin typeface="NanumSquare"/>
                <a:ea typeface="NanumSquare"/>
                <a:cs typeface="NanumSquare"/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1697797788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eyebrow">
            <a:extLst xmlns:a="http://schemas.openxmlformats.org/drawingml/2006/main">
              <a:ext uri="{FF2B5EF4-FFF2-40B4-BE49-F238E27FC236}">
                <a16:creationId xmlns:a16="http://schemas.microsoft.com/office/drawing/2014/main" id="{8B7E9095-74BC-48D8-A01C-76987F2DED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815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975" b="1">
                <a:solidFill>
                  <a:srgbClr val="667085"/>
                </a:solidFill>
                <a:latin typeface="NanumSquare"/>
                <a:ea typeface="NanumSquare"/>
                <a:cs typeface="NanumSquare"/>
              </a:defRPr>
            </a:pPr>
            <a:r>
              <a:rPr sz="975" b="1">
                <a:solidFill>
                  <a:srgbClr val="667085"/>
                </a:solidFill>
                <a:latin typeface="NanumSquare"/>
                <a:ea typeface="NanumSquare"/>
                <a:cs typeface="NanumSquare"/>
              </a:rPr>
              <a:t>TECH MAP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E7129E20-CE21-4FB3-96BD-30EA2A30A5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38200"/>
            <a:ext cx="103632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2850" b="1">
                <a:solidFill>
                  <a:srgbClr val="1D1D1F"/>
                </a:solidFill>
                <a:latin typeface="NanumSquare"/>
                <a:ea typeface="NanumSquare"/>
                <a:cs typeface="NanumSquare"/>
              </a:defRPr>
            </a:pPr>
            <a:r>
              <a:rPr sz="2850" b="1">
                <a:solidFill>
                  <a:srgbClr val="1D1D1F"/>
                </a:solidFill>
                <a:latin typeface="NanumSquare"/>
                <a:ea typeface="NanumSquare"/>
                <a:cs typeface="NanumSquare"/>
              </a:rPr>
              <a:t>최신 AI 기술을 현업 언어로 번역하면</a:t>
            </a:r>
          </a:p>
        </p:txBody>
      </p:sp>
      <p:sp>
        <p:nvSpPr>
          <p:cNvPr id="3" name="subtitle">
            <a:extLst xmlns:a="http://schemas.openxmlformats.org/drawingml/2006/main">
              <a:ext uri="{FF2B5EF4-FFF2-40B4-BE49-F238E27FC236}">
                <a16:creationId xmlns:a16="http://schemas.microsoft.com/office/drawing/2014/main" id="{5230EBCA-B7D4-48E9-B946-F0AF95433E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47850"/>
            <a:ext cx="103632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22000"/>
              </a:lnSpc>
              <a:buNone/>
              <a:defRPr sz="1575" b="0">
                <a:solidFill>
                  <a:srgbClr val="667085"/>
                </a:solidFill>
                <a:latin typeface="NanumSquare"/>
                <a:ea typeface="NanumSquare"/>
                <a:cs typeface="NanumSquare"/>
              </a:defRPr>
            </a:pPr>
            <a:r>
              <a:rPr sz="1575" b="0">
                <a:solidFill>
                  <a:srgbClr val="667085"/>
                </a:solidFill>
                <a:latin typeface="NanumSquare"/>
                <a:ea typeface="NanumSquare"/>
                <a:cs typeface="NanumSquare"/>
              </a:rPr>
              <a:t>기술명보다 중요한 것은 어떤 책임을 맡기는지입니다.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412836A-4619-48DA-A2A1-88F846CDF0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59080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350" b="1">
                <a:solidFill>
                  <a:srgbClr val="0A2342"/>
                </a:solidFill>
                <a:latin typeface="NanumSquare"/>
                <a:ea typeface="NanumSquare"/>
                <a:cs typeface="NanumSquare"/>
              </a:defRPr>
            </a:pPr>
            <a:r>
              <a:rPr sz="1350" b="1">
                <a:solidFill>
                  <a:srgbClr val="0A2342"/>
                </a:solidFill>
                <a:latin typeface="NanumSquare"/>
                <a:ea typeface="NanumSquare"/>
                <a:cs typeface="NanumSquare"/>
              </a:rPr>
              <a:t>Tool Use / Function Calling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9F56D40-3289-44C8-B07B-D17F74FC60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2590800"/>
            <a:ext cx="685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350" b="0">
                <a:solidFill>
                  <a:srgbClr val="1D1D1F"/>
                </a:solidFill>
                <a:latin typeface="NanumSquare"/>
                <a:ea typeface="NanumSquare"/>
                <a:cs typeface="NanumSquare"/>
              </a:defRPr>
            </a:pPr>
            <a:r>
              <a:rPr sz="1350" b="0">
                <a:solidFill>
                  <a:srgbClr val="1D1D1F"/>
                </a:solidFill>
                <a:latin typeface="NanumSquare"/>
                <a:ea typeface="NanumSquare"/>
                <a:cs typeface="NanumSquare"/>
              </a:rPr>
              <a:t>AI가 외부 API와 업무 시스템을 호출하게 만드는 기술</a:t>
            </a:r>
          </a:p>
        </p:txBody>
      </p:sp>
      <p:sp>
        <p:nvSpPr>
          <p:cNvPr id="6" name="map-rule-0">
            <a:extLst xmlns:a="http://schemas.openxmlformats.org/drawingml/2006/main">
              <a:ext uri="{FF2B5EF4-FFF2-40B4-BE49-F238E27FC236}">
                <a16:creationId xmlns:a16="http://schemas.microsoft.com/office/drawing/2014/main" id="{D6EAF0E0-633B-43CA-A770-227F37500D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952750"/>
            <a:ext cx="99631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A2671A4-8F0A-45BE-971D-00FA4E537E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08610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350" b="1">
                <a:solidFill>
                  <a:srgbClr val="0A2342"/>
                </a:solidFill>
                <a:latin typeface="NanumSquare"/>
                <a:ea typeface="NanumSquare"/>
                <a:cs typeface="NanumSquare"/>
              </a:defRPr>
            </a:pPr>
            <a:r>
              <a:rPr sz="1350" b="1">
                <a:solidFill>
                  <a:srgbClr val="0A2342"/>
                </a:solidFill>
                <a:latin typeface="NanumSquare"/>
                <a:ea typeface="NanumSquare"/>
                <a:cs typeface="NanumSquare"/>
              </a:rPr>
              <a:t>MCP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BF8F9BF-5B4A-4CC7-B920-6B67DDB739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3086100"/>
            <a:ext cx="685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350" b="0">
                <a:solidFill>
                  <a:srgbClr val="1D1D1F"/>
                </a:solidFill>
                <a:latin typeface="NanumSquare"/>
                <a:ea typeface="NanumSquare"/>
                <a:cs typeface="NanumSquare"/>
              </a:defRPr>
            </a:pPr>
            <a:r>
              <a:rPr sz="1350" b="0">
                <a:solidFill>
                  <a:srgbClr val="1D1D1F"/>
                </a:solidFill>
                <a:latin typeface="NanumSquare"/>
                <a:ea typeface="NanumSquare"/>
                <a:cs typeface="NanumSquare"/>
              </a:rPr>
              <a:t>도구와 데이터 소스를 AI 클라이언트에 연결하는 표준 인터페이스</a:t>
            </a:r>
          </a:p>
        </p:txBody>
      </p:sp>
      <p:sp>
        <p:nvSpPr>
          <p:cNvPr id="9" name="map-rule-1">
            <a:extLst xmlns:a="http://schemas.openxmlformats.org/drawingml/2006/main">
              <a:ext uri="{FF2B5EF4-FFF2-40B4-BE49-F238E27FC236}">
                <a16:creationId xmlns:a16="http://schemas.microsoft.com/office/drawing/2014/main" id="{4033B952-A9C4-413D-A975-06AC764671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448050"/>
            <a:ext cx="99631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A777195-DBEF-40B6-AFE0-D1E5EBF954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58140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350" b="1">
                <a:solidFill>
                  <a:srgbClr val="0A2342"/>
                </a:solidFill>
                <a:latin typeface="NanumSquare"/>
                <a:ea typeface="NanumSquare"/>
                <a:cs typeface="NanumSquare"/>
              </a:defRPr>
            </a:pPr>
            <a:r>
              <a:rPr sz="1350" b="1">
                <a:solidFill>
                  <a:srgbClr val="0A2342"/>
                </a:solidFill>
                <a:latin typeface="NanumSquare"/>
                <a:ea typeface="NanumSquare"/>
                <a:cs typeface="NanumSquare"/>
              </a:rPr>
              <a:t>RAG / Vector DB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3933960-594B-4292-A559-DD1B60C7D6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3581400"/>
            <a:ext cx="685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350" b="0">
                <a:solidFill>
                  <a:srgbClr val="1D1D1F"/>
                </a:solidFill>
                <a:latin typeface="NanumSquare"/>
                <a:ea typeface="NanumSquare"/>
                <a:cs typeface="NanumSquare"/>
              </a:defRPr>
            </a:pPr>
            <a:r>
              <a:rPr sz="1350" b="0">
                <a:solidFill>
                  <a:srgbClr val="1D1D1F"/>
                </a:solidFill>
                <a:latin typeface="NanumSquare"/>
                <a:ea typeface="NanumSquare"/>
                <a:cs typeface="NanumSquare"/>
              </a:rPr>
              <a:t>사내 문서, 상품정보, 리뷰를 검색 가능한 지식으로 바꾸는 구조</a:t>
            </a:r>
          </a:p>
        </p:txBody>
      </p:sp>
      <p:sp>
        <p:nvSpPr>
          <p:cNvPr id="12" name="map-rule-2">
            <a:extLst xmlns:a="http://schemas.openxmlformats.org/drawingml/2006/main">
              <a:ext uri="{FF2B5EF4-FFF2-40B4-BE49-F238E27FC236}">
                <a16:creationId xmlns:a16="http://schemas.microsoft.com/office/drawing/2014/main" id="{F36232C7-1906-4D59-BC8B-C3CD06728C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943350"/>
            <a:ext cx="99631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EAF9560-185B-4C17-80C1-AB7F5FC8A9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07670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350" b="1">
                <a:solidFill>
                  <a:srgbClr val="0A2342"/>
                </a:solidFill>
                <a:latin typeface="NanumSquare"/>
                <a:ea typeface="NanumSquare"/>
                <a:cs typeface="NanumSquare"/>
              </a:defRPr>
            </a:pPr>
            <a:r>
              <a:rPr sz="1350" b="1">
                <a:solidFill>
                  <a:srgbClr val="0A2342"/>
                </a:solidFill>
                <a:latin typeface="NanumSquare"/>
                <a:ea typeface="NanumSquare"/>
                <a:cs typeface="NanumSquare"/>
              </a:rPr>
              <a:t>Agent Workflow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A00F25C-8465-4A54-B6BF-EC4EC83A90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4076700"/>
            <a:ext cx="685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350" b="0">
                <a:solidFill>
                  <a:srgbClr val="1D1D1F"/>
                </a:solidFill>
                <a:latin typeface="NanumSquare"/>
                <a:ea typeface="NanumSquare"/>
                <a:cs typeface="NanumSquare"/>
              </a:defRPr>
            </a:pPr>
            <a:r>
              <a:rPr sz="1350" b="0">
                <a:solidFill>
                  <a:srgbClr val="1D1D1F"/>
                </a:solidFill>
                <a:latin typeface="NanumSquare"/>
                <a:ea typeface="NanumSquare"/>
                <a:cs typeface="NanumSquare"/>
              </a:rPr>
              <a:t>여러 단계의 판단과 실행을 상태 기반으로 운영하는 패턴</a:t>
            </a:r>
          </a:p>
        </p:txBody>
      </p:sp>
      <p:sp>
        <p:nvSpPr>
          <p:cNvPr id="15" name="map-rule-3">
            <a:extLst xmlns:a="http://schemas.openxmlformats.org/drawingml/2006/main">
              <a:ext uri="{FF2B5EF4-FFF2-40B4-BE49-F238E27FC236}">
                <a16:creationId xmlns:a16="http://schemas.microsoft.com/office/drawing/2014/main" id="{233AA138-8C3B-480E-8321-F032786891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438650"/>
            <a:ext cx="99631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6F2B6C7-D54C-4143-A82D-C39664FDEC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57200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350" b="1">
                <a:solidFill>
                  <a:srgbClr val="0A2342"/>
                </a:solidFill>
                <a:latin typeface="NanumSquare"/>
                <a:ea typeface="NanumSquare"/>
                <a:cs typeface="NanumSquare"/>
              </a:defRPr>
            </a:pPr>
            <a:r>
              <a:rPr sz="1350" b="1">
                <a:solidFill>
                  <a:srgbClr val="0A2342"/>
                </a:solidFill>
                <a:latin typeface="NanumSquare"/>
                <a:ea typeface="NanumSquare"/>
                <a:cs typeface="NanumSquare"/>
              </a:rPr>
              <a:t>Evals / Observability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86E291B-6471-48FC-90E6-B085DB3D06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4572000"/>
            <a:ext cx="685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350" b="0">
                <a:solidFill>
                  <a:srgbClr val="1D1D1F"/>
                </a:solidFill>
                <a:latin typeface="NanumSquare"/>
                <a:ea typeface="NanumSquare"/>
                <a:cs typeface="NanumSquare"/>
              </a:defRPr>
            </a:pPr>
            <a:r>
              <a:rPr sz="1350" b="0">
                <a:solidFill>
                  <a:srgbClr val="1D1D1F"/>
                </a:solidFill>
                <a:latin typeface="NanumSquare"/>
                <a:ea typeface="NanumSquare"/>
                <a:cs typeface="NanumSquare"/>
              </a:rPr>
              <a:t>정확성, 지연 시간, 비용, 실패 케이스를 측정하는 체계</a:t>
            </a:r>
          </a:p>
        </p:txBody>
      </p:sp>
      <p:sp>
        <p:nvSpPr>
          <p:cNvPr id="18" name="map-rule-4">
            <a:extLst xmlns:a="http://schemas.openxmlformats.org/drawingml/2006/main">
              <a:ext uri="{FF2B5EF4-FFF2-40B4-BE49-F238E27FC236}">
                <a16:creationId xmlns:a16="http://schemas.microsoft.com/office/drawing/2014/main" id="{54B3417F-1C64-4208-AFB2-47FA62D46C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933950"/>
            <a:ext cx="99631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87C494D-6E8E-4FDA-AFAC-3701E75A7A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506730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350" b="1">
                <a:solidFill>
                  <a:srgbClr val="0A2342"/>
                </a:solidFill>
                <a:latin typeface="NanumSquare"/>
                <a:ea typeface="NanumSquare"/>
                <a:cs typeface="NanumSquare"/>
              </a:defRPr>
            </a:pPr>
            <a:r>
              <a:rPr sz="1350" b="1">
                <a:solidFill>
                  <a:srgbClr val="0A2342"/>
                </a:solidFill>
                <a:latin typeface="NanumSquare"/>
                <a:ea typeface="NanumSquare"/>
                <a:cs typeface="NanumSquare"/>
              </a:rPr>
              <a:t>Guardrails / Red Teaming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063DAC1-7122-4D99-9209-EAC0A574AC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5067300"/>
            <a:ext cx="685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350" b="0">
                <a:solidFill>
                  <a:srgbClr val="1D1D1F"/>
                </a:solidFill>
                <a:latin typeface="NanumSquare"/>
                <a:ea typeface="NanumSquare"/>
                <a:cs typeface="NanumSquare"/>
              </a:defRPr>
            </a:pPr>
            <a:r>
              <a:rPr sz="1350" b="0">
                <a:solidFill>
                  <a:srgbClr val="1D1D1F"/>
                </a:solidFill>
                <a:latin typeface="NanumSquare"/>
                <a:ea typeface="NanumSquare"/>
                <a:cs typeface="NanumSquare"/>
              </a:rPr>
              <a:t>프롬프트 공격, 데이터 유출, 위험 응답을 막는 안전 장치</a:t>
            </a:r>
          </a:p>
        </p:txBody>
      </p:sp>
      <p:sp>
        <p:nvSpPr>
          <p:cNvPr id="21" name="map-rule-5">
            <a:extLst xmlns:a="http://schemas.openxmlformats.org/drawingml/2006/main">
              <a:ext uri="{FF2B5EF4-FFF2-40B4-BE49-F238E27FC236}">
                <a16:creationId xmlns:a16="http://schemas.microsoft.com/office/drawing/2014/main" id="{0FE7F4AD-547E-44C4-B916-B28FAC2D01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5429250"/>
            <a:ext cx="99631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22" name="footer-left">
            <a:extLst xmlns:a="http://schemas.openxmlformats.org/drawingml/2006/main">
              <a:ext uri="{FF2B5EF4-FFF2-40B4-BE49-F238E27FC236}">
                <a16:creationId xmlns:a16="http://schemas.microsoft.com/office/drawing/2014/main" id="{E1A2A82F-028B-4ACF-A9F4-E9C7AA6221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476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825" b="0">
                <a:solidFill>
                  <a:srgbClr val="667085"/>
                </a:solidFill>
                <a:latin typeface="NanumSquare"/>
                <a:ea typeface="NanumSquare"/>
                <a:cs typeface="NanumSquare"/>
              </a:defRPr>
            </a:pPr>
            <a:r>
              <a:rPr sz="825" b="0">
                <a:solidFill>
                  <a:srgbClr val="667085"/>
                </a:solidFill>
                <a:latin typeface="NanumSquare"/>
                <a:ea typeface="NanumSquare"/>
                <a:cs typeface="NanumSquare"/>
              </a:rPr>
              <a:t>Goorm 20260701 AI Campus Prism 사전 특강</a:t>
            </a:r>
          </a:p>
        </p:txBody>
      </p:sp>
      <p:sp>
        <p:nvSpPr>
          <p:cNvPr id="23" name="footer-page">
            <a:extLst xmlns:a="http://schemas.openxmlformats.org/drawingml/2006/main">
              <a:ext uri="{FF2B5EF4-FFF2-40B4-BE49-F238E27FC236}">
                <a16:creationId xmlns:a16="http://schemas.microsoft.com/office/drawing/2014/main" id="{FAA7B441-E63E-49DA-B2E8-B6DADFCB04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6438900"/>
            <a:ext cx="400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lnSpc>
                <a:spcPct val="118000"/>
              </a:lnSpc>
              <a:buNone/>
              <a:defRPr sz="825" b="0">
                <a:solidFill>
                  <a:srgbClr val="667085"/>
                </a:solidFill>
                <a:latin typeface="NanumSquare"/>
                <a:ea typeface="NanumSquare"/>
                <a:cs typeface="NanumSquare"/>
              </a:defRPr>
            </a:pPr>
            <a:r>
              <a:rPr sz="825" b="0">
                <a:solidFill>
                  <a:srgbClr val="667085"/>
                </a:solidFill>
                <a:latin typeface="NanumSquare"/>
                <a:ea typeface="NanumSquare"/>
                <a:cs typeface="NanumSquare"/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269437129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5F6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405329A-D167-4BC6-BA34-056956A841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3340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975" b="1">
                <a:solidFill>
                  <a:srgbClr val="667085"/>
                </a:solidFill>
                <a:latin typeface="NanumSquare"/>
                <a:ea typeface="NanumSquare"/>
                <a:cs typeface="NanumSquare"/>
              </a:defRPr>
            </a:pPr>
            <a:r>
              <a:rPr sz="975" b="1">
                <a:solidFill>
                  <a:srgbClr val="667085"/>
                </a:solidFill>
                <a:latin typeface="NanumSquare"/>
                <a:ea typeface="NanumSquare"/>
                <a:cs typeface="NanumSquare"/>
              </a:rPr>
              <a:t>AI CAMPUS PRISM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AE57232-81AF-4880-9DA1-9839A7F67B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19300"/>
            <a:ext cx="93345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3900" b="1">
                <a:solidFill>
                  <a:srgbClr val="1D1D1F"/>
                </a:solidFill>
                <a:latin typeface="NanumSquare"/>
                <a:ea typeface="NanumSquare"/>
                <a:cs typeface="NanumSquare"/>
              </a:defRPr>
            </a:pPr>
            <a:r>
              <a:rPr sz="3900" b="1">
                <a:solidFill>
                  <a:srgbClr val="1D1D1F"/>
                </a:solidFill>
                <a:latin typeface="NanumSquare"/>
                <a:ea typeface="NanumSquare"/>
                <a:cs typeface="NanumSquare"/>
              </a:rPr>
              <a:t>직무는 사라지기보다 다시 배치됩니다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3B134A5-12AF-4DE4-BA51-F265AA1E94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67100"/>
            <a:ext cx="8382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800" b="0">
                <a:solidFill>
                  <a:srgbClr val="667085"/>
                </a:solidFill>
                <a:latin typeface="NanumSquare"/>
                <a:ea typeface="NanumSquare"/>
                <a:cs typeface="NanumSquare"/>
              </a:defRPr>
            </a:pPr>
            <a:r>
              <a:rPr sz="1800" b="0">
                <a:solidFill>
                  <a:srgbClr val="667085"/>
                </a:solidFill>
                <a:latin typeface="NanumSquare"/>
                <a:ea typeface="NanumSquare"/>
                <a:cs typeface="NanumSquare"/>
              </a:rPr>
              <a:t>AI를 쓰는 사람이 아니라, AI가 들어온 업무 흐름을 설계하고 검증하는 사람이 필요해집니다.</a:t>
            </a:r>
          </a:p>
        </p:txBody>
      </p:sp>
      <p:sp>
        <p:nvSpPr>
          <p:cNvPr id="4" name="footer-left">
            <a:extLst xmlns:a="http://schemas.openxmlformats.org/drawingml/2006/main">
              <a:ext uri="{FF2B5EF4-FFF2-40B4-BE49-F238E27FC236}">
                <a16:creationId xmlns:a16="http://schemas.microsoft.com/office/drawing/2014/main" id="{844F6627-A51A-48B1-A5AA-4D0C1CA67F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476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825" b="0">
                <a:solidFill>
                  <a:srgbClr val="667085"/>
                </a:solidFill>
                <a:latin typeface="NanumSquare"/>
                <a:ea typeface="NanumSquare"/>
                <a:cs typeface="NanumSquare"/>
              </a:defRPr>
            </a:pPr>
            <a:r>
              <a:rPr sz="825" b="0">
                <a:solidFill>
                  <a:srgbClr val="667085"/>
                </a:solidFill>
                <a:latin typeface="NanumSquare"/>
                <a:ea typeface="NanumSquare"/>
                <a:cs typeface="NanumSquare"/>
              </a:rPr>
              <a:t>Goorm 20260701 AI Campus Prism 사전 특강</a:t>
            </a:r>
          </a:p>
        </p:txBody>
      </p:sp>
      <p:sp>
        <p:nvSpPr>
          <p:cNvPr id="5" name="footer-page">
            <a:extLst xmlns:a="http://schemas.openxmlformats.org/drawingml/2006/main">
              <a:ext uri="{FF2B5EF4-FFF2-40B4-BE49-F238E27FC236}">
                <a16:creationId xmlns:a16="http://schemas.microsoft.com/office/drawing/2014/main" id="{8A568753-96DB-4162-B2E1-DB895164D0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6438900"/>
            <a:ext cx="400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lnSpc>
                <a:spcPct val="118000"/>
              </a:lnSpc>
              <a:buNone/>
              <a:defRPr sz="825" b="0">
                <a:solidFill>
                  <a:srgbClr val="667085"/>
                </a:solidFill>
                <a:latin typeface="NanumSquare"/>
                <a:ea typeface="NanumSquare"/>
                <a:cs typeface="NanumSquare"/>
              </a:defRPr>
            </a:pPr>
            <a:r>
              <a:rPr sz="825" b="0">
                <a:solidFill>
                  <a:srgbClr val="667085"/>
                </a:solidFill>
                <a:latin typeface="NanumSquare"/>
                <a:ea typeface="NanumSquare"/>
                <a:cs typeface="NanumSquare"/>
              </a:rPr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753001395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eyebrow">
            <a:extLst xmlns:a="http://schemas.openxmlformats.org/drawingml/2006/main">
              <a:ext uri="{FF2B5EF4-FFF2-40B4-BE49-F238E27FC236}">
                <a16:creationId xmlns:a16="http://schemas.microsoft.com/office/drawing/2014/main" id="{623518A6-A3B6-403F-A466-6E5C53F65B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815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975" b="1">
                <a:solidFill>
                  <a:srgbClr val="667085"/>
                </a:solidFill>
                <a:latin typeface="NanumSquare"/>
                <a:ea typeface="NanumSquare"/>
                <a:cs typeface="NanumSquare"/>
              </a:defRPr>
            </a:pPr>
            <a:r>
              <a:rPr sz="975" b="1">
                <a:solidFill>
                  <a:srgbClr val="667085"/>
                </a:solidFill>
                <a:latin typeface="NanumSquare"/>
                <a:ea typeface="NanumSquare"/>
                <a:cs typeface="NanumSquare"/>
              </a:rPr>
              <a:t>ROLE LENS 01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E7E0C12E-8A6A-4745-A2AB-172356FDE5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38200"/>
            <a:ext cx="103632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2850" b="1">
                <a:solidFill>
                  <a:srgbClr val="1D1D1F"/>
                </a:solidFill>
                <a:latin typeface="NanumSquare"/>
                <a:ea typeface="NanumSquare"/>
                <a:cs typeface="NanumSquare"/>
              </a:defRPr>
            </a:pPr>
            <a:r>
              <a:rPr sz="2850" b="1">
                <a:solidFill>
                  <a:srgbClr val="1D1D1F"/>
                </a:solidFill>
                <a:latin typeface="NanumSquare"/>
                <a:ea typeface="NanumSquare"/>
                <a:cs typeface="NanumSquare"/>
              </a:rPr>
              <a:t>PM: 요구사항이 아니라 ‘판단 시스템’을 설계합니다</a:t>
            </a:r>
          </a:p>
        </p:txBody>
      </p:sp>
      <p:sp>
        <p:nvSpPr>
          <p:cNvPr id="3" name="subtitle">
            <a:extLst xmlns:a="http://schemas.openxmlformats.org/drawingml/2006/main">
              <a:ext uri="{FF2B5EF4-FFF2-40B4-BE49-F238E27FC236}">
                <a16:creationId xmlns:a16="http://schemas.microsoft.com/office/drawing/2014/main" id="{8A1B6F3B-3862-435F-93B6-8C6C61958E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47850"/>
            <a:ext cx="103632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22000"/>
              </a:lnSpc>
              <a:buNone/>
              <a:defRPr sz="1575" b="0">
                <a:solidFill>
                  <a:srgbClr val="667085"/>
                </a:solidFill>
                <a:latin typeface="NanumSquare"/>
                <a:ea typeface="NanumSquare"/>
                <a:cs typeface="NanumSquare"/>
              </a:defRPr>
            </a:pPr>
            <a:r>
              <a:rPr sz="1575" b="0">
                <a:solidFill>
                  <a:srgbClr val="667085"/>
                </a:solidFill>
                <a:latin typeface="NanumSquare"/>
                <a:ea typeface="NanumSquare"/>
                <a:cs typeface="NanumSquare"/>
              </a:rPr>
              <a:t>AI PM은 화면 기능을 나열하는 사람이 아니라, 모델이 무엇을 근거로 어떤 행동을 해야 하는지 정합니다.</a:t>
            </a:r>
          </a:p>
        </p:txBody>
      </p:sp>
      <p:sp>
        <p:nvSpPr>
          <p:cNvPr id="4" name="card-1">
            <a:extLst xmlns:a="http://schemas.openxmlformats.org/drawingml/2006/main">
              <a:ext uri="{FF2B5EF4-FFF2-40B4-BE49-F238E27FC236}">
                <a16:creationId xmlns:a16="http://schemas.microsoft.com/office/drawing/2014/main" id="{7F0F67E2-7C3E-43C2-BD16-92BD98E27C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0"/>
            <a:ext cx="3333750" cy="2362200"/>
          </a:xfrm>
          <a:prstGeom xmlns:a="http://schemas.openxmlformats.org/drawingml/2006/main" prst="roundRect">
            <a:avLst>
              <a:gd name="adj" fmla="val 483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67EB4C0-5FFC-4B42-89E8-5AE830D459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086100"/>
            <a:ext cx="2876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200" b="1">
                <a:solidFill>
                  <a:srgbClr val="0A2342"/>
                </a:solidFill>
                <a:latin typeface="NanumSquare"/>
                <a:ea typeface="NanumSquare"/>
                <a:cs typeface="NanumSquare"/>
              </a:defRPr>
            </a:pPr>
            <a:r>
              <a:rPr sz="1200" b="1">
                <a:solidFill>
                  <a:srgbClr val="0A2342"/>
                </a:solidFill>
                <a:latin typeface="NanumSquare"/>
                <a:ea typeface="NanumSquare"/>
                <a:cs typeface="NanumSquare"/>
              </a:rPr>
              <a:t>INPUT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F95AB3B-3B7F-40B3-AA33-327A6A74CE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486150"/>
            <a:ext cx="28765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1D1D1F"/>
                </a:solidFill>
                <a:latin typeface="NanumSquare"/>
                <a:ea typeface="NanumSquare"/>
                <a:cs typeface="NanumSquare"/>
              </a:defRPr>
            </a:pPr>
            <a:r>
              <a:rPr sz="1800" b="1">
                <a:solidFill>
                  <a:srgbClr val="1D1D1F"/>
                </a:solidFill>
                <a:latin typeface="NanumSquare"/>
                <a:ea typeface="NanumSquare"/>
                <a:cs typeface="NanumSquare"/>
              </a:rPr>
              <a:t>의도와 제약 구조화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C761154-3CF5-404E-B24D-DE71ACBC7B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229100"/>
            <a:ext cx="28765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275" b="0">
                <a:solidFill>
                  <a:srgbClr val="667085"/>
                </a:solidFill>
                <a:latin typeface="NanumSquare"/>
                <a:ea typeface="NanumSquare"/>
                <a:cs typeface="NanumSquare"/>
              </a:defRPr>
            </a:pPr>
            <a:r>
              <a:rPr sz="1275" b="0">
                <a:solidFill>
                  <a:srgbClr val="667085"/>
                </a:solidFill>
                <a:latin typeface="NanumSquare"/>
                <a:ea typeface="NanumSquare"/>
                <a:cs typeface="NanumSquare"/>
              </a:rPr>
              <a:t>사용자 문장을 목적, 예산, 상황, 선호, 회피 조건으로 바꿉니다.</a:t>
            </a:r>
          </a:p>
        </p:txBody>
      </p:sp>
      <p:sp>
        <p:nvSpPr>
          <p:cNvPr id="8" name="card-2">
            <a:extLst xmlns:a="http://schemas.openxmlformats.org/drawingml/2006/main">
              <a:ext uri="{FF2B5EF4-FFF2-40B4-BE49-F238E27FC236}">
                <a16:creationId xmlns:a16="http://schemas.microsoft.com/office/drawing/2014/main" id="{AC885EB1-416A-486A-92E8-FAD80BAD8B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2857500"/>
            <a:ext cx="3333750" cy="2362200"/>
          </a:xfrm>
          <a:prstGeom xmlns:a="http://schemas.openxmlformats.org/drawingml/2006/main" prst="roundRect">
            <a:avLst>
              <a:gd name="adj" fmla="val 483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5C60C63-57F0-42CB-86BA-15E2B88268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3086100"/>
            <a:ext cx="2876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200" b="1">
                <a:solidFill>
                  <a:srgbClr val="0A2342"/>
                </a:solidFill>
                <a:latin typeface="NanumSquare"/>
                <a:ea typeface="NanumSquare"/>
                <a:cs typeface="NanumSquare"/>
              </a:defRPr>
            </a:pPr>
            <a:r>
              <a:rPr sz="1200" b="1">
                <a:solidFill>
                  <a:srgbClr val="0A2342"/>
                </a:solidFill>
                <a:latin typeface="NanumSquare"/>
                <a:ea typeface="NanumSquare"/>
                <a:cs typeface="NanumSquare"/>
              </a:rPr>
              <a:t>POLICY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AFC9574-9CB5-4A14-A4E4-83D46E75CE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3486150"/>
            <a:ext cx="28765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1D1D1F"/>
                </a:solidFill>
                <a:latin typeface="NanumSquare"/>
                <a:ea typeface="NanumSquare"/>
                <a:cs typeface="NanumSquare"/>
              </a:defRPr>
            </a:pPr>
            <a:r>
              <a:rPr sz="1800" b="1">
                <a:solidFill>
                  <a:srgbClr val="1D1D1F"/>
                </a:solidFill>
                <a:latin typeface="NanumSquare"/>
                <a:ea typeface="NanumSquare"/>
                <a:cs typeface="NanumSquare"/>
              </a:rPr>
              <a:t>추천/응답 기준 정의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E155EA8-5FA5-44C0-955B-46F3EE9A94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4229100"/>
            <a:ext cx="28765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275" b="0">
                <a:solidFill>
                  <a:srgbClr val="667085"/>
                </a:solidFill>
                <a:latin typeface="NanumSquare"/>
                <a:ea typeface="NanumSquare"/>
                <a:cs typeface="NanumSquare"/>
              </a:defRPr>
            </a:pPr>
            <a:r>
              <a:rPr sz="1275" b="0">
                <a:solidFill>
                  <a:srgbClr val="667085"/>
                </a:solidFill>
                <a:latin typeface="NanumSquare"/>
                <a:ea typeface="NanumSquare"/>
                <a:cs typeface="NanumSquare"/>
              </a:rPr>
              <a:t>좋은 답변, 위험한 답변, 모르는 답변의 기준을 PRD에 씁니다.</a:t>
            </a:r>
          </a:p>
        </p:txBody>
      </p:sp>
      <p:sp>
        <p:nvSpPr>
          <p:cNvPr id="12" name="card-3">
            <a:extLst xmlns:a="http://schemas.openxmlformats.org/drawingml/2006/main">
              <a:ext uri="{FF2B5EF4-FFF2-40B4-BE49-F238E27FC236}">
                <a16:creationId xmlns:a16="http://schemas.microsoft.com/office/drawing/2014/main" id="{E16F7441-D76A-4ACD-8272-23CBE55303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2857500"/>
            <a:ext cx="3333750" cy="2362200"/>
          </a:xfrm>
          <a:prstGeom xmlns:a="http://schemas.openxmlformats.org/drawingml/2006/main" prst="roundRect">
            <a:avLst>
              <a:gd name="adj" fmla="val 483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BDAC889-F6D5-4743-AF22-3F421717D7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3086100"/>
            <a:ext cx="2876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200" b="1">
                <a:solidFill>
                  <a:srgbClr val="0A2342"/>
                </a:solidFill>
                <a:latin typeface="NanumSquare"/>
                <a:ea typeface="NanumSquare"/>
                <a:cs typeface="NanumSquare"/>
              </a:defRPr>
            </a:pPr>
            <a:r>
              <a:rPr sz="1200" b="1">
                <a:solidFill>
                  <a:srgbClr val="0A2342"/>
                </a:solidFill>
                <a:latin typeface="NanumSquare"/>
                <a:ea typeface="NanumSquare"/>
                <a:cs typeface="NanumSquare"/>
              </a:rPr>
              <a:t>METRIC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5DDA8B0-6BC4-405C-B123-23DCD1912B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3486150"/>
            <a:ext cx="28765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1D1D1F"/>
                </a:solidFill>
                <a:latin typeface="NanumSquare"/>
                <a:ea typeface="NanumSquare"/>
                <a:cs typeface="NanumSquare"/>
              </a:defRPr>
            </a:pPr>
            <a:r>
              <a:rPr sz="1800" b="1">
                <a:solidFill>
                  <a:srgbClr val="1D1D1F"/>
                </a:solidFill>
                <a:latin typeface="NanumSquare"/>
                <a:ea typeface="NanumSquare"/>
                <a:cs typeface="NanumSquare"/>
              </a:rPr>
              <a:t>선행 지표 설계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6F1B84F-C7DD-4556-A49F-054F3D4E5E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4229100"/>
            <a:ext cx="28765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275" b="0">
                <a:solidFill>
                  <a:srgbClr val="667085"/>
                </a:solidFill>
                <a:latin typeface="NanumSquare"/>
                <a:ea typeface="NanumSquare"/>
                <a:cs typeface="NanumSquare"/>
              </a:defRPr>
            </a:pPr>
            <a:r>
              <a:rPr sz="1275" b="0">
                <a:solidFill>
                  <a:srgbClr val="667085"/>
                </a:solidFill>
                <a:latin typeface="NanumSquare"/>
                <a:ea typeface="NanumSquare"/>
                <a:cs typeface="NanumSquare"/>
              </a:rPr>
              <a:t>정답률만 보지 않고 신뢰도, 재질문율, 선택 확신도, 저장률을 봅니다.</a:t>
            </a:r>
          </a:p>
        </p:txBody>
      </p:sp>
      <p:sp>
        <p:nvSpPr>
          <p:cNvPr id="16" name="footer-left">
            <a:extLst xmlns:a="http://schemas.openxmlformats.org/drawingml/2006/main">
              <a:ext uri="{FF2B5EF4-FFF2-40B4-BE49-F238E27FC236}">
                <a16:creationId xmlns:a16="http://schemas.microsoft.com/office/drawing/2014/main" id="{54976D61-F10C-4372-8316-71220239CB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476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825" b="0">
                <a:solidFill>
                  <a:srgbClr val="667085"/>
                </a:solidFill>
                <a:latin typeface="NanumSquare"/>
                <a:ea typeface="NanumSquare"/>
                <a:cs typeface="NanumSquare"/>
              </a:defRPr>
            </a:pPr>
            <a:r>
              <a:rPr sz="825" b="0">
                <a:solidFill>
                  <a:srgbClr val="667085"/>
                </a:solidFill>
                <a:latin typeface="NanumSquare"/>
                <a:ea typeface="NanumSquare"/>
                <a:cs typeface="NanumSquare"/>
              </a:rPr>
              <a:t>Goorm 20260701 AI Campus Prism 사전 특강</a:t>
            </a:r>
          </a:p>
        </p:txBody>
      </p:sp>
      <p:sp>
        <p:nvSpPr>
          <p:cNvPr id="17" name="footer-page">
            <a:extLst xmlns:a="http://schemas.openxmlformats.org/drawingml/2006/main">
              <a:ext uri="{FF2B5EF4-FFF2-40B4-BE49-F238E27FC236}">
                <a16:creationId xmlns:a16="http://schemas.microsoft.com/office/drawing/2014/main" id="{1AB2FCA7-E402-4EE0-807D-C8D0480419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6438900"/>
            <a:ext cx="400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lnSpc>
                <a:spcPct val="118000"/>
              </a:lnSpc>
              <a:buNone/>
              <a:defRPr sz="825" b="0">
                <a:solidFill>
                  <a:srgbClr val="667085"/>
                </a:solidFill>
                <a:latin typeface="NanumSquare"/>
                <a:ea typeface="NanumSquare"/>
                <a:cs typeface="NanumSquare"/>
              </a:defRPr>
            </a:pPr>
            <a:r>
              <a:rPr sz="825" b="0">
                <a:solidFill>
                  <a:srgbClr val="667085"/>
                </a:solidFill>
                <a:latin typeface="NanumSquare"/>
                <a:ea typeface="NanumSquare"/>
                <a:cs typeface="NanumSquare"/>
              </a:rPr>
              <a:t>12</a:t>
            </a:r>
          </a:p>
        </p:txBody>
      </p:sp>
    </p:spTree>
    <p:extLst>
      <p:ext uri="{BB962C8B-B14F-4D97-AF65-F5344CB8AC3E}">
        <p14:creationId xmlns:p14="http://schemas.microsoft.com/office/powerpoint/2010/main" val="881519632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5F6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eyebrow">
            <a:extLst xmlns:a="http://schemas.openxmlformats.org/drawingml/2006/main">
              <a:ext uri="{FF2B5EF4-FFF2-40B4-BE49-F238E27FC236}">
                <a16:creationId xmlns:a16="http://schemas.microsoft.com/office/drawing/2014/main" id="{4A8164A7-C110-4EA2-969E-9CD64198E8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815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975" b="1">
                <a:solidFill>
                  <a:srgbClr val="667085"/>
                </a:solidFill>
                <a:latin typeface="NanumSquare"/>
                <a:ea typeface="NanumSquare"/>
                <a:cs typeface="NanumSquare"/>
              </a:defRPr>
            </a:pPr>
            <a:r>
              <a:rPr sz="975" b="1">
                <a:solidFill>
                  <a:srgbClr val="667085"/>
                </a:solidFill>
                <a:latin typeface="NanumSquare"/>
                <a:ea typeface="NanumSquare"/>
                <a:cs typeface="NanumSquare"/>
              </a:rPr>
              <a:t>ROLE LENS 02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BD755088-70E8-457D-BD8A-75ACF8F951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38200"/>
            <a:ext cx="103632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2850" b="1">
                <a:solidFill>
                  <a:srgbClr val="1D1D1F"/>
                </a:solidFill>
                <a:latin typeface="NanumSquare"/>
                <a:ea typeface="NanumSquare"/>
                <a:cs typeface="NanumSquare"/>
              </a:defRPr>
            </a:pPr>
            <a:r>
              <a:rPr sz="2850" b="1">
                <a:solidFill>
                  <a:srgbClr val="1D1D1F"/>
                </a:solidFill>
                <a:latin typeface="NanumSquare"/>
                <a:ea typeface="NanumSquare"/>
                <a:cs typeface="NanumSquare"/>
              </a:rPr>
              <a:t>UX/UI Design: 화면보다 ‘불확실성의 상태’를 디자인합니다</a:t>
            </a:r>
          </a:p>
        </p:txBody>
      </p:sp>
      <p:sp>
        <p:nvSpPr>
          <p:cNvPr id="3" name="subtitle">
            <a:extLst xmlns:a="http://schemas.openxmlformats.org/drawingml/2006/main">
              <a:ext uri="{FF2B5EF4-FFF2-40B4-BE49-F238E27FC236}">
                <a16:creationId xmlns:a16="http://schemas.microsoft.com/office/drawing/2014/main" id="{50B61FA4-3E2E-4E8D-A0E7-B6FBC35951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47850"/>
            <a:ext cx="103632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22000"/>
              </a:lnSpc>
              <a:buNone/>
              <a:defRPr sz="1575" b="0">
                <a:solidFill>
                  <a:srgbClr val="667085"/>
                </a:solidFill>
                <a:latin typeface="NanumSquare"/>
                <a:ea typeface="NanumSquare"/>
                <a:cs typeface="NanumSquare"/>
              </a:defRPr>
            </a:pPr>
            <a:r>
              <a:rPr sz="1575" b="0">
                <a:solidFill>
                  <a:srgbClr val="667085"/>
                </a:solidFill>
                <a:latin typeface="NanumSquare"/>
                <a:ea typeface="NanumSquare"/>
                <a:cs typeface="NanumSquare"/>
              </a:rPr>
              <a:t>AI 제품은 늘 로딩, 확인, 재질문, 오류, 보류, 설명 가능성의 상태를 가집니다.</a:t>
            </a:r>
          </a:p>
        </p:txBody>
      </p:sp>
      <p:sp>
        <p:nvSpPr>
          <p:cNvPr id="4" name="card-1">
            <a:extLst xmlns:a="http://schemas.openxmlformats.org/drawingml/2006/main">
              <a:ext uri="{FF2B5EF4-FFF2-40B4-BE49-F238E27FC236}">
                <a16:creationId xmlns:a16="http://schemas.microsoft.com/office/drawing/2014/main" id="{5A41D923-6FDF-4CAC-BC92-EA3651D29A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0"/>
            <a:ext cx="3333750" cy="2362200"/>
          </a:xfrm>
          <a:prstGeom xmlns:a="http://schemas.openxmlformats.org/drawingml/2006/main" prst="roundRect">
            <a:avLst>
              <a:gd name="adj" fmla="val 483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3DE3FE8-4ECA-4339-AFD0-BB06E2766D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086100"/>
            <a:ext cx="2876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200" b="1">
                <a:solidFill>
                  <a:srgbClr val="0A2342"/>
                </a:solidFill>
                <a:latin typeface="NanumSquare"/>
                <a:ea typeface="NanumSquare"/>
                <a:cs typeface="NanumSquare"/>
              </a:defRPr>
            </a:pPr>
            <a:r>
              <a:rPr sz="1200" b="1">
                <a:solidFill>
                  <a:srgbClr val="0A2342"/>
                </a:solidFill>
                <a:latin typeface="NanumSquare"/>
                <a:ea typeface="NanumSquare"/>
                <a:cs typeface="NanumSquare"/>
              </a:rPr>
              <a:t>STATE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4C6E866-5AD8-4874-8F10-98624373DD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486150"/>
            <a:ext cx="28765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1D1D1F"/>
                </a:solidFill>
                <a:latin typeface="NanumSquare"/>
                <a:ea typeface="NanumSquare"/>
                <a:cs typeface="NanumSquare"/>
              </a:defRPr>
            </a:pPr>
            <a:r>
              <a:rPr sz="1800" b="1">
                <a:solidFill>
                  <a:srgbClr val="1D1D1F"/>
                </a:solidFill>
                <a:latin typeface="NanumSquare"/>
                <a:ea typeface="NanumSquare"/>
                <a:cs typeface="NanumSquare"/>
              </a:rPr>
              <a:t>AI 응답 상태 설계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23EF891-8B1C-451D-A4FC-73B2C65F7D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229100"/>
            <a:ext cx="28765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275" b="0">
                <a:solidFill>
                  <a:srgbClr val="667085"/>
                </a:solidFill>
                <a:latin typeface="NanumSquare"/>
                <a:ea typeface="NanumSquare"/>
                <a:cs typeface="NanumSquare"/>
              </a:defRPr>
            </a:pPr>
            <a:r>
              <a:rPr sz="1275" b="0">
                <a:solidFill>
                  <a:srgbClr val="667085"/>
                </a:solidFill>
                <a:latin typeface="NanumSquare"/>
                <a:ea typeface="NanumSquare"/>
                <a:cs typeface="NanumSquare"/>
              </a:rPr>
              <a:t>생성 중, 근거 확인, 실패, 안전 차단, 사람 확인 요청을 명확히 보여줍니다.</a:t>
            </a:r>
          </a:p>
        </p:txBody>
      </p:sp>
      <p:sp>
        <p:nvSpPr>
          <p:cNvPr id="8" name="card-2">
            <a:extLst xmlns:a="http://schemas.openxmlformats.org/drawingml/2006/main">
              <a:ext uri="{FF2B5EF4-FFF2-40B4-BE49-F238E27FC236}">
                <a16:creationId xmlns:a16="http://schemas.microsoft.com/office/drawing/2014/main" id="{90B19702-249C-43A2-89FE-676AEA1B11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2857500"/>
            <a:ext cx="3333750" cy="2362200"/>
          </a:xfrm>
          <a:prstGeom xmlns:a="http://schemas.openxmlformats.org/drawingml/2006/main" prst="roundRect">
            <a:avLst>
              <a:gd name="adj" fmla="val 483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A9E7F4B-8B93-4140-B70F-8E3A6AF8A4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3086100"/>
            <a:ext cx="2876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200" b="1">
                <a:solidFill>
                  <a:srgbClr val="0A2342"/>
                </a:solidFill>
                <a:latin typeface="NanumSquare"/>
                <a:ea typeface="NanumSquare"/>
                <a:cs typeface="NanumSquare"/>
              </a:defRPr>
            </a:pPr>
            <a:r>
              <a:rPr sz="1200" b="1">
                <a:solidFill>
                  <a:srgbClr val="0A2342"/>
                </a:solidFill>
                <a:latin typeface="NanumSquare"/>
                <a:ea typeface="NanumSquare"/>
                <a:cs typeface="NanumSquare"/>
              </a:rPr>
              <a:t>TRUST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DD90E00-C0B1-49C9-B5E6-8E994BC38D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3486150"/>
            <a:ext cx="28765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1D1D1F"/>
                </a:solidFill>
                <a:latin typeface="NanumSquare"/>
                <a:ea typeface="NanumSquare"/>
                <a:cs typeface="NanumSquare"/>
              </a:defRPr>
            </a:pPr>
            <a:r>
              <a:rPr sz="1800" b="1">
                <a:solidFill>
                  <a:srgbClr val="1D1D1F"/>
                </a:solidFill>
                <a:latin typeface="NanumSquare"/>
                <a:ea typeface="NanumSquare"/>
                <a:cs typeface="NanumSquare"/>
              </a:rPr>
              <a:t>근거와 선택 확신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FB6742F-90FD-40AB-B819-700D62056E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4229100"/>
            <a:ext cx="28765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275" b="0">
                <a:solidFill>
                  <a:srgbClr val="667085"/>
                </a:solidFill>
                <a:latin typeface="NanumSquare"/>
                <a:ea typeface="NanumSquare"/>
                <a:cs typeface="NanumSquare"/>
              </a:defRPr>
            </a:pPr>
            <a:r>
              <a:rPr sz="1275" b="0">
                <a:solidFill>
                  <a:srgbClr val="667085"/>
                </a:solidFill>
                <a:latin typeface="NanumSquare"/>
                <a:ea typeface="NanumSquare"/>
                <a:cs typeface="NanumSquare"/>
              </a:rPr>
              <a:t>왜 추천했는지, 어떤 조건에는 맞지 않는지, 사용자가 판단할 단서를 줍니다.</a:t>
            </a:r>
          </a:p>
        </p:txBody>
      </p:sp>
      <p:sp>
        <p:nvSpPr>
          <p:cNvPr id="12" name="card-3">
            <a:extLst xmlns:a="http://schemas.openxmlformats.org/drawingml/2006/main">
              <a:ext uri="{FF2B5EF4-FFF2-40B4-BE49-F238E27FC236}">
                <a16:creationId xmlns:a16="http://schemas.microsoft.com/office/drawing/2014/main" id="{30E8CD26-F6B5-4445-8573-85B5B9059B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2857500"/>
            <a:ext cx="3333750" cy="2362200"/>
          </a:xfrm>
          <a:prstGeom xmlns:a="http://schemas.openxmlformats.org/drawingml/2006/main" prst="roundRect">
            <a:avLst>
              <a:gd name="adj" fmla="val 483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17B80B6-BD1B-41EB-B6AD-77DD2FC4BF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3086100"/>
            <a:ext cx="2876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200" b="1">
                <a:solidFill>
                  <a:srgbClr val="0A2342"/>
                </a:solidFill>
                <a:latin typeface="NanumSquare"/>
                <a:ea typeface="NanumSquare"/>
                <a:cs typeface="NanumSquare"/>
              </a:defRPr>
            </a:pPr>
            <a:r>
              <a:rPr sz="1200" b="1">
                <a:solidFill>
                  <a:srgbClr val="0A2342"/>
                </a:solidFill>
                <a:latin typeface="NanumSquare"/>
                <a:ea typeface="NanumSquare"/>
                <a:cs typeface="NanumSquare"/>
              </a:rPr>
              <a:t>SYSTEM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AF891AC-8B63-40B7-AC53-822715DB7E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3486150"/>
            <a:ext cx="28765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1D1D1F"/>
                </a:solidFill>
                <a:latin typeface="NanumSquare"/>
                <a:ea typeface="NanumSquare"/>
                <a:cs typeface="NanumSquare"/>
              </a:defRPr>
            </a:pPr>
            <a:r>
              <a:rPr sz="1800" b="1">
                <a:solidFill>
                  <a:srgbClr val="1D1D1F"/>
                </a:solidFill>
                <a:latin typeface="NanumSquare"/>
                <a:ea typeface="NanumSquare"/>
                <a:cs typeface="NanumSquare"/>
              </a:rPr>
              <a:t>토큰과 컴포넌트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F91713C-72E2-446A-BD3B-C3B9C6E0D9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4229100"/>
            <a:ext cx="28765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275" b="0">
                <a:solidFill>
                  <a:srgbClr val="667085"/>
                </a:solidFill>
                <a:latin typeface="NanumSquare"/>
                <a:ea typeface="NanumSquare"/>
                <a:cs typeface="NanumSquare"/>
              </a:defRPr>
            </a:pPr>
            <a:r>
              <a:rPr sz="1275" b="0">
                <a:solidFill>
                  <a:srgbClr val="667085"/>
                </a:solidFill>
                <a:latin typeface="NanumSquare"/>
                <a:ea typeface="NanumSquare"/>
                <a:cs typeface="NanumSquare"/>
              </a:rPr>
              <a:t>디자인 시스템이 프롬프트와 코드 생성의 공통 언어가 됩니다.</a:t>
            </a:r>
          </a:p>
        </p:txBody>
      </p:sp>
      <p:sp>
        <p:nvSpPr>
          <p:cNvPr id="16" name="footer-left">
            <a:extLst xmlns:a="http://schemas.openxmlformats.org/drawingml/2006/main">
              <a:ext uri="{FF2B5EF4-FFF2-40B4-BE49-F238E27FC236}">
                <a16:creationId xmlns:a16="http://schemas.microsoft.com/office/drawing/2014/main" id="{A99CAF9C-3641-4937-A19A-066E54016D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476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825" b="0">
                <a:solidFill>
                  <a:srgbClr val="667085"/>
                </a:solidFill>
                <a:latin typeface="NanumSquare"/>
                <a:ea typeface="NanumSquare"/>
                <a:cs typeface="NanumSquare"/>
              </a:defRPr>
            </a:pPr>
            <a:r>
              <a:rPr sz="825" b="0">
                <a:solidFill>
                  <a:srgbClr val="667085"/>
                </a:solidFill>
                <a:latin typeface="NanumSquare"/>
                <a:ea typeface="NanumSquare"/>
                <a:cs typeface="NanumSquare"/>
              </a:rPr>
              <a:t>Goorm 20260701 AI Campus Prism 사전 특강</a:t>
            </a:r>
          </a:p>
        </p:txBody>
      </p:sp>
      <p:sp>
        <p:nvSpPr>
          <p:cNvPr id="17" name="footer-page">
            <a:extLst xmlns:a="http://schemas.openxmlformats.org/drawingml/2006/main">
              <a:ext uri="{FF2B5EF4-FFF2-40B4-BE49-F238E27FC236}">
                <a16:creationId xmlns:a16="http://schemas.microsoft.com/office/drawing/2014/main" id="{BD598532-DA39-48E3-B954-B91C39F77C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6438900"/>
            <a:ext cx="400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lnSpc>
                <a:spcPct val="118000"/>
              </a:lnSpc>
              <a:buNone/>
              <a:defRPr sz="825" b="0">
                <a:solidFill>
                  <a:srgbClr val="667085"/>
                </a:solidFill>
                <a:latin typeface="NanumSquare"/>
                <a:ea typeface="NanumSquare"/>
                <a:cs typeface="NanumSquare"/>
              </a:defRPr>
            </a:pPr>
            <a:r>
              <a:rPr sz="825" b="0">
                <a:solidFill>
                  <a:srgbClr val="667085"/>
                </a:solidFill>
                <a:latin typeface="NanumSquare"/>
                <a:ea typeface="NanumSquare"/>
                <a:cs typeface="NanumSquare"/>
              </a:rPr>
              <a:t>13</a:t>
            </a:r>
          </a:p>
        </p:txBody>
      </p:sp>
    </p:spTree>
    <p:extLst>
      <p:ext uri="{BB962C8B-B14F-4D97-AF65-F5344CB8AC3E}">
        <p14:creationId xmlns:p14="http://schemas.microsoft.com/office/powerpoint/2010/main" val="1527670406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eyebrow">
            <a:extLst xmlns:a="http://schemas.openxmlformats.org/drawingml/2006/main">
              <a:ext uri="{FF2B5EF4-FFF2-40B4-BE49-F238E27FC236}">
                <a16:creationId xmlns:a16="http://schemas.microsoft.com/office/drawing/2014/main" id="{9155850D-19ED-48A7-A4C3-5D322BEE9E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815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975" b="1">
                <a:solidFill>
                  <a:srgbClr val="667085"/>
                </a:solidFill>
                <a:latin typeface="NanumSquare"/>
                <a:ea typeface="NanumSquare"/>
                <a:cs typeface="NanumSquare"/>
              </a:defRPr>
            </a:pPr>
            <a:r>
              <a:rPr sz="975" b="1">
                <a:solidFill>
                  <a:srgbClr val="667085"/>
                </a:solidFill>
                <a:latin typeface="NanumSquare"/>
                <a:ea typeface="NanumSquare"/>
                <a:cs typeface="NanumSquare"/>
              </a:rPr>
              <a:t>ROLE LENS 03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0BBAD3D0-56F2-4DB7-B26F-66735C70AE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38200"/>
            <a:ext cx="103632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2850" b="1">
                <a:solidFill>
                  <a:srgbClr val="1D1D1F"/>
                </a:solidFill>
                <a:latin typeface="NanumSquare"/>
                <a:ea typeface="NanumSquare"/>
                <a:cs typeface="NanumSquare"/>
              </a:defRPr>
            </a:pPr>
            <a:r>
              <a:rPr sz="2850" b="1">
                <a:solidFill>
                  <a:srgbClr val="1D1D1F"/>
                </a:solidFill>
                <a:latin typeface="NanumSquare"/>
                <a:ea typeface="NanumSquare"/>
                <a:cs typeface="NanumSquare"/>
              </a:rPr>
              <a:t>Engineering: 코드를 빨리 쓰는 것보다 빨리 검증하는 사람이 강합니다</a:t>
            </a:r>
          </a:p>
        </p:txBody>
      </p:sp>
      <p:sp>
        <p:nvSpPr>
          <p:cNvPr id="3" name="subtitle">
            <a:extLst xmlns:a="http://schemas.openxmlformats.org/drawingml/2006/main">
              <a:ext uri="{FF2B5EF4-FFF2-40B4-BE49-F238E27FC236}">
                <a16:creationId xmlns:a16="http://schemas.microsoft.com/office/drawing/2014/main" id="{CC0AA641-73EA-4575-BC45-86CE61130F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47850"/>
            <a:ext cx="103632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22000"/>
              </a:lnSpc>
              <a:buNone/>
              <a:defRPr sz="1575" b="0">
                <a:solidFill>
                  <a:srgbClr val="667085"/>
                </a:solidFill>
                <a:latin typeface="NanumSquare"/>
                <a:ea typeface="NanumSquare"/>
                <a:cs typeface="NanumSquare"/>
              </a:defRPr>
            </a:pPr>
            <a:r>
              <a:rPr sz="1575" b="0">
                <a:solidFill>
                  <a:srgbClr val="667085"/>
                </a:solidFill>
                <a:latin typeface="NanumSquare"/>
                <a:ea typeface="NanumSquare"/>
                <a:cs typeface="NanumSquare"/>
              </a:rPr>
              <a:t>BE/FE/Client/App 개발은 AI 생성 결과를 읽고, 경계 조건을 테스트하고, 운영 가능한 구조로 바꾸는 쪽으로 이동합니다.</a:t>
            </a:r>
          </a:p>
        </p:txBody>
      </p:sp>
      <p:sp>
        <p:nvSpPr>
          <p:cNvPr id="4" name="card-1">
            <a:extLst xmlns:a="http://schemas.openxmlformats.org/drawingml/2006/main">
              <a:ext uri="{FF2B5EF4-FFF2-40B4-BE49-F238E27FC236}">
                <a16:creationId xmlns:a16="http://schemas.microsoft.com/office/drawing/2014/main" id="{69588628-F2D4-4088-AB58-C75C9CE6B2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0"/>
            <a:ext cx="3333750" cy="2362200"/>
          </a:xfrm>
          <a:prstGeom xmlns:a="http://schemas.openxmlformats.org/drawingml/2006/main" prst="roundRect">
            <a:avLst>
              <a:gd name="adj" fmla="val 483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92BEBBA-BF78-4447-8F35-4871681561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086100"/>
            <a:ext cx="2876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200" b="1">
                <a:solidFill>
                  <a:srgbClr val="0A2342"/>
                </a:solidFill>
                <a:latin typeface="NanumSquare"/>
                <a:ea typeface="NanumSquare"/>
                <a:cs typeface="NanumSquare"/>
              </a:defRPr>
            </a:pPr>
            <a:r>
              <a:rPr sz="1200" b="1">
                <a:solidFill>
                  <a:srgbClr val="0A2342"/>
                </a:solidFill>
                <a:latin typeface="NanumSquare"/>
                <a:ea typeface="NanumSquare"/>
                <a:cs typeface="NanumSquare"/>
              </a:rPr>
              <a:t>BE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EC0019B-B7FF-4B96-90F0-06D9446231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486150"/>
            <a:ext cx="28765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1D1D1F"/>
                </a:solidFill>
                <a:latin typeface="NanumSquare"/>
                <a:ea typeface="NanumSquare"/>
                <a:cs typeface="NanumSquare"/>
              </a:defRPr>
            </a:pPr>
            <a:r>
              <a:rPr sz="1800" b="1">
                <a:solidFill>
                  <a:srgbClr val="1D1D1F"/>
                </a:solidFill>
                <a:latin typeface="NanumSquare"/>
                <a:ea typeface="NanumSquare"/>
                <a:cs typeface="NanumSquare"/>
              </a:rPr>
              <a:t>API·데이터·권한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C3DF36B-9767-4810-85F0-8D43BBDDBB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229100"/>
            <a:ext cx="28765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275" b="0">
                <a:solidFill>
                  <a:srgbClr val="667085"/>
                </a:solidFill>
                <a:latin typeface="NanumSquare"/>
                <a:ea typeface="NanumSquare"/>
                <a:cs typeface="NanumSquare"/>
              </a:defRPr>
            </a:pPr>
            <a:r>
              <a:rPr sz="1275" b="0">
                <a:solidFill>
                  <a:srgbClr val="667085"/>
                </a:solidFill>
                <a:latin typeface="NanumSquare"/>
                <a:ea typeface="NanumSquare"/>
                <a:cs typeface="NanumSquare"/>
              </a:rPr>
              <a:t>Function Calling, 인증, 로그, 예외, 데이터 계약을 안전하게 설계합니다.</a:t>
            </a:r>
          </a:p>
        </p:txBody>
      </p:sp>
      <p:sp>
        <p:nvSpPr>
          <p:cNvPr id="8" name="card-2">
            <a:extLst xmlns:a="http://schemas.openxmlformats.org/drawingml/2006/main">
              <a:ext uri="{FF2B5EF4-FFF2-40B4-BE49-F238E27FC236}">
                <a16:creationId xmlns:a16="http://schemas.microsoft.com/office/drawing/2014/main" id="{5CC1140C-9043-47ED-B9CA-15FCCFB186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2857500"/>
            <a:ext cx="3333750" cy="2362200"/>
          </a:xfrm>
          <a:prstGeom xmlns:a="http://schemas.openxmlformats.org/drawingml/2006/main" prst="roundRect">
            <a:avLst>
              <a:gd name="adj" fmla="val 483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CB3475A-E09D-45AB-BE5A-A8C461F4BA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3086100"/>
            <a:ext cx="2876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200" b="1">
                <a:solidFill>
                  <a:srgbClr val="0A2342"/>
                </a:solidFill>
                <a:latin typeface="NanumSquare"/>
                <a:ea typeface="NanumSquare"/>
                <a:cs typeface="NanumSquare"/>
              </a:defRPr>
            </a:pPr>
            <a:r>
              <a:rPr sz="1200" b="1">
                <a:solidFill>
                  <a:srgbClr val="0A2342"/>
                </a:solidFill>
                <a:latin typeface="NanumSquare"/>
                <a:ea typeface="NanumSquare"/>
                <a:cs typeface="NanumSquare"/>
              </a:rPr>
              <a:t>FE/CLIENT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4B745A9-78D2-453B-BCD8-470A09BC29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3486150"/>
            <a:ext cx="28765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1D1D1F"/>
                </a:solidFill>
                <a:latin typeface="NanumSquare"/>
                <a:ea typeface="NanumSquare"/>
                <a:cs typeface="NanumSquare"/>
              </a:defRPr>
            </a:pPr>
            <a:r>
              <a:rPr sz="1800" b="1">
                <a:solidFill>
                  <a:srgbClr val="1D1D1F"/>
                </a:solidFill>
                <a:latin typeface="NanumSquare"/>
                <a:ea typeface="NanumSquare"/>
                <a:cs typeface="NanumSquare"/>
              </a:rPr>
              <a:t>AI 인터랙션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5E717CA-4669-4907-AE73-601FD4F7AD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4229100"/>
            <a:ext cx="28765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275" b="0">
                <a:solidFill>
                  <a:srgbClr val="667085"/>
                </a:solidFill>
                <a:latin typeface="NanumSquare"/>
                <a:ea typeface="NanumSquare"/>
                <a:cs typeface="NanumSquare"/>
              </a:defRPr>
            </a:pPr>
            <a:r>
              <a:rPr sz="1275" b="0">
                <a:solidFill>
                  <a:srgbClr val="667085"/>
                </a:solidFill>
                <a:latin typeface="NanumSquare"/>
                <a:ea typeface="NanumSquare"/>
                <a:cs typeface="NanumSquare"/>
              </a:rPr>
              <a:t>스트리밍, optimistic UI, 오류 복구, 접근성, 상태 관리를 구현합니다.</a:t>
            </a:r>
          </a:p>
        </p:txBody>
      </p:sp>
      <p:sp>
        <p:nvSpPr>
          <p:cNvPr id="12" name="card-3">
            <a:extLst xmlns:a="http://schemas.openxmlformats.org/drawingml/2006/main">
              <a:ext uri="{FF2B5EF4-FFF2-40B4-BE49-F238E27FC236}">
                <a16:creationId xmlns:a16="http://schemas.microsoft.com/office/drawing/2014/main" id="{DB705139-7666-4620-B934-B2F9E35F16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2857500"/>
            <a:ext cx="3333750" cy="2362200"/>
          </a:xfrm>
          <a:prstGeom xmlns:a="http://schemas.openxmlformats.org/drawingml/2006/main" prst="roundRect">
            <a:avLst>
              <a:gd name="adj" fmla="val 483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F606341-5EE1-43FE-9190-D16AA969A7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3086100"/>
            <a:ext cx="2876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200" b="1">
                <a:solidFill>
                  <a:srgbClr val="0A2342"/>
                </a:solidFill>
                <a:latin typeface="NanumSquare"/>
                <a:ea typeface="NanumSquare"/>
                <a:cs typeface="NanumSquare"/>
              </a:defRPr>
            </a:pPr>
            <a:r>
              <a:rPr sz="1200" b="1">
                <a:solidFill>
                  <a:srgbClr val="0A2342"/>
                </a:solidFill>
                <a:latin typeface="NanumSquare"/>
                <a:ea typeface="NanumSquare"/>
                <a:cs typeface="NanumSquare"/>
              </a:rPr>
              <a:t>QUALITY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1A643F6-5C0D-44E4-97F2-18C27E37E0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3486150"/>
            <a:ext cx="28765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1D1D1F"/>
                </a:solidFill>
                <a:latin typeface="NanumSquare"/>
                <a:ea typeface="NanumSquare"/>
                <a:cs typeface="NanumSquare"/>
              </a:defRPr>
            </a:pPr>
            <a:r>
              <a:rPr sz="1800" b="1">
                <a:solidFill>
                  <a:srgbClr val="1D1D1F"/>
                </a:solidFill>
                <a:latin typeface="NanumSquare"/>
                <a:ea typeface="NanumSquare"/>
                <a:cs typeface="NanumSquare"/>
              </a:rPr>
              <a:t>테스트 자동화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DB26174-665E-4F87-A1CD-BEFB27EAAF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4229100"/>
            <a:ext cx="28765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275" b="0">
                <a:solidFill>
                  <a:srgbClr val="667085"/>
                </a:solidFill>
                <a:latin typeface="NanumSquare"/>
                <a:ea typeface="NanumSquare"/>
                <a:cs typeface="NanumSquare"/>
              </a:defRPr>
            </a:pPr>
            <a:r>
              <a:rPr sz="1275" b="0">
                <a:solidFill>
                  <a:srgbClr val="667085"/>
                </a:solidFill>
                <a:latin typeface="NanumSquare"/>
                <a:ea typeface="NanumSquare"/>
                <a:cs typeface="NanumSquare"/>
              </a:rPr>
              <a:t>E2E, 평가셋, 배포 게이트로 AI가 만든 코드를 제품 수준으로 끌어올립니다.</a:t>
            </a:r>
          </a:p>
        </p:txBody>
      </p:sp>
      <p:sp>
        <p:nvSpPr>
          <p:cNvPr id="16" name="footer-left">
            <a:extLst xmlns:a="http://schemas.openxmlformats.org/drawingml/2006/main">
              <a:ext uri="{FF2B5EF4-FFF2-40B4-BE49-F238E27FC236}">
                <a16:creationId xmlns:a16="http://schemas.microsoft.com/office/drawing/2014/main" id="{2A314B97-3103-4FA4-B079-2B36DEC61E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476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825" b="0">
                <a:solidFill>
                  <a:srgbClr val="667085"/>
                </a:solidFill>
                <a:latin typeface="NanumSquare"/>
                <a:ea typeface="NanumSquare"/>
                <a:cs typeface="NanumSquare"/>
              </a:defRPr>
            </a:pPr>
            <a:r>
              <a:rPr sz="825" b="0">
                <a:solidFill>
                  <a:srgbClr val="667085"/>
                </a:solidFill>
                <a:latin typeface="NanumSquare"/>
                <a:ea typeface="NanumSquare"/>
                <a:cs typeface="NanumSquare"/>
              </a:rPr>
              <a:t>Goorm 20260701 AI Campus Prism 사전 특강</a:t>
            </a:r>
          </a:p>
        </p:txBody>
      </p:sp>
      <p:sp>
        <p:nvSpPr>
          <p:cNvPr id="17" name="footer-page">
            <a:extLst xmlns:a="http://schemas.openxmlformats.org/drawingml/2006/main">
              <a:ext uri="{FF2B5EF4-FFF2-40B4-BE49-F238E27FC236}">
                <a16:creationId xmlns:a16="http://schemas.microsoft.com/office/drawing/2014/main" id="{212677F5-53A3-49AA-85EA-7CFF26CE9E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6438900"/>
            <a:ext cx="400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lnSpc>
                <a:spcPct val="118000"/>
              </a:lnSpc>
              <a:buNone/>
              <a:defRPr sz="825" b="0">
                <a:solidFill>
                  <a:srgbClr val="667085"/>
                </a:solidFill>
                <a:latin typeface="NanumSquare"/>
                <a:ea typeface="NanumSquare"/>
                <a:cs typeface="NanumSquare"/>
              </a:defRPr>
            </a:pPr>
            <a:r>
              <a:rPr sz="825" b="0">
                <a:solidFill>
                  <a:srgbClr val="667085"/>
                </a:solidFill>
                <a:latin typeface="NanumSquare"/>
                <a:ea typeface="NanumSquare"/>
                <a:cs typeface="NanumSquare"/>
              </a:rPr>
              <a:t>14</a:t>
            </a:r>
          </a:p>
        </p:txBody>
      </p:sp>
    </p:spTree>
    <p:extLst>
      <p:ext uri="{BB962C8B-B14F-4D97-AF65-F5344CB8AC3E}">
        <p14:creationId xmlns:p14="http://schemas.microsoft.com/office/powerpoint/2010/main" val="1893588285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070B1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eyebrow">
            <a:extLst xmlns:a="http://schemas.openxmlformats.org/drawingml/2006/main">
              <a:ext uri="{FF2B5EF4-FFF2-40B4-BE49-F238E27FC236}">
                <a16:creationId xmlns:a16="http://schemas.microsoft.com/office/drawing/2014/main" id="{43F09CC0-5742-4EEF-9305-D0C68162E6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815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975" b="1">
                <a:solidFill>
                  <a:srgbClr val="CCCCCC"/>
                </a:solidFill>
                <a:latin typeface="NanumSquare"/>
                <a:ea typeface="NanumSquare"/>
                <a:cs typeface="NanumSquare"/>
              </a:defRPr>
            </a:pPr>
            <a:r>
              <a:rPr sz="975" b="1">
                <a:solidFill>
                  <a:srgbClr val="CCCCCC"/>
                </a:solidFill>
                <a:latin typeface="NanumSquare"/>
                <a:ea typeface="NanumSquare"/>
                <a:cs typeface="NanumSquare"/>
              </a:rPr>
              <a:t>ROLE LENS 04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801C71AB-48C1-48BC-84DE-DCDFE1EB79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38200"/>
            <a:ext cx="103632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2850" b="1">
                <a:solidFill>
                  <a:srgbClr val="FFFFFF"/>
                </a:solidFill>
                <a:latin typeface="NanumSquare"/>
                <a:ea typeface="NanumSquare"/>
                <a:cs typeface="NanumSquare"/>
              </a:defRPr>
            </a:pPr>
            <a:r>
              <a:rPr sz="2850" b="1">
                <a:solidFill>
                  <a:srgbClr val="FFFFFF"/>
                </a:solidFill>
                <a:latin typeface="NanumSquare"/>
                <a:ea typeface="NanumSquare"/>
                <a:cs typeface="NanumSquare"/>
              </a:rPr>
              <a:t>AI-side / Platform: AI가 계속 일하게 만드는 사람들</a:t>
            </a:r>
          </a:p>
        </p:txBody>
      </p:sp>
      <p:sp>
        <p:nvSpPr>
          <p:cNvPr id="3" name="subtitle">
            <a:extLst xmlns:a="http://schemas.openxmlformats.org/drawingml/2006/main">
              <a:ext uri="{FF2B5EF4-FFF2-40B4-BE49-F238E27FC236}">
                <a16:creationId xmlns:a16="http://schemas.microsoft.com/office/drawing/2014/main" id="{AEEE500D-391E-42F4-A9EB-23BD8D5670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47850"/>
            <a:ext cx="103632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22000"/>
              </a:lnSpc>
              <a:buNone/>
              <a:defRPr sz="1575" b="0">
                <a:solidFill>
                  <a:srgbClr val="D6D6D6"/>
                </a:solidFill>
                <a:latin typeface="NanumSquare"/>
                <a:ea typeface="NanumSquare"/>
                <a:cs typeface="NanumSquare"/>
              </a:defRPr>
            </a:pPr>
            <a:r>
              <a:rPr sz="1575" b="0">
                <a:solidFill>
                  <a:srgbClr val="D6D6D6"/>
                </a:solidFill>
                <a:latin typeface="NanumSquare"/>
                <a:ea typeface="NanumSquare"/>
                <a:cs typeface="NanumSquare"/>
              </a:rPr>
              <a:t>모델 호출은 시작일 뿐입니다. 실제 서비스는 데이터, 서빙, 관측성, 보안, 비용 관리로 지속됩니다.</a:t>
            </a:r>
          </a:p>
        </p:txBody>
      </p:sp>
      <p:sp>
        <p:nvSpPr>
          <p:cNvPr id="4" name="card-1">
            <a:extLst xmlns:a="http://schemas.openxmlformats.org/drawingml/2006/main">
              <a:ext uri="{FF2B5EF4-FFF2-40B4-BE49-F238E27FC236}">
                <a16:creationId xmlns:a16="http://schemas.microsoft.com/office/drawing/2014/main" id="{BF004A9C-B490-4872-A137-5A63B5FC28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95600"/>
            <a:ext cx="3333750" cy="2362200"/>
          </a:xfrm>
          <a:prstGeom xmlns:a="http://schemas.openxmlformats.org/drawingml/2006/main" prst="roundRect">
            <a:avLst>
              <a:gd name="adj" fmla="val 4839"/>
            </a:avLst>
          </a:prstGeom>
          <a:solidFill xmlns:a="http://schemas.openxmlformats.org/drawingml/2006/main">
            <a:srgbClr val="101827"/>
          </a:solidFill>
          <a:ln xmlns:a="http://schemas.openxmlformats.org/drawingml/2006/main" w="9525">
            <a:solidFill>
              <a:srgbClr val="3B3B3D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34C9CAF-1562-4E46-87D0-415B77550E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124200"/>
            <a:ext cx="2876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200" b="1">
                <a:solidFill>
                  <a:srgbClr val="C7D7EA"/>
                </a:solidFill>
                <a:latin typeface="NanumSquare"/>
                <a:ea typeface="NanumSquare"/>
                <a:cs typeface="NanumSquare"/>
              </a:defRPr>
            </a:pPr>
            <a:r>
              <a:rPr sz="1200" b="1">
                <a:solidFill>
                  <a:srgbClr val="C7D7EA"/>
                </a:solidFill>
                <a:latin typeface="NanumSquare"/>
                <a:ea typeface="NanumSquare"/>
                <a:cs typeface="NanumSquare"/>
              </a:rPr>
              <a:t>DATA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F4AACC9-1F4B-4CE2-8630-8EECA3250D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524250"/>
            <a:ext cx="28765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FFFFFF"/>
                </a:solidFill>
                <a:latin typeface="NanumSquare"/>
                <a:ea typeface="NanumSquare"/>
                <a:cs typeface="NanumSquare"/>
              </a:defRPr>
            </a:pPr>
            <a:r>
              <a:rPr sz="1800" b="1">
                <a:solidFill>
                  <a:srgbClr val="FFFFFF"/>
                </a:solidFill>
                <a:latin typeface="NanumSquare"/>
                <a:ea typeface="NanumSquare"/>
                <a:cs typeface="NanumSquare"/>
              </a:rPr>
              <a:t>RAG와 데이터 품질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2ED2960-A8C6-403D-82C5-468C6CEEA8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267200"/>
            <a:ext cx="28765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275" b="0">
                <a:solidFill>
                  <a:srgbClr val="D6D6D6"/>
                </a:solidFill>
                <a:latin typeface="NanumSquare"/>
                <a:ea typeface="NanumSquare"/>
                <a:cs typeface="NanumSquare"/>
              </a:defRPr>
            </a:pPr>
            <a:r>
              <a:rPr sz="1275" b="0">
                <a:solidFill>
                  <a:srgbClr val="D6D6D6"/>
                </a:solidFill>
                <a:latin typeface="NanumSquare"/>
                <a:ea typeface="NanumSquare"/>
                <a:cs typeface="NanumSquare"/>
              </a:rPr>
              <a:t>문서 최신성, 메타데이터, 권한, 피드백 로그를 운영합니다.</a:t>
            </a:r>
          </a:p>
        </p:txBody>
      </p:sp>
      <p:sp>
        <p:nvSpPr>
          <p:cNvPr id="8" name="card-2">
            <a:extLst xmlns:a="http://schemas.openxmlformats.org/drawingml/2006/main">
              <a:ext uri="{FF2B5EF4-FFF2-40B4-BE49-F238E27FC236}">
                <a16:creationId xmlns:a16="http://schemas.microsoft.com/office/drawing/2014/main" id="{3AD1F6F8-B3CE-4326-AB96-94F7D3ABA3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2895600"/>
            <a:ext cx="3333750" cy="2362200"/>
          </a:xfrm>
          <a:prstGeom xmlns:a="http://schemas.openxmlformats.org/drawingml/2006/main" prst="roundRect">
            <a:avLst>
              <a:gd name="adj" fmla="val 4839"/>
            </a:avLst>
          </a:prstGeom>
          <a:solidFill xmlns:a="http://schemas.openxmlformats.org/drawingml/2006/main">
            <a:srgbClr val="101827"/>
          </a:solidFill>
          <a:ln xmlns:a="http://schemas.openxmlformats.org/drawingml/2006/main" w="9525">
            <a:solidFill>
              <a:srgbClr val="3B3B3D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F9895DE-5219-4C80-9A55-F450F7A632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3124200"/>
            <a:ext cx="2876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200" b="1">
                <a:solidFill>
                  <a:srgbClr val="C7D7EA"/>
                </a:solidFill>
                <a:latin typeface="NanumSquare"/>
                <a:ea typeface="NanumSquare"/>
                <a:cs typeface="NanumSquare"/>
              </a:defRPr>
            </a:pPr>
            <a:r>
              <a:rPr sz="1200" b="1">
                <a:solidFill>
                  <a:srgbClr val="C7D7EA"/>
                </a:solidFill>
                <a:latin typeface="NanumSquare"/>
                <a:ea typeface="NanumSquare"/>
                <a:cs typeface="NanumSquare"/>
              </a:rPr>
              <a:t>INFRA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D10A7D9-69BA-41E4-813A-46AD41CE9B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3524250"/>
            <a:ext cx="28765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FFFFFF"/>
                </a:solidFill>
                <a:latin typeface="NanumSquare"/>
                <a:ea typeface="NanumSquare"/>
                <a:cs typeface="NanumSquare"/>
              </a:defRPr>
            </a:pPr>
            <a:r>
              <a:rPr sz="1800" b="1">
                <a:solidFill>
                  <a:srgbClr val="FFFFFF"/>
                </a:solidFill>
                <a:latin typeface="NanumSquare"/>
                <a:ea typeface="NanumSquare"/>
                <a:cs typeface="NanumSquare"/>
              </a:rPr>
              <a:t>LLM 서빙과 관측성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33F2406-3B86-4A19-AA09-8AF4B44203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4267200"/>
            <a:ext cx="28765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275" b="0">
                <a:solidFill>
                  <a:srgbClr val="D6D6D6"/>
                </a:solidFill>
                <a:latin typeface="NanumSquare"/>
                <a:ea typeface="NanumSquare"/>
                <a:cs typeface="NanumSquare"/>
              </a:defRPr>
            </a:pPr>
            <a:r>
              <a:rPr sz="1275" b="0">
                <a:solidFill>
                  <a:srgbClr val="D6D6D6"/>
                </a:solidFill>
                <a:latin typeface="NanumSquare"/>
                <a:ea typeface="NanumSquare"/>
                <a:cs typeface="NanumSquare"/>
              </a:rPr>
              <a:t>GPU, vLLM, Kubernetes, Prometheus/Grafana, SLO를 다룹니다.</a:t>
            </a:r>
          </a:p>
        </p:txBody>
      </p:sp>
      <p:sp>
        <p:nvSpPr>
          <p:cNvPr id="12" name="card-3">
            <a:extLst xmlns:a="http://schemas.openxmlformats.org/drawingml/2006/main">
              <a:ext uri="{FF2B5EF4-FFF2-40B4-BE49-F238E27FC236}">
                <a16:creationId xmlns:a16="http://schemas.microsoft.com/office/drawing/2014/main" id="{1DA1DF5A-ED7B-46F7-8725-786B802637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2895600"/>
            <a:ext cx="3333750" cy="2362200"/>
          </a:xfrm>
          <a:prstGeom xmlns:a="http://schemas.openxmlformats.org/drawingml/2006/main" prst="roundRect">
            <a:avLst>
              <a:gd name="adj" fmla="val 4839"/>
            </a:avLst>
          </a:prstGeom>
          <a:solidFill xmlns:a="http://schemas.openxmlformats.org/drawingml/2006/main">
            <a:srgbClr val="101827"/>
          </a:solidFill>
          <a:ln xmlns:a="http://schemas.openxmlformats.org/drawingml/2006/main" w="9525">
            <a:solidFill>
              <a:srgbClr val="3B3B3D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B1DA4C1-C5BE-4B71-9A63-27D930F731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3124200"/>
            <a:ext cx="2876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200" b="1">
                <a:solidFill>
                  <a:srgbClr val="C7D7EA"/>
                </a:solidFill>
                <a:latin typeface="NanumSquare"/>
                <a:ea typeface="NanumSquare"/>
                <a:cs typeface="NanumSquare"/>
              </a:defRPr>
            </a:pPr>
            <a:r>
              <a:rPr sz="1200" b="1">
                <a:solidFill>
                  <a:srgbClr val="C7D7EA"/>
                </a:solidFill>
                <a:latin typeface="NanumSquare"/>
                <a:ea typeface="NanumSquare"/>
                <a:cs typeface="NanumSquare"/>
              </a:rPr>
              <a:t>SECURITY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5435293-63F3-40BA-AD10-F9A156047D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3524250"/>
            <a:ext cx="28765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FFFFFF"/>
                </a:solidFill>
                <a:latin typeface="NanumSquare"/>
                <a:ea typeface="NanumSquare"/>
                <a:cs typeface="NanumSquare"/>
              </a:defRPr>
            </a:pPr>
            <a:r>
              <a:rPr sz="1800" b="1">
                <a:solidFill>
                  <a:srgbClr val="FFFFFF"/>
                </a:solidFill>
                <a:latin typeface="NanumSquare"/>
                <a:ea typeface="NanumSquare"/>
                <a:cs typeface="NanumSquare"/>
              </a:rPr>
              <a:t>가드레일과 레드팀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D5DEB35-13C4-41BD-BBD9-B324CCBBBC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4267200"/>
            <a:ext cx="28765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275" b="0">
                <a:solidFill>
                  <a:srgbClr val="D6D6D6"/>
                </a:solidFill>
                <a:latin typeface="NanumSquare"/>
                <a:ea typeface="NanumSquare"/>
                <a:cs typeface="NanumSquare"/>
              </a:defRPr>
            </a:pPr>
            <a:r>
              <a:rPr sz="1275" b="0">
                <a:solidFill>
                  <a:srgbClr val="D6D6D6"/>
                </a:solidFill>
                <a:latin typeface="NanumSquare"/>
                <a:ea typeface="NanumSquare"/>
                <a:cs typeface="NanumSquare"/>
              </a:rPr>
              <a:t>프롬프트 공격, 도구 오남용, 데이터 유출을 지속적으로 검증합니다.</a:t>
            </a:r>
          </a:p>
        </p:txBody>
      </p:sp>
      <p:sp>
        <p:nvSpPr>
          <p:cNvPr id="16" name="footer-left">
            <a:extLst xmlns:a="http://schemas.openxmlformats.org/drawingml/2006/main">
              <a:ext uri="{FF2B5EF4-FFF2-40B4-BE49-F238E27FC236}">
                <a16:creationId xmlns:a16="http://schemas.microsoft.com/office/drawing/2014/main" id="{1765308C-1997-4BEC-B107-DA993AE4CE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476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825" b="0">
                <a:solidFill>
                  <a:srgbClr val="9CA8B8"/>
                </a:solidFill>
                <a:latin typeface="NanumSquare"/>
                <a:ea typeface="NanumSquare"/>
                <a:cs typeface="NanumSquare"/>
              </a:defRPr>
            </a:pPr>
            <a:r>
              <a:rPr sz="825" b="0">
                <a:solidFill>
                  <a:srgbClr val="9CA8B8"/>
                </a:solidFill>
                <a:latin typeface="NanumSquare"/>
                <a:ea typeface="NanumSquare"/>
                <a:cs typeface="NanumSquare"/>
              </a:rPr>
              <a:t>Goorm 20260701 AI Campus Prism 사전 특강</a:t>
            </a:r>
          </a:p>
        </p:txBody>
      </p:sp>
      <p:sp>
        <p:nvSpPr>
          <p:cNvPr id="17" name="footer-page">
            <a:extLst xmlns:a="http://schemas.openxmlformats.org/drawingml/2006/main">
              <a:ext uri="{FF2B5EF4-FFF2-40B4-BE49-F238E27FC236}">
                <a16:creationId xmlns:a16="http://schemas.microsoft.com/office/drawing/2014/main" id="{D6413DB4-F8C7-4278-B92D-A6B2BEFD19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6438900"/>
            <a:ext cx="400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lnSpc>
                <a:spcPct val="118000"/>
              </a:lnSpc>
              <a:buNone/>
              <a:defRPr sz="825" b="0">
                <a:solidFill>
                  <a:srgbClr val="9CA8B8"/>
                </a:solidFill>
                <a:latin typeface="NanumSquare"/>
                <a:ea typeface="NanumSquare"/>
                <a:cs typeface="NanumSquare"/>
              </a:defRPr>
            </a:pPr>
            <a:r>
              <a:rPr sz="825" b="0">
                <a:solidFill>
                  <a:srgbClr val="9CA8B8"/>
                </a:solidFill>
                <a:latin typeface="NanumSquare"/>
                <a:ea typeface="NanumSquare"/>
                <a:cs typeface="NanumSquare"/>
              </a:rPr>
              <a:t>15</a:t>
            </a:r>
          </a:p>
        </p:txBody>
      </p:sp>
    </p:spTree>
    <p:extLst>
      <p:ext uri="{BB962C8B-B14F-4D97-AF65-F5344CB8AC3E}">
        <p14:creationId xmlns:p14="http://schemas.microsoft.com/office/powerpoint/2010/main" val="1566917612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070B1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574117ED-AB9D-4248-86E8-EBDFEA3FA0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3340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975" b="1">
                <a:solidFill>
                  <a:srgbClr val="CCCCCC"/>
                </a:solidFill>
                <a:latin typeface="NanumSquare"/>
                <a:ea typeface="NanumSquare"/>
                <a:cs typeface="NanumSquare"/>
              </a:defRPr>
            </a:pPr>
            <a:r>
              <a:rPr sz="975" b="1">
                <a:solidFill>
                  <a:srgbClr val="CCCCCC"/>
                </a:solidFill>
                <a:latin typeface="NanumSquare"/>
                <a:ea typeface="NanumSquare"/>
                <a:cs typeface="NanumSquare"/>
              </a:rPr>
              <a:t>AI CAMPUS PRISM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B9C36B9-1B68-4B26-82DA-F14C94366C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19300"/>
            <a:ext cx="93345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3900" b="1">
                <a:solidFill>
                  <a:srgbClr val="FFFFFF"/>
                </a:solidFill>
                <a:latin typeface="NanumSquare"/>
                <a:ea typeface="NanumSquare"/>
                <a:cs typeface="NanumSquare"/>
              </a:defRPr>
            </a:pPr>
            <a:r>
              <a:rPr sz="3900" b="1">
                <a:solidFill>
                  <a:srgbClr val="FFFFFF"/>
                </a:solidFill>
                <a:latin typeface="NanumSquare"/>
                <a:ea typeface="NanumSquare"/>
                <a:cs typeface="NanumSquare"/>
              </a:rPr>
              <a:t>현업 적용은 작은 자동화에서 시작해 제품 구조로 갑니다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89F97AF-DAB6-45CA-82DC-4F0AB2D7B7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67100"/>
            <a:ext cx="8382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800" b="0">
                <a:solidFill>
                  <a:srgbClr val="D6D6D6"/>
                </a:solidFill>
                <a:latin typeface="NanumSquare"/>
                <a:ea typeface="NanumSquare"/>
                <a:cs typeface="NanumSquare"/>
              </a:defRPr>
            </a:pPr>
            <a:r>
              <a:rPr sz="1800" b="0">
                <a:solidFill>
                  <a:srgbClr val="D6D6D6"/>
                </a:solidFill>
                <a:latin typeface="NanumSquare"/>
                <a:ea typeface="NanumSquare"/>
                <a:cs typeface="NanumSquare"/>
              </a:rPr>
              <a:t>패션 플랫폼, 커머스, 교육, 금융, 공공 어디든 출발점은 ‘고객의 판단 비용을 줄이는 일’입니다.</a:t>
            </a:r>
          </a:p>
        </p:txBody>
      </p:sp>
      <p:sp>
        <p:nvSpPr>
          <p:cNvPr id="4" name="footer-left">
            <a:extLst xmlns:a="http://schemas.openxmlformats.org/drawingml/2006/main">
              <a:ext uri="{FF2B5EF4-FFF2-40B4-BE49-F238E27FC236}">
                <a16:creationId xmlns:a16="http://schemas.microsoft.com/office/drawing/2014/main" id="{C4B15369-242F-4E11-969B-6CD2274B89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476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825" b="0">
                <a:solidFill>
                  <a:srgbClr val="9CA8B8"/>
                </a:solidFill>
                <a:latin typeface="NanumSquare"/>
                <a:ea typeface="NanumSquare"/>
                <a:cs typeface="NanumSquare"/>
              </a:defRPr>
            </a:pPr>
            <a:r>
              <a:rPr sz="825" b="0">
                <a:solidFill>
                  <a:srgbClr val="9CA8B8"/>
                </a:solidFill>
                <a:latin typeface="NanumSquare"/>
                <a:ea typeface="NanumSquare"/>
                <a:cs typeface="NanumSquare"/>
              </a:rPr>
              <a:t>Goorm 20260701 AI Campus Prism 사전 특강</a:t>
            </a:r>
          </a:p>
        </p:txBody>
      </p:sp>
      <p:sp>
        <p:nvSpPr>
          <p:cNvPr id="5" name="footer-page">
            <a:extLst xmlns:a="http://schemas.openxmlformats.org/drawingml/2006/main">
              <a:ext uri="{FF2B5EF4-FFF2-40B4-BE49-F238E27FC236}">
                <a16:creationId xmlns:a16="http://schemas.microsoft.com/office/drawing/2014/main" id="{F49981B0-1BEE-4FD8-A631-3806F91A6E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6438900"/>
            <a:ext cx="400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lnSpc>
                <a:spcPct val="118000"/>
              </a:lnSpc>
              <a:buNone/>
              <a:defRPr sz="825" b="0">
                <a:solidFill>
                  <a:srgbClr val="9CA8B8"/>
                </a:solidFill>
                <a:latin typeface="NanumSquare"/>
                <a:ea typeface="NanumSquare"/>
                <a:cs typeface="NanumSquare"/>
              </a:defRPr>
            </a:pPr>
            <a:r>
              <a:rPr sz="825" b="0">
                <a:solidFill>
                  <a:srgbClr val="9CA8B8"/>
                </a:solidFill>
                <a:latin typeface="NanumSquare"/>
                <a:ea typeface="NanumSquare"/>
                <a:cs typeface="NanumSquare"/>
              </a:rPr>
              <a:t>16</a:t>
            </a:r>
          </a:p>
        </p:txBody>
      </p:sp>
    </p:spTree>
    <p:extLst>
      <p:ext uri="{BB962C8B-B14F-4D97-AF65-F5344CB8AC3E}">
        <p14:creationId xmlns:p14="http://schemas.microsoft.com/office/powerpoint/2010/main" val="2102777077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5F6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eyebrow">
            <a:extLst xmlns:a="http://schemas.openxmlformats.org/drawingml/2006/main">
              <a:ext uri="{FF2B5EF4-FFF2-40B4-BE49-F238E27FC236}">
                <a16:creationId xmlns:a16="http://schemas.microsoft.com/office/drawing/2014/main" id="{107C9E77-8379-4FF6-8BA5-287E1852BD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815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975" b="1">
                <a:solidFill>
                  <a:srgbClr val="667085"/>
                </a:solidFill>
                <a:latin typeface="NanumSquare"/>
                <a:ea typeface="NanumSquare"/>
                <a:cs typeface="NanumSquare"/>
              </a:defRPr>
            </a:pPr>
            <a:r>
              <a:rPr sz="975" b="1">
                <a:solidFill>
                  <a:srgbClr val="667085"/>
                </a:solidFill>
                <a:latin typeface="NanumSquare"/>
                <a:ea typeface="NanumSquare"/>
                <a:cs typeface="NanumSquare"/>
              </a:rPr>
              <a:t>INDUSTRY CASES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3ABACCD4-0E87-415E-A91A-CD50E90C84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38200"/>
            <a:ext cx="103632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2850" b="1">
                <a:solidFill>
                  <a:srgbClr val="1D1D1F"/>
                </a:solidFill>
                <a:latin typeface="NanumSquare"/>
                <a:ea typeface="NanumSquare"/>
                <a:cs typeface="NanumSquare"/>
              </a:defRPr>
            </a:pPr>
            <a:r>
              <a:rPr sz="2850" b="1">
                <a:solidFill>
                  <a:srgbClr val="1D1D1F"/>
                </a:solidFill>
                <a:latin typeface="NanumSquare"/>
                <a:ea typeface="NanumSquare"/>
                <a:cs typeface="NanumSquare"/>
              </a:rPr>
              <a:t>패션 플랫폼 현업에서 만나는 AI 과제</a:t>
            </a:r>
          </a:p>
        </p:txBody>
      </p:sp>
      <p:sp>
        <p:nvSpPr>
          <p:cNvPr id="3" name="subtitle">
            <a:extLst xmlns:a="http://schemas.openxmlformats.org/drawingml/2006/main">
              <a:ext uri="{FF2B5EF4-FFF2-40B4-BE49-F238E27FC236}">
                <a16:creationId xmlns:a16="http://schemas.microsoft.com/office/drawing/2014/main" id="{037B0D07-1CF9-4805-84D2-99B43186A2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47850"/>
            <a:ext cx="103632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22000"/>
              </a:lnSpc>
              <a:buNone/>
              <a:defRPr sz="1575" b="0">
                <a:solidFill>
                  <a:srgbClr val="667085"/>
                </a:solidFill>
                <a:latin typeface="NanumSquare"/>
                <a:ea typeface="NanumSquare"/>
                <a:cs typeface="NanumSquare"/>
              </a:defRPr>
            </a:pPr>
            <a:r>
              <a:rPr sz="1575" b="0">
                <a:solidFill>
                  <a:srgbClr val="667085"/>
                </a:solidFill>
                <a:latin typeface="NanumSquare"/>
                <a:ea typeface="NanumSquare"/>
                <a:cs typeface="NanumSquare"/>
              </a:rPr>
              <a:t>공개 가능한 수준으로 일반화하면, AI는 탐색·판단·운영·품질의 비용을 줄이는 데 쓰입니다.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21FDDBC-6BC4-4051-A570-7162673286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2571750"/>
            <a:ext cx="190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500" b="1">
                <a:solidFill>
                  <a:srgbClr val="0A2342"/>
                </a:solidFill>
                <a:latin typeface="NanumSquare"/>
                <a:ea typeface="NanumSquare"/>
                <a:cs typeface="NanumSquare"/>
              </a:defRPr>
            </a:pPr>
            <a:r>
              <a:rPr sz="1500" b="1">
                <a:solidFill>
                  <a:srgbClr val="0A2342"/>
                </a:solidFill>
                <a:latin typeface="NanumSquare"/>
                <a:ea typeface="NanumSquare"/>
                <a:cs typeface="NanumSquare"/>
              </a:rPr>
              <a:t>검색/추천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9E74FDD-EE88-45DD-A23F-C168DDC8D3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2571750"/>
            <a:ext cx="723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425" b="0">
                <a:solidFill>
                  <a:srgbClr val="1D1D1F"/>
                </a:solidFill>
                <a:latin typeface="NanumSquare"/>
                <a:ea typeface="NanumSquare"/>
                <a:cs typeface="NanumSquare"/>
              </a:defRPr>
            </a:pPr>
            <a:r>
              <a:rPr sz="1425" b="0">
                <a:solidFill>
                  <a:srgbClr val="1D1D1F"/>
                </a:solidFill>
                <a:latin typeface="NanumSquare"/>
                <a:ea typeface="NanumSquare"/>
                <a:cs typeface="NanumSquare"/>
              </a:rPr>
              <a:t>자연어 의도, 취향, 상황, 가격, 재고를 함께 해석</a:t>
            </a:r>
          </a:p>
        </p:txBody>
      </p:sp>
      <p:sp>
        <p:nvSpPr>
          <p:cNvPr id="6" name="case-rule-0">
            <a:extLst xmlns:a="http://schemas.openxmlformats.org/drawingml/2006/main">
              <a:ext uri="{FF2B5EF4-FFF2-40B4-BE49-F238E27FC236}">
                <a16:creationId xmlns:a16="http://schemas.microsoft.com/office/drawing/2014/main" id="{72E0A1CF-3551-44DC-B22E-7B3DC08311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2952750"/>
            <a:ext cx="94107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E7E905B-99B9-4566-81C5-1C6C943547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3143250"/>
            <a:ext cx="190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500" b="1">
                <a:solidFill>
                  <a:srgbClr val="0A2342"/>
                </a:solidFill>
                <a:latin typeface="NanumSquare"/>
                <a:ea typeface="NanumSquare"/>
                <a:cs typeface="NanumSquare"/>
              </a:defRPr>
            </a:pPr>
            <a:r>
              <a:rPr sz="1500" b="1">
                <a:solidFill>
                  <a:srgbClr val="0A2342"/>
                </a:solidFill>
                <a:latin typeface="NanumSquare"/>
                <a:ea typeface="NanumSquare"/>
                <a:cs typeface="NanumSquare"/>
              </a:rPr>
              <a:t>상품정보 구조화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94A9BF8-2539-42D1-BDCB-6B6115D65F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3143250"/>
            <a:ext cx="723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425" b="0">
                <a:solidFill>
                  <a:srgbClr val="1D1D1F"/>
                </a:solidFill>
                <a:latin typeface="NanumSquare"/>
                <a:ea typeface="NanumSquare"/>
                <a:cs typeface="NanumSquare"/>
              </a:defRPr>
            </a:pPr>
            <a:r>
              <a:rPr sz="1425" b="0">
                <a:solidFill>
                  <a:srgbClr val="1D1D1F"/>
                </a:solidFill>
                <a:latin typeface="NanumSquare"/>
                <a:ea typeface="NanumSquare"/>
                <a:cs typeface="NanumSquare"/>
              </a:rPr>
              <a:t>상품명, 속성, 리뷰, FAQ를 AI가 이해 가능한 형태로 개선</a:t>
            </a:r>
          </a:p>
        </p:txBody>
      </p:sp>
      <p:sp>
        <p:nvSpPr>
          <p:cNvPr id="9" name="case-rule-1">
            <a:extLst xmlns:a="http://schemas.openxmlformats.org/drawingml/2006/main">
              <a:ext uri="{FF2B5EF4-FFF2-40B4-BE49-F238E27FC236}">
                <a16:creationId xmlns:a16="http://schemas.microsoft.com/office/drawing/2014/main" id="{E23DFA94-CF59-4D91-91D4-BA22A85A25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3524250"/>
            <a:ext cx="94107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33088CF-1640-49DB-AE93-67F8A7D2E7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3714750"/>
            <a:ext cx="190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500" b="1">
                <a:solidFill>
                  <a:srgbClr val="0A2342"/>
                </a:solidFill>
                <a:latin typeface="NanumSquare"/>
                <a:ea typeface="NanumSquare"/>
                <a:cs typeface="NanumSquare"/>
              </a:defRPr>
            </a:pPr>
            <a:r>
              <a:rPr sz="1500" b="1">
                <a:solidFill>
                  <a:srgbClr val="0A2342"/>
                </a:solidFill>
                <a:latin typeface="NanumSquare"/>
                <a:ea typeface="NanumSquare"/>
                <a:cs typeface="NanumSquare"/>
              </a:rPr>
              <a:t>리뷰/콘텐츠 요약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29D4D4F-1D1C-4D2A-9C51-F3283F83E1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3714750"/>
            <a:ext cx="723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425" b="0">
                <a:solidFill>
                  <a:srgbClr val="1D1D1F"/>
                </a:solidFill>
                <a:latin typeface="NanumSquare"/>
                <a:ea typeface="NanumSquare"/>
                <a:cs typeface="NanumSquare"/>
              </a:defRPr>
            </a:pPr>
            <a:r>
              <a:rPr sz="1425" b="0">
                <a:solidFill>
                  <a:srgbClr val="1D1D1F"/>
                </a:solidFill>
                <a:latin typeface="NanumSquare"/>
                <a:ea typeface="NanumSquare"/>
                <a:cs typeface="NanumSquare"/>
              </a:rPr>
              <a:t>장점, 단점, 사이즈, 소재, 착용감, 주의 조건을 추출</a:t>
            </a:r>
          </a:p>
        </p:txBody>
      </p:sp>
      <p:sp>
        <p:nvSpPr>
          <p:cNvPr id="12" name="case-rule-2">
            <a:extLst xmlns:a="http://schemas.openxmlformats.org/drawingml/2006/main">
              <a:ext uri="{FF2B5EF4-FFF2-40B4-BE49-F238E27FC236}">
                <a16:creationId xmlns:a16="http://schemas.microsoft.com/office/drawing/2014/main" id="{C9F65332-2960-484B-9F38-A2298344E2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4095750"/>
            <a:ext cx="94107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67751C3-06E5-4E35-AC00-CEA1BBFA3B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4286250"/>
            <a:ext cx="190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500" b="1">
                <a:solidFill>
                  <a:srgbClr val="0A2342"/>
                </a:solidFill>
                <a:latin typeface="NanumSquare"/>
                <a:ea typeface="NanumSquare"/>
                <a:cs typeface="NanumSquare"/>
              </a:defRPr>
            </a:pPr>
            <a:r>
              <a:rPr sz="1500" b="1">
                <a:solidFill>
                  <a:srgbClr val="0A2342"/>
                </a:solidFill>
                <a:latin typeface="NanumSquare"/>
                <a:ea typeface="NanumSquare"/>
                <a:cs typeface="NanumSquare"/>
              </a:rPr>
              <a:t>운영 자동화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A1CD52E-19DA-496F-B2D2-332B1E5161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4286250"/>
            <a:ext cx="723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425" b="0">
                <a:solidFill>
                  <a:srgbClr val="1D1D1F"/>
                </a:solidFill>
                <a:latin typeface="NanumSquare"/>
                <a:ea typeface="NanumSquare"/>
                <a:cs typeface="NanumSquare"/>
              </a:defRPr>
            </a:pPr>
            <a:r>
              <a:rPr sz="1425" b="0">
                <a:solidFill>
                  <a:srgbClr val="1D1D1F"/>
                </a:solidFill>
                <a:latin typeface="NanumSquare"/>
                <a:ea typeface="NanumSquare"/>
                <a:cs typeface="NanumSquare"/>
              </a:rPr>
              <a:t>CS, 정책, 내부 지식, 이슈 분류, 리포트 초안 작성</a:t>
            </a:r>
          </a:p>
        </p:txBody>
      </p:sp>
      <p:sp>
        <p:nvSpPr>
          <p:cNvPr id="15" name="case-rule-3">
            <a:extLst xmlns:a="http://schemas.openxmlformats.org/drawingml/2006/main">
              <a:ext uri="{FF2B5EF4-FFF2-40B4-BE49-F238E27FC236}">
                <a16:creationId xmlns:a16="http://schemas.microsoft.com/office/drawing/2014/main" id="{B8651A9A-D256-4E34-8D8E-140EC391B6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4667250"/>
            <a:ext cx="94107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A596BAB-90E3-4720-8EB6-81B0C31231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4857750"/>
            <a:ext cx="190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500" b="1">
                <a:solidFill>
                  <a:srgbClr val="0A2342"/>
                </a:solidFill>
                <a:latin typeface="NanumSquare"/>
                <a:ea typeface="NanumSquare"/>
                <a:cs typeface="NanumSquare"/>
              </a:defRPr>
            </a:pPr>
            <a:r>
              <a:rPr sz="1500" b="1">
                <a:solidFill>
                  <a:srgbClr val="0A2342"/>
                </a:solidFill>
                <a:latin typeface="NanumSquare"/>
                <a:ea typeface="NanumSquare"/>
                <a:cs typeface="NanumSquare"/>
              </a:rPr>
              <a:t>품질/안전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46A7D1A-4A7E-46AD-B496-E3E74F0A89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4857750"/>
            <a:ext cx="723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425" b="0">
                <a:solidFill>
                  <a:srgbClr val="1D1D1F"/>
                </a:solidFill>
                <a:latin typeface="NanumSquare"/>
                <a:ea typeface="NanumSquare"/>
                <a:cs typeface="NanumSquare"/>
              </a:defRPr>
            </a:pPr>
            <a:r>
              <a:rPr sz="1425" b="0">
                <a:solidFill>
                  <a:srgbClr val="1D1D1F"/>
                </a:solidFill>
                <a:latin typeface="NanumSquare"/>
                <a:ea typeface="NanumSquare"/>
                <a:cs typeface="NanumSquare"/>
              </a:rPr>
              <a:t>잘못된 추천, 민감정보, 브랜드 리스크, hallucination 관리</a:t>
            </a:r>
          </a:p>
        </p:txBody>
      </p:sp>
      <p:sp>
        <p:nvSpPr>
          <p:cNvPr id="18" name="case-rule-4">
            <a:extLst xmlns:a="http://schemas.openxmlformats.org/drawingml/2006/main">
              <a:ext uri="{FF2B5EF4-FFF2-40B4-BE49-F238E27FC236}">
                <a16:creationId xmlns:a16="http://schemas.microsoft.com/office/drawing/2014/main" id="{1BAF919E-05E4-4749-959B-7767FF1255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5238750"/>
            <a:ext cx="94107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19" name="footer-left">
            <a:extLst xmlns:a="http://schemas.openxmlformats.org/drawingml/2006/main">
              <a:ext uri="{FF2B5EF4-FFF2-40B4-BE49-F238E27FC236}">
                <a16:creationId xmlns:a16="http://schemas.microsoft.com/office/drawing/2014/main" id="{6F4C0FAF-AD3D-42E8-9BB3-B06887596C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476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825" b="0">
                <a:solidFill>
                  <a:srgbClr val="667085"/>
                </a:solidFill>
                <a:latin typeface="NanumSquare"/>
                <a:ea typeface="NanumSquare"/>
                <a:cs typeface="NanumSquare"/>
              </a:defRPr>
            </a:pPr>
            <a:r>
              <a:rPr sz="825" b="0">
                <a:solidFill>
                  <a:srgbClr val="667085"/>
                </a:solidFill>
                <a:latin typeface="NanumSquare"/>
                <a:ea typeface="NanumSquare"/>
                <a:cs typeface="NanumSquare"/>
              </a:rPr>
              <a:t>Goorm 20260701 AI Campus Prism 사전 특강</a:t>
            </a:r>
          </a:p>
        </p:txBody>
      </p:sp>
      <p:sp>
        <p:nvSpPr>
          <p:cNvPr id="20" name="footer-page">
            <a:extLst xmlns:a="http://schemas.openxmlformats.org/drawingml/2006/main">
              <a:ext uri="{FF2B5EF4-FFF2-40B4-BE49-F238E27FC236}">
                <a16:creationId xmlns:a16="http://schemas.microsoft.com/office/drawing/2014/main" id="{2A5C0A2A-22C9-4506-82A6-E241A51BD4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6438900"/>
            <a:ext cx="400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lnSpc>
                <a:spcPct val="118000"/>
              </a:lnSpc>
              <a:buNone/>
              <a:defRPr sz="825" b="0">
                <a:solidFill>
                  <a:srgbClr val="667085"/>
                </a:solidFill>
                <a:latin typeface="NanumSquare"/>
                <a:ea typeface="NanumSquare"/>
                <a:cs typeface="NanumSquare"/>
              </a:defRPr>
            </a:pPr>
            <a:r>
              <a:rPr sz="825" b="0">
                <a:solidFill>
                  <a:srgbClr val="667085"/>
                </a:solidFill>
                <a:latin typeface="NanumSquare"/>
                <a:ea typeface="NanumSquare"/>
                <a:cs typeface="NanumSquare"/>
              </a:rPr>
              <a:t>17</a:t>
            </a:r>
          </a:p>
        </p:txBody>
      </p:sp>
    </p:spTree>
    <p:extLst>
      <p:ext uri="{BB962C8B-B14F-4D97-AF65-F5344CB8AC3E}">
        <p14:creationId xmlns:p14="http://schemas.microsoft.com/office/powerpoint/2010/main" val="1050568435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eyebrow">
            <a:extLst xmlns:a="http://schemas.openxmlformats.org/drawingml/2006/main">
              <a:ext uri="{FF2B5EF4-FFF2-40B4-BE49-F238E27FC236}">
                <a16:creationId xmlns:a16="http://schemas.microsoft.com/office/drawing/2014/main" id="{4ACE0647-DF7B-41F5-B67F-C0E427B323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815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975" b="1">
                <a:solidFill>
                  <a:srgbClr val="667085"/>
                </a:solidFill>
                <a:latin typeface="NanumSquare"/>
                <a:ea typeface="NanumSquare"/>
                <a:cs typeface="NanumSquare"/>
              </a:defRPr>
            </a:pPr>
            <a:r>
              <a:rPr sz="975" b="1">
                <a:solidFill>
                  <a:srgbClr val="667085"/>
                </a:solidFill>
                <a:latin typeface="NanumSquare"/>
                <a:ea typeface="NanumSquare"/>
                <a:cs typeface="NanumSquare"/>
              </a:rPr>
              <a:t>PROJECT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7F619946-5B53-4F3F-958B-A29E22F51F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38200"/>
            <a:ext cx="103632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2850" b="1">
                <a:solidFill>
                  <a:srgbClr val="1D1D1F"/>
                </a:solidFill>
                <a:latin typeface="NanumSquare"/>
                <a:ea typeface="NanumSquare"/>
                <a:cs typeface="NanumSquare"/>
              </a:defRPr>
            </a:pPr>
            <a:r>
              <a:rPr sz="2850" b="1">
                <a:solidFill>
                  <a:srgbClr val="1D1D1F"/>
                </a:solidFill>
                <a:latin typeface="NanumSquare"/>
                <a:ea typeface="NanumSquare"/>
                <a:cs typeface="NanumSquare"/>
              </a:rPr>
              <a:t>실무형 프로젝트 구조에서 배울 점</a:t>
            </a:r>
          </a:p>
        </p:txBody>
      </p:sp>
      <p:sp>
        <p:nvSpPr>
          <p:cNvPr id="3" name="subtitle">
            <a:extLst xmlns:a="http://schemas.openxmlformats.org/drawingml/2006/main">
              <a:ext uri="{FF2B5EF4-FFF2-40B4-BE49-F238E27FC236}">
                <a16:creationId xmlns:a16="http://schemas.microsoft.com/office/drawing/2014/main" id="{B1D4A7C8-24BF-4BB1-86FF-64E5040B16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47850"/>
            <a:ext cx="103632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22000"/>
              </a:lnSpc>
              <a:buNone/>
              <a:defRPr sz="1575" b="0">
                <a:solidFill>
                  <a:srgbClr val="667085"/>
                </a:solidFill>
                <a:latin typeface="NanumSquare"/>
                <a:ea typeface="NanumSquare"/>
                <a:cs typeface="NanumSquare"/>
              </a:defRPr>
            </a:pPr>
            <a:r>
              <a:rPr sz="1575" b="0">
                <a:solidFill>
                  <a:srgbClr val="667085"/>
                </a:solidFill>
                <a:latin typeface="NanumSquare"/>
                <a:ea typeface="NanumSquare"/>
                <a:cs typeface="NanumSquare"/>
              </a:rPr>
              <a:t>프로젝트는 기술 과시가 아니라 문제, 데이터, 기능, 지표, 산출물이 이어지는 구조여야 합니다.</a:t>
            </a:r>
          </a:p>
        </p:txBody>
      </p:sp>
      <p:sp>
        <p:nvSpPr>
          <p:cNvPr id="4" name="benchmark-panel">
            <a:extLst xmlns:a="http://schemas.openxmlformats.org/drawingml/2006/main">
              <a:ext uri="{FF2B5EF4-FFF2-40B4-BE49-F238E27FC236}">
                <a16:creationId xmlns:a16="http://schemas.microsoft.com/office/drawing/2014/main" id="{98B35DB3-7973-4D71-A914-AA9DC81DF3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667000"/>
            <a:ext cx="10401300" cy="2781300"/>
          </a:xfrm>
          <a:prstGeom xmlns:a="http://schemas.openxmlformats.org/drawingml/2006/main" prst="roundRect">
            <a:avLst>
              <a:gd name="adj" fmla="val 4110"/>
            </a:avLst>
          </a:prstGeom>
          <a:solidFill xmlns:a="http://schemas.openxmlformats.org/drawingml/2006/main">
            <a:srgbClr val="FAFAFC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FE067DA-EDBC-41A4-AC7B-3690254FFF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3028950"/>
            <a:ext cx="9620250" cy="1847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22000"/>
              </a:lnSpc>
              <a:buNone/>
              <a:defRPr sz="1500" b="0">
                <a:solidFill>
                  <a:srgbClr val="1D1D1F"/>
                </a:solidFill>
                <a:latin typeface="NanumSquare"/>
                <a:ea typeface="NanumSquare"/>
                <a:cs typeface="NanumSquare"/>
              </a:defRPr>
            </a:pPr>
            <a:r>
              <a:rPr sz="1500" b="0">
                <a:solidFill>
                  <a:srgbClr val="1D1D1F"/>
                </a:solidFill>
                <a:latin typeface="NanumSquare"/>
                <a:ea typeface="NanumSquare"/>
                <a:cs typeface="NanumSquare"/>
              </a:rPr>
              <a:t>• 주제: AI 쇼핑 발견 도우미 설계 및 구현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22000"/>
              </a:lnSpc>
              <a:buNone/>
              <a:defRPr sz="1500" b="0">
                <a:solidFill>
                  <a:srgbClr val="1D1D1F"/>
                </a:solidFill>
                <a:latin typeface="NanumSquare"/>
                <a:ea typeface="NanumSquare"/>
                <a:cs typeface="NanumSquare"/>
              </a:defRPr>
            </a:pPr>
            <a:r>
              <a:rPr sz="1500" b="0">
                <a:solidFill>
                  <a:srgbClr val="1D1D1F"/>
                </a:solidFill>
                <a:latin typeface="NanumSquare"/>
                <a:ea typeface="NanumSquare"/>
                <a:cs typeface="NanumSquare"/>
              </a:rPr>
              <a:t>• 핵심 기능: 구매 의도 기반 Top 3~5 추천, AI 추천 준비도 진단, 리뷰 기반 구매 불안 요약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22000"/>
              </a:lnSpc>
              <a:buNone/>
              <a:defRPr sz="1500" b="0">
                <a:solidFill>
                  <a:srgbClr val="1D1D1F"/>
                </a:solidFill>
                <a:latin typeface="NanumSquare"/>
                <a:ea typeface="NanumSquare"/>
                <a:cs typeface="NanumSquare"/>
              </a:defRPr>
            </a:pPr>
            <a:r>
              <a:rPr sz="1500" b="0">
                <a:solidFill>
                  <a:srgbClr val="1D1D1F"/>
                </a:solidFill>
                <a:latin typeface="NanumSquare"/>
                <a:ea typeface="NanumSquare"/>
                <a:cs typeface="NanumSquare"/>
              </a:rPr>
              <a:t>• 산출물: PRD, 배포 URL, 랜딩 페이지, 사용자 인터뷰, 인사이트 리포트, 최종 발표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22000"/>
              </a:lnSpc>
              <a:buNone/>
              <a:defRPr sz="1500" b="0">
                <a:solidFill>
                  <a:srgbClr val="1D1D1F"/>
                </a:solidFill>
                <a:latin typeface="NanumSquare"/>
                <a:ea typeface="NanumSquare"/>
                <a:cs typeface="NanumSquare"/>
              </a:defRPr>
            </a:pPr>
            <a:r>
              <a:rPr sz="1500" b="0">
                <a:solidFill>
                  <a:srgbClr val="1D1D1F"/>
                </a:solidFill>
                <a:latin typeface="NanumSquare"/>
                <a:ea typeface="NanumSquare"/>
                <a:cs typeface="NanumSquare"/>
              </a:rPr>
              <a:t>• 지표: 추천 클릭률, 저장률, 선택 확신도, 구매 의향 점수, 모의 장바구니 담기율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C511631-DFD6-434A-AD09-88D266FD35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5010150"/>
            <a:ext cx="952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350" b="1">
                <a:solidFill>
                  <a:srgbClr val="0A2342"/>
                </a:solidFill>
                <a:latin typeface="NanumSquare"/>
                <a:ea typeface="NanumSquare"/>
                <a:cs typeface="NanumSquare"/>
              </a:defRPr>
            </a:pPr>
            <a:r>
              <a:rPr sz="1350" b="1">
                <a:solidFill>
                  <a:srgbClr val="0A2342"/>
                </a:solidFill>
                <a:latin typeface="NanumSquare"/>
                <a:ea typeface="NanumSquare"/>
                <a:cs typeface="NanumSquare"/>
              </a:rPr>
              <a:t>이 구조를 AI Campus Prism 프로젝트에도 그대로 적용하면 포트폴리오가 ‘작품’이 아니라 ‘검증된 문제 해결 기록’이 됩니다.</a:t>
            </a:r>
          </a:p>
        </p:txBody>
      </p:sp>
      <p:sp>
        <p:nvSpPr>
          <p:cNvPr id="7" name="footer-left">
            <a:extLst xmlns:a="http://schemas.openxmlformats.org/drawingml/2006/main">
              <a:ext uri="{FF2B5EF4-FFF2-40B4-BE49-F238E27FC236}">
                <a16:creationId xmlns:a16="http://schemas.microsoft.com/office/drawing/2014/main" id="{8E4A22D3-72CF-49D6-9FCB-037A10B095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476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825" b="0">
                <a:solidFill>
                  <a:srgbClr val="667085"/>
                </a:solidFill>
                <a:latin typeface="NanumSquare"/>
                <a:ea typeface="NanumSquare"/>
                <a:cs typeface="NanumSquare"/>
              </a:defRPr>
            </a:pPr>
            <a:r>
              <a:rPr sz="825" b="0">
                <a:solidFill>
                  <a:srgbClr val="667085"/>
                </a:solidFill>
                <a:latin typeface="NanumSquare"/>
                <a:ea typeface="NanumSquare"/>
                <a:cs typeface="NanumSquare"/>
              </a:rPr>
              <a:t>Goorm 20260701 AI Campus Prism 사전 특강</a:t>
            </a:r>
          </a:p>
        </p:txBody>
      </p:sp>
      <p:sp>
        <p:nvSpPr>
          <p:cNvPr id="8" name="footer-page">
            <a:extLst xmlns:a="http://schemas.openxmlformats.org/drawingml/2006/main">
              <a:ext uri="{FF2B5EF4-FFF2-40B4-BE49-F238E27FC236}">
                <a16:creationId xmlns:a16="http://schemas.microsoft.com/office/drawing/2014/main" id="{9861DD42-B964-4104-A13F-B28433A3D0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6438900"/>
            <a:ext cx="400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lnSpc>
                <a:spcPct val="118000"/>
              </a:lnSpc>
              <a:buNone/>
              <a:defRPr sz="825" b="0">
                <a:solidFill>
                  <a:srgbClr val="667085"/>
                </a:solidFill>
                <a:latin typeface="NanumSquare"/>
                <a:ea typeface="NanumSquare"/>
                <a:cs typeface="NanumSquare"/>
              </a:defRPr>
            </a:pPr>
            <a:r>
              <a:rPr sz="825" b="0">
                <a:solidFill>
                  <a:srgbClr val="667085"/>
                </a:solidFill>
                <a:latin typeface="NanumSquare"/>
                <a:ea typeface="NanumSquare"/>
                <a:cs typeface="NanumSquare"/>
              </a:rPr>
              <a:t>18</a:t>
            </a:r>
          </a:p>
        </p:txBody>
      </p:sp>
    </p:spTree>
    <p:extLst>
      <p:ext uri="{BB962C8B-B14F-4D97-AF65-F5344CB8AC3E}">
        <p14:creationId xmlns:p14="http://schemas.microsoft.com/office/powerpoint/2010/main" val="1621622598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5F6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eyebrow">
            <a:extLst xmlns:a="http://schemas.openxmlformats.org/drawingml/2006/main">
              <a:ext uri="{FF2B5EF4-FFF2-40B4-BE49-F238E27FC236}">
                <a16:creationId xmlns:a16="http://schemas.microsoft.com/office/drawing/2014/main" id="{B1664E3B-4C65-4310-94D4-F244689C90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815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975" b="1">
                <a:solidFill>
                  <a:srgbClr val="667085"/>
                </a:solidFill>
                <a:latin typeface="NanumSquare"/>
                <a:ea typeface="NanumSquare"/>
                <a:cs typeface="NanumSquare"/>
              </a:defRPr>
            </a:pPr>
            <a:r>
              <a:rPr sz="975" b="1">
                <a:solidFill>
                  <a:srgbClr val="667085"/>
                </a:solidFill>
                <a:latin typeface="NanumSquare"/>
                <a:ea typeface="NanumSquare"/>
                <a:cs typeface="NanumSquare"/>
              </a:rPr>
              <a:t>WORKFLOW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E275F907-EDE2-48AC-95BD-70BEB5E518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38200"/>
            <a:ext cx="103632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2850" b="1">
                <a:solidFill>
                  <a:srgbClr val="1D1D1F"/>
                </a:solidFill>
                <a:latin typeface="NanumSquare"/>
                <a:ea typeface="NanumSquare"/>
                <a:cs typeface="NanumSquare"/>
              </a:defRPr>
            </a:pPr>
            <a:r>
              <a:rPr sz="2850" b="1">
                <a:solidFill>
                  <a:srgbClr val="1D1D1F"/>
                </a:solidFill>
                <a:latin typeface="NanumSquare"/>
                <a:ea typeface="NanumSquare"/>
                <a:cs typeface="NanumSquare"/>
              </a:rPr>
              <a:t>PRD에서 MVP까지: AI 빌더의 작업 흐름</a:t>
            </a:r>
          </a:p>
        </p:txBody>
      </p:sp>
      <p:sp>
        <p:nvSpPr>
          <p:cNvPr id="3" name="subtitle">
            <a:extLst xmlns:a="http://schemas.openxmlformats.org/drawingml/2006/main">
              <a:ext uri="{FF2B5EF4-FFF2-40B4-BE49-F238E27FC236}">
                <a16:creationId xmlns:a16="http://schemas.microsoft.com/office/drawing/2014/main" id="{135260C7-FB91-460D-808B-8133441072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47850"/>
            <a:ext cx="103632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22000"/>
              </a:lnSpc>
              <a:buNone/>
              <a:defRPr sz="1575" b="0">
                <a:solidFill>
                  <a:srgbClr val="667085"/>
                </a:solidFill>
                <a:latin typeface="NanumSquare"/>
                <a:ea typeface="NanumSquare"/>
                <a:cs typeface="NanumSquare"/>
              </a:defRPr>
            </a:pPr>
            <a:r>
              <a:rPr sz="1575" b="0">
                <a:solidFill>
                  <a:srgbClr val="667085"/>
                </a:solidFill>
                <a:latin typeface="NanumSquare"/>
                <a:ea typeface="NanumSquare"/>
                <a:cs typeface="NanumSquare"/>
              </a:rPr>
              <a:t>아이디어를 서비스로 바꾸는 사람은 생성형 AI를 ‘초안 공장’이 아니라 ‘검증 루프 가속기’로 씁니다.</a:t>
            </a:r>
          </a:p>
        </p:txBody>
      </p:sp>
      <p:sp>
        <p:nvSpPr>
          <p:cNvPr id="4" name="flow-track-bg">
            <a:extLst xmlns:a="http://schemas.openxmlformats.org/drawingml/2006/main">
              <a:ext uri="{FF2B5EF4-FFF2-40B4-BE49-F238E27FC236}">
                <a16:creationId xmlns:a16="http://schemas.microsoft.com/office/drawing/2014/main" id="{DDC48B81-7534-482A-ABAC-88FC3E8394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4324350"/>
            <a:ext cx="8382000" cy="381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FD7E4"/>
          </a:solidFill>
          <a:ln xmlns:a="http://schemas.openxmlformats.org/drawingml/2006/main" w="9525">
            <a:solidFill>
              <a:srgbClr val="CFD7E4"/>
            </a:solidFill>
            <a:prstDash val="solid"/>
          </a:ln>
        </p:spPr>
      </p:sp>
      <p:sp>
        <p:nvSpPr>
          <p:cNvPr id="5" name="flow-track-active">
            <a:extLst xmlns:a="http://schemas.openxmlformats.org/drawingml/2006/main">
              <a:ext uri="{FF2B5EF4-FFF2-40B4-BE49-F238E27FC236}">
                <a16:creationId xmlns:a16="http://schemas.microsoft.com/office/drawing/2014/main" id="{E5F387BA-77D0-4DB2-8FE8-1BEF8F8DAB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4324350"/>
            <a:ext cx="8382000" cy="381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A2342"/>
          </a:solidFill>
          <a:ln xmlns:a="http://schemas.openxmlformats.org/drawingml/2006/main" w="9525">
            <a:solidFill>
              <a:srgbClr val="0A2342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ABD6DB0-C9A4-46CA-8254-A3F4D1AF49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971800"/>
            <a:ext cx="1524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18000"/>
              </a:lnSpc>
              <a:buNone/>
              <a:defRPr sz="2100" b="1">
                <a:solidFill>
                  <a:srgbClr val="1D1D1F"/>
                </a:solidFill>
                <a:latin typeface="NanumSquare"/>
                <a:ea typeface="NanumSquare"/>
                <a:cs typeface="NanumSquare"/>
              </a:defRPr>
            </a:pPr>
            <a:r>
              <a:rPr sz="2100" b="1">
                <a:solidFill>
                  <a:srgbClr val="1D1D1F"/>
                </a:solidFill>
                <a:latin typeface="NanumSquare"/>
                <a:ea typeface="NanumSquare"/>
                <a:cs typeface="NanumSquare"/>
              </a:rPr>
              <a:t>PRD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67681E2-3745-4A7E-8196-A64A928908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448050"/>
            <a:ext cx="17526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20000"/>
              </a:lnSpc>
              <a:buNone/>
              <a:defRPr sz="1275" b="0">
                <a:solidFill>
                  <a:srgbClr val="667085"/>
                </a:solidFill>
                <a:latin typeface="NanumSquare"/>
                <a:ea typeface="NanumSquare"/>
                <a:cs typeface="NanumSquare"/>
              </a:defRPr>
            </a:pPr>
            <a:r>
              <a:rPr sz="1275" b="0">
                <a:solidFill>
                  <a:srgbClr val="667085"/>
                </a:solidFill>
                <a:latin typeface="NanumSquare"/>
                <a:ea typeface="NanumSquare"/>
                <a:cs typeface="NanumSquare"/>
              </a:rPr>
              <a:t>문제·사용자·성공 지표</a:t>
            </a:r>
          </a:p>
        </p:txBody>
      </p:sp>
      <p:sp>
        <p:nvSpPr>
          <p:cNvPr id="8" name="dot-halo-0">
            <a:extLst xmlns:a="http://schemas.openxmlformats.org/drawingml/2006/main">
              <a:ext uri="{FF2B5EF4-FFF2-40B4-BE49-F238E27FC236}">
                <a16:creationId xmlns:a16="http://schemas.microsoft.com/office/drawing/2014/main" id="{AE78750A-A598-4868-BAEA-9D9DD41B44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4475" y="4162425"/>
            <a:ext cx="361950" cy="3619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7C2D0"/>
            </a:solidFill>
            <a:prstDash val="solid"/>
          </a:ln>
        </p:spPr>
      </p:sp>
      <p:sp>
        <p:nvSpPr>
          <p:cNvPr id="9" name="dot-0">
            <a:extLst xmlns:a="http://schemas.openxmlformats.org/drawingml/2006/main">
              <a:ext uri="{FF2B5EF4-FFF2-40B4-BE49-F238E27FC236}">
                <a16:creationId xmlns:a16="http://schemas.microsoft.com/office/drawing/2014/main" id="{86F57347-8F7E-4608-9C06-743CD0FC0C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4248150"/>
            <a:ext cx="190500" cy="1905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A2342"/>
          </a:solidFill>
          <a:ln xmlns:a="http://schemas.openxmlformats.org/drawingml/2006/main" w="9525">
            <a:solidFill>
              <a:srgbClr val="0A2342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F7D55F0-876B-48DC-9A93-E8492CFB6A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4475" y="4629150"/>
            <a:ext cx="3619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ct val="118000"/>
              </a:lnSpc>
              <a:buNone/>
              <a:defRPr sz="900" b="1">
                <a:solidFill>
                  <a:srgbClr val="0A2342"/>
                </a:solidFill>
                <a:latin typeface="NanumSquare"/>
                <a:ea typeface="NanumSquare"/>
                <a:cs typeface="NanumSquare"/>
              </a:defRPr>
            </a:pPr>
            <a:r>
              <a:rPr sz="900" b="1">
                <a:solidFill>
                  <a:srgbClr val="0A2342"/>
                </a:solidFill>
                <a:latin typeface="NanumSquare"/>
                <a:ea typeface="NanumSquare"/>
                <a:cs typeface="NanumSquare"/>
              </a:rPr>
              <a:t>1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FFCA0DF-D418-4366-904E-6D5FB6395C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2971800"/>
            <a:ext cx="1524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18000"/>
              </a:lnSpc>
              <a:buNone/>
              <a:defRPr sz="2100" b="1">
                <a:solidFill>
                  <a:srgbClr val="1D1D1F"/>
                </a:solidFill>
                <a:latin typeface="NanumSquare"/>
                <a:ea typeface="NanumSquare"/>
                <a:cs typeface="NanumSquare"/>
              </a:defRPr>
            </a:pPr>
            <a:r>
              <a:rPr sz="2100" b="1">
                <a:solidFill>
                  <a:srgbClr val="1D1D1F"/>
                </a:solidFill>
                <a:latin typeface="NanumSquare"/>
                <a:ea typeface="NanumSquare"/>
                <a:cs typeface="NanumSquare"/>
              </a:rPr>
              <a:t>Prototype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D4A87E5-6972-4EC2-B0E8-57FA15830B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3448050"/>
            <a:ext cx="17526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20000"/>
              </a:lnSpc>
              <a:buNone/>
              <a:defRPr sz="1275" b="0">
                <a:solidFill>
                  <a:srgbClr val="667085"/>
                </a:solidFill>
                <a:latin typeface="NanumSquare"/>
                <a:ea typeface="NanumSquare"/>
                <a:cs typeface="NanumSquare"/>
              </a:defRPr>
            </a:pPr>
            <a:r>
              <a:rPr sz="1275" b="0">
                <a:solidFill>
                  <a:srgbClr val="667085"/>
                </a:solidFill>
                <a:latin typeface="NanumSquare"/>
                <a:ea typeface="NanumSquare"/>
                <a:cs typeface="NanumSquare"/>
              </a:rPr>
              <a:t>Figma·사용성 테스트</a:t>
            </a:r>
          </a:p>
        </p:txBody>
      </p:sp>
      <p:sp>
        <p:nvSpPr>
          <p:cNvPr id="13" name="dot-halo-1">
            <a:extLst xmlns:a="http://schemas.openxmlformats.org/drawingml/2006/main">
              <a:ext uri="{FF2B5EF4-FFF2-40B4-BE49-F238E27FC236}">
                <a16:creationId xmlns:a16="http://schemas.microsoft.com/office/drawing/2014/main" id="{89B858F6-C07B-4820-A640-B952ED1DEF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9975" y="4162425"/>
            <a:ext cx="361950" cy="3619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7C2D0"/>
            </a:solidFill>
            <a:prstDash val="solid"/>
          </a:ln>
        </p:spPr>
      </p:sp>
      <p:sp>
        <p:nvSpPr>
          <p:cNvPr id="14" name="dot-1">
            <a:extLst xmlns:a="http://schemas.openxmlformats.org/drawingml/2006/main">
              <a:ext uri="{FF2B5EF4-FFF2-40B4-BE49-F238E27FC236}">
                <a16:creationId xmlns:a16="http://schemas.microsoft.com/office/drawing/2014/main" id="{674F5FF6-BE3E-4563-B9C4-C69CEB7BA3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5700" y="4248150"/>
            <a:ext cx="190500" cy="1905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A2342"/>
          </a:solidFill>
          <a:ln xmlns:a="http://schemas.openxmlformats.org/drawingml/2006/main" w="9525">
            <a:solidFill>
              <a:srgbClr val="0A2342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D53AE33-8BC3-458F-AB8B-BF0640D6A4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9975" y="4629150"/>
            <a:ext cx="3619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ct val="118000"/>
              </a:lnSpc>
              <a:buNone/>
              <a:defRPr sz="900" b="1">
                <a:solidFill>
                  <a:srgbClr val="0A2342"/>
                </a:solidFill>
                <a:latin typeface="NanumSquare"/>
                <a:ea typeface="NanumSquare"/>
                <a:cs typeface="NanumSquare"/>
              </a:defRPr>
            </a:pPr>
            <a:r>
              <a:rPr sz="900" b="1">
                <a:solidFill>
                  <a:srgbClr val="0A2342"/>
                </a:solidFill>
                <a:latin typeface="NanumSquare"/>
                <a:ea typeface="NanumSquare"/>
                <a:cs typeface="NanumSquare"/>
              </a:rPr>
              <a:t>2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6B51C10-4C86-472A-BC9C-398E5AD757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4450" y="2971800"/>
            <a:ext cx="1524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18000"/>
              </a:lnSpc>
              <a:buNone/>
              <a:defRPr sz="2100" b="1">
                <a:solidFill>
                  <a:srgbClr val="1D1D1F"/>
                </a:solidFill>
                <a:latin typeface="NanumSquare"/>
                <a:ea typeface="NanumSquare"/>
                <a:cs typeface="NanumSquare"/>
              </a:defRPr>
            </a:pPr>
            <a:r>
              <a:rPr sz="2100" b="1">
                <a:solidFill>
                  <a:srgbClr val="1D1D1F"/>
                </a:solidFill>
                <a:latin typeface="NanumSquare"/>
                <a:ea typeface="NanumSquare"/>
                <a:cs typeface="NanumSquare"/>
              </a:rPr>
              <a:t>API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96965C3-B2BD-4884-8072-5398F1BEE8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150" y="3448050"/>
            <a:ext cx="17526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20000"/>
              </a:lnSpc>
              <a:buNone/>
              <a:defRPr sz="1275" b="0">
                <a:solidFill>
                  <a:srgbClr val="667085"/>
                </a:solidFill>
                <a:latin typeface="NanumSquare"/>
                <a:ea typeface="NanumSquare"/>
                <a:cs typeface="NanumSquare"/>
              </a:defRPr>
            </a:pPr>
            <a:r>
              <a:rPr sz="1275" b="0">
                <a:solidFill>
                  <a:srgbClr val="667085"/>
                </a:solidFill>
                <a:latin typeface="NanumSquare"/>
                <a:ea typeface="NanumSquare"/>
                <a:cs typeface="NanumSquare"/>
              </a:rPr>
              <a:t>FastAPI·Postman·인증</a:t>
            </a:r>
          </a:p>
        </p:txBody>
      </p:sp>
      <p:sp>
        <p:nvSpPr>
          <p:cNvPr id="18" name="dot-halo-2">
            <a:extLst xmlns:a="http://schemas.openxmlformats.org/drawingml/2006/main">
              <a:ext uri="{FF2B5EF4-FFF2-40B4-BE49-F238E27FC236}">
                <a16:creationId xmlns:a16="http://schemas.microsoft.com/office/drawing/2014/main" id="{FFAAC3C1-C755-47AB-94A4-BE570F6E12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05475" y="4162425"/>
            <a:ext cx="361950" cy="3619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7C2D0"/>
            </a:solidFill>
            <a:prstDash val="solid"/>
          </a:ln>
        </p:spPr>
      </p:sp>
      <p:sp>
        <p:nvSpPr>
          <p:cNvPr id="19" name="dot-2">
            <a:extLst xmlns:a="http://schemas.openxmlformats.org/drawingml/2006/main">
              <a:ext uri="{FF2B5EF4-FFF2-40B4-BE49-F238E27FC236}">
                <a16:creationId xmlns:a16="http://schemas.microsoft.com/office/drawing/2014/main" id="{848F1D54-161F-4529-A772-F335B5D38D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4248150"/>
            <a:ext cx="190500" cy="1905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A2342"/>
          </a:solidFill>
          <a:ln xmlns:a="http://schemas.openxmlformats.org/drawingml/2006/main" w="9525">
            <a:solidFill>
              <a:srgbClr val="0A2342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AB0B453-2239-4F60-AB57-A4469BD833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05475" y="4629150"/>
            <a:ext cx="3619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ct val="118000"/>
              </a:lnSpc>
              <a:buNone/>
              <a:defRPr sz="900" b="1">
                <a:solidFill>
                  <a:srgbClr val="0A2342"/>
                </a:solidFill>
                <a:latin typeface="NanumSquare"/>
                <a:ea typeface="NanumSquare"/>
                <a:cs typeface="NanumSquare"/>
              </a:defRPr>
            </a:pPr>
            <a:r>
              <a:rPr sz="900" b="1">
                <a:solidFill>
                  <a:srgbClr val="0A2342"/>
                </a:solidFill>
                <a:latin typeface="NanumSquare"/>
                <a:ea typeface="NanumSquare"/>
                <a:cs typeface="NanumSquare"/>
              </a:rPr>
              <a:t>3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361CA8C-8703-48AA-9CA8-375FFE4DF7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2971800"/>
            <a:ext cx="1524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18000"/>
              </a:lnSpc>
              <a:buNone/>
              <a:defRPr sz="2100" b="1">
                <a:solidFill>
                  <a:srgbClr val="1D1D1F"/>
                </a:solidFill>
                <a:latin typeface="NanumSquare"/>
                <a:ea typeface="NanumSquare"/>
                <a:cs typeface="NanumSquare"/>
              </a:defRPr>
            </a:pPr>
            <a:r>
              <a:rPr sz="2100" b="1">
                <a:solidFill>
                  <a:srgbClr val="1D1D1F"/>
                </a:solidFill>
                <a:latin typeface="NanumSquare"/>
                <a:ea typeface="NanumSquare"/>
                <a:cs typeface="NanumSquare"/>
              </a:rPr>
              <a:t>AI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678064B-ADA1-47DC-B43F-BCF446F9C9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3448050"/>
            <a:ext cx="17526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20000"/>
              </a:lnSpc>
              <a:buNone/>
              <a:defRPr sz="1275" b="0">
                <a:solidFill>
                  <a:srgbClr val="667085"/>
                </a:solidFill>
                <a:latin typeface="NanumSquare"/>
                <a:ea typeface="NanumSquare"/>
                <a:cs typeface="NanumSquare"/>
              </a:defRPr>
            </a:pPr>
            <a:r>
              <a:rPr sz="1275" b="0">
                <a:solidFill>
                  <a:srgbClr val="667085"/>
                </a:solidFill>
                <a:latin typeface="NanumSquare"/>
                <a:ea typeface="NanumSquare"/>
                <a:cs typeface="NanumSquare"/>
              </a:rPr>
              <a:t>RAG·Tool Use·평가셋</a:t>
            </a:r>
          </a:p>
        </p:txBody>
      </p:sp>
      <p:sp>
        <p:nvSpPr>
          <p:cNvPr id="23" name="dot-halo-3">
            <a:extLst xmlns:a="http://schemas.openxmlformats.org/drawingml/2006/main">
              <a:ext uri="{FF2B5EF4-FFF2-40B4-BE49-F238E27FC236}">
                <a16:creationId xmlns:a16="http://schemas.microsoft.com/office/drawing/2014/main" id="{9A28135E-8A73-42E3-B7FA-68037AC32E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00975" y="4162425"/>
            <a:ext cx="361950" cy="3619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7C2D0"/>
            </a:solidFill>
            <a:prstDash val="solid"/>
          </a:ln>
        </p:spPr>
      </p:sp>
      <p:sp>
        <p:nvSpPr>
          <p:cNvPr id="24" name="dot-3">
            <a:extLst xmlns:a="http://schemas.openxmlformats.org/drawingml/2006/main">
              <a:ext uri="{FF2B5EF4-FFF2-40B4-BE49-F238E27FC236}">
                <a16:creationId xmlns:a16="http://schemas.microsoft.com/office/drawing/2014/main" id="{0D12AB61-C96F-4FDB-8DEB-02D7BABF85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4248150"/>
            <a:ext cx="190500" cy="1905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A2342"/>
          </a:solidFill>
          <a:ln xmlns:a="http://schemas.openxmlformats.org/drawingml/2006/main" w="9525">
            <a:solidFill>
              <a:srgbClr val="0A2342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464C26C-E82C-4DFA-8778-298255BFBD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00975" y="4629150"/>
            <a:ext cx="3619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ct val="118000"/>
              </a:lnSpc>
              <a:buNone/>
              <a:defRPr sz="900" b="1">
                <a:solidFill>
                  <a:srgbClr val="0A2342"/>
                </a:solidFill>
                <a:latin typeface="NanumSquare"/>
                <a:ea typeface="NanumSquare"/>
                <a:cs typeface="NanumSquare"/>
              </a:defRPr>
            </a:pPr>
            <a:r>
              <a:rPr sz="900" b="1">
                <a:solidFill>
                  <a:srgbClr val="0A2342"/>
                </a:solidFill>
                <a:latin typeface="NanumSquare"/>
                <a:ea typeface="NanumSquare"/>
                <a:cs typeface="NanumSquare"/>
              </a:rPr>
              <a:t>4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5D66CE5-7EEB-45C6-ADFC-6028D629A3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2971800"/>
            <a:ext cx="1524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18000"/>
              </a:lnSpc>
              <a:buNone/>
              <a:defRPr sz="2100" b="1">
                <a:solidFill>
                  <a:srgbClr val="1D1D1F"/>
                </a:solidFill>
                <a:latin typeface="NanumSquare"/>
                <a:ea typeface="NanumSquare"/>
                <a:cs typeface="NanumSquare"/>
              </a:defRPr>
            </a:pPr>
            <a:r>
              <a:rPr sz="2100" b="1">
                <a:solidFill>
                  <a:srgbClr val="1D1D1F"/>
                </a:solidFill>
                <a:latin typeface="NanumSquare"/>
                <a:ea typeface="NanumSquare"/>
                <a:cs typeface="NanumSquare"/>
              </a:rPr>
              <a:t>Ship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32091DD-02D2-44E1-ADB6-0008CC4D05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3448050"/>
            <a:ext cx="17526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20000"/>
              </a:lnSpc>
              <a:buNone/>
              <a:defRPr sz="1275" b="0">
                <a:solidFill>
                  <a:srgbClr val="667085"/>
                </a:solidFill>
                <a:latin typeface="NanumSquare"/>
                <a:ea typeface="NanumSquare"/>
                <a:cs typeface="NanumSquare"/>
              </a:defRPr>
            </a:pPr>
            <a:r>
              <a:rPr sz="1275" b="0">
                <a:solidFill>
                  <a:srgbClr val="667085"/>
                </a:solidFill>
                <a:latin typeface="NanumSquare"/>
                <a:ea typeface="NanumSquare"/>
                <a:cs typeface="NanumSquare"/>
              </a:rPr>
              <a:t>CI/CD·로그·운영 리포트</a:t>
            </a:r>
          </a:p>
        </p:txBody>
      </p:sp>
      <p:sp>
        <p:nvSpPr>
          <p:cNvPr id="28" name="dot-halo-4">
            <a:extLst xmlns:a="http://schemas.openxmlformats.org/drawingml/2006/main">
              <a:ext uri="{FF2B5EF4-FFF2-40B4-BE49-F238E27FC236}">
                <a16:creationId xmlns:a16="http://schemas.microsoft.com/office/drawing/2014/main" id="{995428D9-347F-48B1-9E76-89BFC61898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96475" y="4162425"/>
            <a:ext cx="361950" cy="3619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7C2D0"/>
            </a:solidFill>
            <a:prstDash val="solid"/>
          </a:ln>
        </p:spPr>
      </p:sp>
      <p:sp>
        <p:nvSpPr>
          <p:cNvPr id="29" name="dot-4">
            <a:extLst xmlns:a="http://schemas.openxmlformats.org/drawingml/2006/main">
              <a:ext uri="{FF2B5EF4-FFF2-40B4-BE49-F238E27FC236}">
                <a16:creationId xmlns:a16="http://schemas.microsoft.com/office/drawing/2014/main" id="{E2ADB039-689E-4F4E-9220-E29E731E94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82200" y="4248150"/>
            <a:ext cx="190500" cy="1905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A2342"/>
          </a:solidFill>
          <a:ln xmlns:a="http://schemas.openxmlformats.org/drawingml/2006/main" w="9525">
            <a:solidFill>
              <a:srgbClr val="0A2342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700606C8-3D4F-48E3-894F-FC73BBD2EE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96475" y="4629150"/>
            <a:ext cx="3619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ct val="118000"/>
              </a:lnSpc>
              <a:buNone/>
              <a:defRPr sz="900" b="1">
                <a:solidFill>
                  <a:srgbClr val="0A2342"/>
                </a:solidFill>
                <a:latin typeface="NanumSquare"/>
                <a:ea typeface="NanumSquare"/>
                <a:cs typeface="NanumSquare"/>
              </a:defRPr>
            </a:pPr>
            <a:r>
              <a:rPr sz="900" b="1">
                <a:solidFill>
                  <a:srgbClr val="0A2342"/>
                </a:solidFill>
                <a:latin typeface="NanumSquare"/>
                <a:ea typeface="NanumSquare"/>
                <a:cs typeface="NanumSquare"/>
              </a:rPr>
              <a:t>5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86E740A3-51BE-4591-8A8C-C0674E7157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5238750"/>
            <a:ext cx="9239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18000"/>
              </a:lnSpc>
              <a:buNone/>
              <a:defRPr sz="1575" b="0">
                <a:solidFill>
                  <a:srgbClr val="1D1D1F"/>
                </a:solidFill>
                <a:latin typeface="NanumSquare"/>
                <a:ea typeface="NanumSquare"/>
                <a:cs typeface="NanumSquare"/>
              </a:defRPr>
            </a:pPr>
            <a:r>
              <a:rPr sz="1575" b="0">
                <a:solidFill>
                  <a:srgbClr val="1D1D1F"/>
                </a:solidFill>
                <a:latin typeface="NanumSquare"/>
                <a:ea typeface="NanumSquare"/>
                <a:cs typeface="NanumSquare"/>
              </a:rPr>
              <a:t>핵심은 ‘만들었다’보다 ‘왜 이 기능이 맞는지, 어떻게 측정했는지, 어디까지 안전한지’를 설명하는 능력입니다.</a:t>
            </a:r>
          </a:p>
        </p:txBody>
      </p:sp>
      <p:sp>
        <p:nvSpPr>
          <p:cNvPr id="32" name="footer-left">
            <a:extLst xmlns:a="http://schemas.openxmlformats.org/drawingml/2006/main">
              <a:ext uri="{FF2B5EF4-FFF2-40B4-BE49-F238E27FC236}">
                <a16:creationId xmlns:a16="http://schemas.microsoft.com/office/drawing/2014/main" id="{57F608A4-6B72-4454-98C7-DD16C91FF3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476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825" b="0">
                <a:solidFill>
                  <a:srgbClr val="667085"/>
                </a:solidFill>
                <a:latin typeface="NanumSquare"/>
                <a:ea typeface="NanumSquare"/>
                <a:cs typeface="NanumSquare"/>
              </a:defRPr>
            </a:pPr>
            <a:r>
              <a:rPr sz="825" b="0">
                <a:solidFill>
                  <a:srgbClr val="667085"/>
                </a:solidFill>
                <a:latin typeface="NanumSquare"/>
                <a:ea typeface="NanumSquare"/>
                <a:cs typeface="NanumSquare"/>
              </a:rPr>
              <a:t>Goorm 20260701 AI Campus Prism 사전 특강</a:t>
            </a:r>
          </a:p>
        </p:txBody>
      </p:sp>
      <p:sp>
        <p:nvSpPr>
          <p:cNvPr id="33" name="footer-page">
            <a:extLst xmlns:a="http://schemas.openxmlformats.org/drawingml/2006/main">
              <a:ext uri="{FF2B5EF4-FFF2-40B4-BE49-F238E27FC236}">
                <a16:creationId xmlns:a16="http://schemas.microsoft.com/office/drawing/2014/main" id="{E1B6DC42-176B-4A9A-AB97-BCEFB3C6CA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6438900"/>
            <a:ext cx="400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lnSpc>
                <a:spcPct val="118000"/>
              </a:lnSpc>
              <a:buNone/>
              <a:defRPr sz="825" b="0">
                <a:solidFill>
                  <a:srgbClr val="667085"/>
                </a:solidFill>
                <a:latin typeface="NanumSquare"/>
                <a:ea typeface="NanumSquare"/>
                <a:cs typeface="NanumSquare"/>
              </a:defRPr>
            </a:pPr>
            <a:r>
              <a:rPr sz="825" b="0">
                <a:solidFill>
                  <a:srgbClr val="667085"/>
                </a:solidFill>
                <a:latin typeface="NanumSquare"/>
                <a:ea typeface="NanumSquare"/>
                <a:cs typeface="NanumSquare"/>
              </a:rPr>
              <a:t>19</a:t>
            </a:r>
          </a:p>
        </p:txBody>
      </p:sp>
    </p:spTree>
    <p:extLst>
      <p:ext uri="{BB962C8B-B14F-4D97-AF65-F5344CB8AC3E}">
        <p14:creationId xmlns:p14="http://schemas.microsoft.com/office/powerpoint/2010/main" val="1471958290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eyebrow">
            <a:extLst xmlns:a="http://schemas.openxmlformats.org/drawingml/2006/main">
              <a:ext uri="{FF2B5EF4-FFF2-40B4-BE49-F238E27FC236}">
                <a16:creationId xmlns:a16="http://schemas.microsoft.com/office/drawing/2014/main" id="{E6F9F6E3-2FE4-4901-B713-2C31D61D66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815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975" b="1">
                <a:solidFill>
                  <a:srgbClr val="667085"/>
                </a:solidFill>
                <a:latin typeface="NanumSquare"/>
                <a:ea typeface="NanumSquare"/>
                <a:cs typeface="NanumSquare"/>
              </a:defRPr>
            </a:pPr>
            <a:r>
              <a:rPr sz="975" b="1">
                <a:solidFill>
                  <a:srgbClr val="667085"/>
                </a:solidFill>
                <a:latin typeface="NanumSquare"/>
                <a:ea typeface="NanumSquare"/>
                <a:cs typeface="NanumSquare"/>
              </a:rPr>
              <a:t>METRICS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8C76A6D6-6AA5-4F08-80DE-22B1995AE1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38200"/>
            <a:ext cx="103632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2850" b="1">
                <a:solidFill>
                  <a:srgbClr val="1D1D1F"/>
                </a:solidFill>
                <a:latin typeface="NanumSquare"/>
                <a:ea typeface="NanumSquare"/>
                <a:cs typeface="NanumSquare"/>
              </a:defRPr>
            </a:pPr>
            <a:r>
              <a:rPr sz="2850" b="1">
                <a:solidFill>
                  <a:srgbClr val="1D1D1F"/>
                </a:solidFill>
                <a:latin typeface="NanumSquare"/>
                <a:ea typeface="NanumSquare"/>
                <a:cs typeface="NanumSquare"/>
              </a:rPr>
              <a:t>AI 프로젝트의 좋은 지표</a:t>
            </a:r>
          </a:p>
        </p:txBody>
      </p:sp>
      <p:sp>
        <p:nvSpPr>
          <p:cNvPr id="3" name="subtitle">
            <a:extLst xmlns:a="http://schemas.openxmlformats.org/drawingml/2006/main">
              <a:ext uri="{FF2B5EF4-FFF2-40B4-BE49-F238E27FC236}">
                <a16:creationId xmlns:a16="http://schemas.microsoft.com/office/drawing/2014/main" id="{C4E19293-81FF-448C-A51A-4056EBEDAF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47850"/>
            <a:ext cx="103632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22000"/>
              </a:lnSpc>
              <a:buNone/>
              <a:defRPr sz="1575" b="0">
                <a:solidFill>
                  <a:srgbClr val="667085"/>
                </a:solidFill>
                <a:latin typeface="NanumSquare"/>
                <a:ea typeface="NanumSquare"/>
                <a:cs typeface="NanumSquare"/>
              </a:defRPr>
            </a:pPr>
            <a:r>
              <a:rPr sz="1575" b="0">
                <a:solidFill>
                  <a:srgbClr val="667085"/>
                </a:solidFill>
                <a:latin typeface="NanumSquare"/>
                <a:ea typeface="NanumSquare"/>
                <a:cs typeface="NanumSquare"/>
              </a:rPr>
              <a:t>AI 제품은 정답률만으로 판단하지 않습니다. 사용자의 판단 비용과 운영 리스크가 함께 줄어야 합니다.</a:t>
            </a:r>
          </a:p>
        </p:txBody>
      </p:sp>
      <p:sp>
        <p:nvSpPr>
          <p:cNvPr id="4" name="card-1">
            <a:extLst xmlns:a="http://schemas.openxmlformats.org/drawingml/2006/main">
              <a:ext uri="{FF2B5EF4-FFF2-40B4-BE49-F238E27FC236}">
                <a16:creationId xmlns:a16="http://schemas.microsoft.com/office/drawing/2014/main" id="{2D054BCD-737C-4FBA-BDEB-CED1F22ABE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0"/>
            <a:ext cx="3333750" cy="2362200"/>
          </a:xfrm>
          <a:prstGeom xmlns:a="http://schemas.openxmlformats.org/drawingml/2006/main" prst="roundRect">
            <a:avLst>
              <a:gd name="adj" fmla="val 483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6FA4036-0A65-41FE-8AD2-FBDA76AB06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086100"/>
            <a:ext cx="2876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200" b="1">
                <a:solidFill>
                  <a:srgbClr val="0A2342"/>
                </a:solidFill>
                <a:latin typeface="NanumSquare"/>
                <a:ea typeface="NanumSquare"/>
                <a:cs typeface="NanumSquare"/>
              </a:defRPr>
            </a:pPr>
            <a:r>
              <a:rPr sz="1200" b="1">
                <a:solidFill>
                  <a:srgbClr val="0A2342"/>
                </a:solidFill>
                <a:latin typeface="NanumSquare"/>
                <a:ea typeface="NanumSquare"/>
                <a:cs typeface="NanumSquare"/>
              </a:rPr>
              <a:t>USER VALUE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A8EA064-9B4C-40BE-B969-040A2A2C8D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486150"/>
            <a:ext cx="28765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1D1D1F"/>
                </a:solidFill>
                <a:latin typeface="NanumSquare"/>
                <a:ea typeface="NanumSquare"/>
                <a:cs typeface="NanumSquare"/>
              </a:defRPr>
            </a:pPr>
            <a:r>
              <a:rPr sz="1800" b="1">
                <a:solidFill>
                  <a:srgbClr val="1D1D1F"/>
                </a:solidFill>
                <a:latin typeface="NanumSquare"/>
                <a:ea typeface="NanumSquare"/>
                <a:cs typeface="NanumSquare"/>
              </a:rPr>
              <a:t>판단 비용 감소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BF7C0C5-7103-4E3F-8808-DE83F0B540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229100"/>
            <a:ext cx="28765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275" b="0">
                <a:solidFill>
                  <a:srgbClr val="667085"/>
                </a:solidFill>
                <a:latin typeface="NanumSquare"/>
                <a:ea typeface="NanumSquare"/>
                <a:cs typeface="NanumSquare"/>
              </a:defRPr>
            </a:pPr>
            <a:r>
              <a:rPr sz="1275" b="0">
                <a:solidFill>
                  <a:srgbClr val="667085"/>
                </a:solidFill>
                <a:latin typeface="NanumSquare"/>
                <a:ea typeface="NanumSquare"/>
                <a:cs typeface="NanumSquare"/>
              </a:rPr>
              <a:t>탐색 시간, 추가 검색 필요성, 선택 확신도, 저장률, 재방문 의향</a:t>
            </a:r>
          </a:p>
        </p:txBody>
      </p:sp>
      <p:sp>
        <p:nvSpPr>
          <p:cNvPr id="8" name="card-2">
            <a:extLst xmlns:a="http://schemas.openxmlformats.org/drawingml/2006/main">
              <a:ext uri="{FF2B5EF4-FFF2-40B4-BE49-F238E27FC236}">
                <a16:creationId xmlns:a16="http://schemas.microsoft.com/office/drawing/2014/main" id="{01804B02-FC46-4F49-BCFE-A74B8B23B7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2857500"/>
            <a:ext cx="3333750" cy="2362200"/>
          </a:xfrm>
          <a:prstGeom xmlns:a="http://schemas.openxmlformats.org/drawingml/2006/main" prst="roundRect">
            <a:avLst>
              <a:gd name="adj" fmla="val 483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A9C1089-E7C8-4D2C-BE09-11CF6DE6E4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3086100"/>
            <a:ext cx="2876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200" b="1">
                <a:solidFill>
                  <a:srgbClr val="0A2342"/>
                </a:solidFill>
                <a:latin typeface="NanumSquare"/>
                <a:ea typeface="NanumSquare"/>
                <a:cs typeface="NanumSquare"/>
              </a:defRPr>
            </a:pPr>
            <a:r>
              <a:rPr sz="1200" b="1">
                <a:solidFill>
                  <a:srgbClr val="0A2342"/>
                </a:solidFill>
                <a:latin typeface="NanumSquare"/>
                <a:ea typeface="NanumSquare"/>
                <a:cs typeface="NanumSquare"/>
              </a:rPr>
              <a:t>MODEL QUALITY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D6904B1-C95E-4D96-B3CE-A98E980368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3486150"/>
            <a:ext cx="28765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1D1D1F"/>
                </a:solidFill>
                <a:latin typeface="NanumSquare"/>
                <a:ea typeface="NanumSquare"/>
                <a:cs typeface="NanumSquare"/>
              </a:defRPr>
            </a:pPr>
            <a:r>
              <a:rPr sz="1800" b="1">
                <a:solidFill>
                  <a:srgbClr val="1D1D1F"/>
                </a:solidFill>
                <a:latin typeface="NanumSquare"/>
                <a:ea typeface="NanumSquare"/>
                <a:cs typeface="NanumSquare"/>
              </a:rPr>
              <a:t>응답 품질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3D557A0-4D42-4607-AB35-D5195A98C4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4229100"/>
            <a:ext cx="28765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275" b="0">
                <a:solidFill>
                  <a:srgbClr val="667085"/>
                </a:solidFill>
                <a:latin typeface="NanumSquare"/>
                <a:ea typeface="NanumSquare"/>
                <a:cs typeface="NanumSquare"/>
              </a:defRPr>
            </a:pPr>
            <a:r>
              <a:rPr sz="1275" b="0">
                <a:solidFill>
                  <a:srgbClr val="667085"/>
                </a:solidFill>
                <a:latin typeface="NanumSquare"/>
                <a:ea typeface="NanumSquare"/>
                <a:cs typeface="NanumSquare"/>
              </a:rPr>
              <a:t>근거 일치, 관련성, 재질문율, 실패 케이스, 검색 품질 평가</a:t>
            </a:r>
          </a:p>
        </p:txBody>
      </p:sp>
      <p:sp>
        <p:nvSpPr>
          <p:cNvPr id="12" name="card-3">
            <a:extLst xmlns:a="http://schemas.openxmlformats.org/drawingml/2006/main">
              <a:ext uri="{FF2B5EF4-FFF2-40B4-BE49-F238E27FC236}">
                <a16:creationId xmlns:a16="http://schemas.microsoft.com/office/drawing/2014/main" id="{3E2ECF13-7ECD-407E-AFF0-857CD651A9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2857500"/>
            <a:ext cx="3333750" cy="2362200"/>
          </a:xfrm>
          <a:prstGeom xmlns:a="http://schemas.openxmlformats.org/drawingml/2006/main" prst="roundRect">
            <a:avLst>
              <a:gd name="adj" fmla="val 483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43C923F-67C8-4BAE-9842-C0030CD096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3086100"/>
            <a:ext cx="2876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200" b="1">
                <a:solidFill>
                  <a:srgbClr val="0A2342"/>
                </a:solidFill>
                <a:latin typeface="NanumSquare"/>
                <a:ea typeface="NanumSquare"/>
                <a:cs typeface="NanumSquare"/>
              </a:defRPr>
            </a:pPr>
            <a:r>
              <a:rPr sz="1200" b="1">
                <a:solidFill>
                  <a:srgbClr val="0A2342"/>
                </a:solidFill>
                <a:latin typeface="NanumSquare"/>
                <a:ea typeface="NanumSquare"/>
                <a:cs typeface="NanumSquare"/>
              </a:rPr>
              <a:t>OPERATION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E37E02E-D5EF-49B2-B2FD-687C044A66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3486150"/>
            <a:ext cx="28765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1D1D1F"/>
                </a:solidFill>
                <a:latin typeface="NanumSquare"/>
                <a:ea typeface="NanumSquare"/>
                <a:cs typeface="NanumSquare"/>
              </a:defRPr>
            </a:pPr>
            <a:r>
              <a:rPr sz="1800" b="1">
                <a:solidFill>
                  <a:srgbClr val="1D1D1F"/>
                </a:solidFill>
                <a:latin typeface="NanumSquare"/>
                <a:ea typeface="NanumSquare"/>
                <a:cs typeface="NanumSquare"/>
              </a:rPr>
              <a:t>운영 가능성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274990B-1C90-49F0-A2E4-940BCDFD38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4229100"/>
            <a:ext cx="28765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275" b="0">
                <a:solidFill>
                  <a:srgbClr val="667085"/>
                </a:solidFill>
                <a:latin typeface="NanumSquare"/>
                <a:ea typeface="NanumSquare"/>
                <a:cs typeface="NanumSquare"/>
              </a:defRPr>
            </a:pPr>
            <a:r>
              <a:rPr sz="1275" b="0">
                <a:solidFill>
                  <a:srgbClr val="667085"/>
                </a:solidFill>
                <a:latin typeface="NanumSquare"/>
                <a:ea typeface="NanumSquare"/>
                <a:cs typeface="NanumSquare"/>
              </a:rPr>
              <a:t>지연 시간, 비용, 오류율, SLO, 보안 차단율, 가드레일 위반율</a:t>
            </a:r>
          </a:p>
        </p:txBody>
      </p:sp>
      <p:sp>
        <p:nvSpPr>
          <p:cNvPr id="16" name="footer-left">
            <a:extLst xmlns:a="http://schemas.openxmlformats.org/drawingml/2006/main">
              <a:ext uri="{FF2B5EF4-FFF2-40B4-BE49-F238E27FC236}">
                <a16:creationId xmlns:a16="http://schemas.microsoft.com/office/drawing/2014/main" id="{ECEF7363-DA74-4F25-8FA5-20206E07E0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476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825" b="0">
                <a:solidFill>
                  <a:srgbClr val="667085"/>
                </a:solidFill>
                <a:latin typeface="NanumSquare"/>
                <a:ea typeface="NanumSquare"/>
                <a:cs typeface="NanumSquare"/>
              </a:defRPr>
            </a:pPr>
            <a:r>
              <a:rPr sz="825" b="0">
                <a:solidFill>
                  <a:srgbClr val="667085"/>
                </a:solidFill>
                <a:latin typeface="NanumSquare"/>
                <a:ea typeface="NanumSquare"/>
                <a:cs typeface="NanumSquare"/>
              </a:rPr>
              <a:t>Goorm 20260701 AI Campus Prism 사전 특강</a:t>
            </a:r>
          </a:p>
        </p:txBody>
      </p:sp>
      <p:sp>
        <p:nvSpPr>
          <p:cNvPr id="17" name="footer-page">
            <a:extLst xmlns:a="http://schemas.openxmlformats.org/drawingml/2006/main">
              <a:ext uri="{FF2B5EF4-FFF2-40B4-BE49-F238E27FC236}">
                <a16:creationId xmlns:a16="http://schemas.microsoft.com/office/drawing/2014/main" id="{93EE9F79-705B-44D6-B195-6B0A3350BE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6438900"/>
            <a:ext cx="400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lnSpc>
                <a:spcPct val="118000"/>
              </a:lnSpc>
              <a:buNone/>
              <a:defRPr sz="825" b="0">
                <a:solidFill>
                  <a:srgbClr val="667085"/>
                </a:solidFill>
                <a:latin typeface="NanumSquare"/>
                <a:ea typeface="NanumSquare"/>
                <a:cs typeface="NanumSquare"/>
              </a:defRPr>
            </a:pPr>
            <a:r>
              <a:rPr sz="825" b="0">
                <a:solidFill>
                  <a:srgbClr val="667085"/>
                </a:solidFill>
                <a:latin typeface="NanumSquare"/>
                <a:ea typeface="NanumSquare"/>
                <a:cs typeface="NanumSquare"/>
              </a:rPr>
              <a:t>20</a:t>
            </a:r>
          </a:p>
        </p:txBody>
      </p:sp>
    </p:spTree>
    <p:extLst>
      <p:ext uri="{BB962C8B-B14F-4D97-AF65-F5344CB8AC3E}">
        <p14:creationId xmlns:p14="http://schemas.microsoft.com/office/powerpoint/2010/main" val="945701918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F5F6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62198CC9-075B-43CF-9181-39EBD3998B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3340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975" b="1">
                <a:solidFill>
                  <a:srgbClr val="667085"/>
                </a:solidFill>
                <a:latin typeface="NanumSquare"/>
                <a:ea typeface="NanumSquare"/>
                <a:cs typeface="NanumSquare"/>
              </a:defRPr>
            </a:pPr>
            <a:r>
              <a:rPr sz="975" b="1">
                <a:solidFill>
                  <a:srgbClr val="667085"/>
                </a:solidFill>
                <a:latin typeface="NanumSquare"/>
                <a:ea typeface="NanumSquare"/>
                <a:cs typeface="NanumSquare"/>
              </a:rPr>
              <a:t>AI CAMPUS PRISM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A2557E1-B5E4-441D-9351-4E0F7071FF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19300"/>
            <a:ext cx="93345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3900" b="1">
                <a:solidFill>
                  <a:srgbClr val="1D1D1F"/>
                </a:solidFill>
                <a:latin typeface="NanumSquare"/>
                <a:ea typeface="NanumSquare"/>
                <a:cs typeface="NanumSquare"/>
              </a:defRPr>
            </a:pPr>
            <a:r>
              <a:rPr sz="3900" b="1">
                <a:solidFill>
                  <a:srgbClr val="1D1D1F"/>
                </a:solidFill>
                <a:latin typeface="NanumSquare"/>
                <a:ea typeface="NanumSquare"/>
                <a:cs typeface="NanumSquare"/>
              </a:rPr>
              <a:t>커리큘럼 키워드를 현업 언어로 바꿔보기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0CA786E-13F0-4426-A2D6-DD37F5DFA7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67100"/>
            <a:ext cx="8382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800" b="0">
                <a:solidFill>
                  <a:srgbClr val="667085"/>
                </a:solidFill>
                <a:latin typeface="NanumSquare"/>
                <a:ea typeface="NanumSquare"/>
                <a:cs typeface="NanumSquare"/>
              </a:defRPr>
            </a:pPr>
            <a:r>
              <a:rPr sz="1800" b="0">
                <a:solidFill>
                  <a:srgbClr val="667085"/>
                </a:solidFill>
                <a:latin typeface="NanumSquare"/>
                <a:ea typeface="NanumSquare"/>
                <a:cs typeface="NanumSquare"/>
              </a:rPr>
              <a:t>AI Campus Prism의 네 과정은 서로 다른 직무가 아니라 하나의 AI 서비스 운영 체인을 나눠 배웁니다.</a:t>
            </a:r>
          </a:p>
        </p:txBody>
      </p:sp>
      <p:sp>
        <p:nvSpPr>
          <p:cNvPr id="4" name="footer-left">
            <a:extLst xmlns:a="http://schemas.openxmlformats.org/drawingml/2006/main">
              <a:ext uri="{FF2B5EF4-FFF2-40B4-BE49-F238E27FC236}">
                <a16:creationId xmlns:a16="http://schemas.microsoft.com/office/drawing/2014/main" id="{09890BD5-91D9-4CC4-9B78-0327FA5536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476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825" b="0">
                <a:solidFill>
                  <a:srgbClr val="667085"/>
                </a:solidFill>
                <a:latin typeface="NanumSquare"/>
                <a:ea typeface="NanumSquare"/>
                <a:cs typeface="NanumSquare"/>
              </a:defRPr>
            </a:pPr>
            <a:r>
              <a:rPr sz="825" b="0">
                <a:solidFill>
                  <a:srgbClr val="667085"/>
                </a:solidFill>
                <a:latin typeface="NanumSquare"/>
                <a:ea typeface="NanumSquare"/>
                <a:cs typeface="NanumSquare"/>
              </a:rPr>
              <a:t>Goorm 20260701 AI Campus Prism 사전 특강</a:t>
            </a:r>
          </a:p>
        </p:txBody>
      </p:sp>
      <p:sp>
        <p:nvSpPr>
          <p:cNvPr id="5" name="footer-page">
            <a:extLst xmlns:a="http://schemas.openxmlformats.org/drawingml/2006/main">
              <a:ext uri="{FF2B5EF4-FFF2-40B4-BE49-F238E27FC236}">
                <a16:creationId xmlns:a16="http://schemas.microsoft.com/office/drawing/2014/main" id="{316A18AB-37AD-4291-9ED8-E5E007A414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6438900"/>
            <a:ext cx="400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lnSpc>
                <a:spcPct val="118000"/>
              </a:lnSpc>
              <a:buNone/>
              <a:defRPr sz="825" b="0">
                <a:solidFill>
                  <a:srgbClr val="667085"/>
                </a:solidFill>
                <a:latin typeface="NanumSquare"/>
                <a:ea typeface="NanumSquare"/>
                <a:cs typeface="NanumSquare"/>
              </a:defRPr>
            </a:pPr>
            <a:r>
              <a:rPr sz="825" b="0">
                <a:solidFill>
                  <a:srgbClr val="667085"/>
                </a:solidFill>
                <a:latin typeface="NanumSquare"/>
                <a:ea typeface="NanumSquare"/>
                <a:cs typeface="NanumSquare"/>
              </a:rPr>
              <a:t>21</a:t>
            </a:r>
          </a:p>
        </p:txBody>
      </p:sp>
    </p:spTree>
    <p:extLst>
      <p:ext uri="{BB962C8B-B14F-4D97-AF65-F5344CB8AC3E}">
        <p14:creationId xmlns:p14="http://schemas.microsoft.com/office/powerpoint/2010/main" val="1031683236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eyebrow">
            <a:extLst xmlns:a="http://schemas.openxmlformats.org/drawingml/2006/main">
              <a:ext uri="{FF2B5EF4-FFF2-40B4-BE49-F238E27FC236}">
                <a16:creationId xmlns:a16="http://schemas.microsoft.com/office/drawing/2014/main" id="{43FA2E50-819A-42F8-8374-C1998A12CC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815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975" b="1">
                <a:solidFill>
                  <a:srgbClr val="667085"/>
                </a:solidFill>
                <a:latin typeface="NanumSquare"/>
                <a:ea typeface="NanumSquare"/>
                <a:cs typeface="NanumSquare"/>
              </a:defRPr>
            </a:pPr>
            <a:r>
              <a:rPr sz="975" b="1">
                <a:solidFill>
                  <a:srgbClr val="667085"/>
                </a:solidFill>
                <a:latin typeface="NanumSquare"/>
                <a:ea typeface="NanumSquare"/>
                <a:cs typeface="NanumSquare"/>
              </a:rPr>
              <a:t>CURRICULUM OVERVIEW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92CEEA44-9F47-4430-9B18-A272C6FE9E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38200"/>
            <a:ext cx="103632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2850" b="1">
                <a:solidFill>
                  <a:srgbClr val="1D1D1F"/>
                </a:solidFill>
                <a:latin typeface="NanumSquare"/>
                <a:ea typeface="NanumSquare"/>
                <a:cs typeface="NanumSquare"/>
              </a:defRPr>
            </a:pPr>
            <a:r>
              <a:rPr sz="2850" b="1">
                <a:solidFill>
                  <a:srgbClr val="1D1D1F"/>
                </a:solidFill>
                <a:latin typeface="NanumSquare"/>
                <a:ea typeface="NanumSquare"/>
                <a:cs typeface="NanumSquare"/>
              </a:rPr>
              <a:t>4개 과정은 하나의 AI 서비스 조직입니다</a:t>
            </a:r>
          </a:p>
        </p:txBody>
      </p:sp>
      <p:sp>
        <p:nvSpPr>
          <p:cNvPr id="3" name="subtitle">
            <a:extLst xmlns:a="http://schemas.openxmlformats.org/drawingml/2006/main">
              <a:ext uri="{FF2B5EF4-FFF2-40B4-BE49-F238E27FC236}">
                <a16:creationId xmlns:a16="http://schemas.microsoft.com/office/drawing/2014/main" id="{FD5E167C-38A1-489A-8BEE-A3E7C5190D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47850"/>
            <a:ext cx="103632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22000"/>
              </a:lnSpc>
              <a:buNone/>
              <a:defRPr sz="1575" b="0">
                <a:solidFill>
                  <a:srgbClr val="667085"/>
                </a:solidFill>
                <a:latin typeface="NanumSquare"/>
                <a:ea typeface="NanumSquare"/>
                <a:cs typeface="NanumSquare"/>
              </a:defRPr>
            </a:pPr>
            <a:r>
              <a:rPr sz="1575" b="0">
                <a:solidFill>
                  <a:srgbClr val="667085"/>
                </a:solidFill>
                <a:latin typeface="NanumSquare"/>
                <a:ea typeface="NanumSquare"/>
                <a:cs typeface="NanumSquare"/>
              </a:rPr>
              <a:t>각 과정은 다른 출발점을 갖지만, 최종 프로젝트에서는 서로의 산출물이 연결됩니다.</a:t>
            </a:r>
          </a:p>
        </p:txBody>
      </p:sp>
      <p:sp>
        <p:nvSpPr>
          <p:cNvPr id="4" name="course-0">
            <a:extLst xmlns:a="http://schemas.openxmlformats.org/drawingml/2006/main">
              <a:ext uri="{FF2B5EF4-FFF2-40B4-BE49-F238E27FC236}">
                <a16:creationId xmlns:a16="http://schemas.microsoft.com/office/drawing/2014/main" id="{0B774F90-9EDC-44BD-9EFD-3F92D33B0D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590800"/>
            <a:ext cx="102108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FAFAFC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C968E2B-F7D9-445F-86E3-495E430FFE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2752725"/>
            <a:ext cx="342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425" b="1">
                <a:solidFill>
                  <a:srgbClr val="1D1D1F"/>
                </a:solidFill>
                <a:latin typeface="NanumSquare"/>
                <a:ea typeface="NanumSquare"/>
                <a:cs typeface="NanumSquare"/>
              </a:defRPr>
            </a:pPr>
            <a:r>
              <a:rPr sz="1425" b="1">
                <a:solidFill>
                  <a:srgbClr val="1D1D1F"/>
                </a:solidFill>
                <a:latin typeface="NanumSquare"/>
                <a:ea typeface="NanumSquare"/>
                <a:cs typeface="NanumSquare"/>
              </a:rPr>
              <a:t>AI 인프라 운영 및 설계 엔지니어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10398D3-2B31-4F8E-B391-B4E9D7CC40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752725"/>
            <a:ext cx="5810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350" b="0">
                <a:solidFill>
                  <a:srgbClr val="667085"/>
                </a:solidFill>
                <a:latin typeface="NanumSquare"/>
                <a:ea typeface="NanumSquare"/>
                <a:cs typeface="NanumSquare"/>
              </a:defRPr>
            </a:pPr>
            <a:r>
              <a:rPr sz="1350" b="0">
                <a:solidFill>
                  <a:srgbClr val="667085"/>
                </a:solidFill>
                <a:latin typeface="NanumSquare"/>
                <a:ea typeface="NanumSquare"/>
                <a:cs typeface="NanumSquare"/>
              </a:rPr>
              <a:t>Kubernetes, GPU/LLM 서빙, Observability, GitOps</a:t>
            </a:r>
          </a:p>
        </p:txBody>
      </p:sp>
      <p:sp>
        <p:nvSpPr>
          <p:cNvPr id="7" name="course-1">
            <a:extLst xmlns:a="http://schemas.openxmlformats.org/drawingml/2006/main">
              <a:ext uri="{FF2B5EF4-FFF2-40B4-BE49-F238E27FC236}">
                <a16:creationId xmlns:a16="http://schemas.microsoft.com/office/drawing/2014/main" id="{3D31B795-36DD-4EAF-ACD8-1E6093D418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371850"/>
            <a:ext cx="102108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F5F6F8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0296349-66F7-4E90-9AEE-C79B134BE4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3533775"/>
            <a:ext cx="342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425" b="1">
                <a:solidFill>
                  <a:srgbClr val="1D1D1F"/>
                </a:solidFill>
                <a:latin typeface="NanumSquare"/>
                <a:ea typeface="NanumSquare"/>
                <a:cs typeface="NanumSquare"/>
              </a:defRPr>
            </a:pPr>
            <a:r>
              <a:rPr sz="1425" b="1">
                <a:solidFill>
                  <a:srgbClr val="1D1D1F"/>
                </a:solidFill>
                <a:latin typeface="NanumSquare"/>
                <a:ea typeface="NanumSquare"/>
                <a:cs typeface="NanumSquare"/>
              </a:rPr>
              <a:t>AI 네이티브 보안 엔지니어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A6DF712-0FCC-420F-BA35-A6CAD86E1D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3533775"/>
            <a:ext cx="5810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350" b="0">
                <a:solidFill>
                  <a:srgbClr val="667085"/>
                </a:solidFill>
                <a:latin typeface="NanumSquare"/>
                <a:ea typeface="NanumSquare"/>
                <a:cs typeface="NanumSquare"/>
              </a:defRPr>
            </a:pPr>
            <a:r>
              <a:rPr sz="1350" b="0">
                <a:solidFill>
                  <a:srgbClr val="667085"/>
                </a:solidFill>
                <a:latin typeface="NanumSquare"/>
                <a:ea typeface="NanumSquare"/>
                <a:cs typeface="NanumSquare"/>
              </a:rPr>
              <a:t>Threat Modeling, Prompt Attack, Red Teaming, Guardrail</a:t>
            </a:r>
          </a:p>
        </p:txBody>
      </p:sp>
      <p:sp>
        <p:nvSpPr>
          <p:cNvPr id="10" name="course-2">
            <a:extLst xmlns:a="http://schemas.openxmlformats.org/drawingml/2006/main">
              <a:ext uri="{FF2B5EF4-FFF2-40B4-BE49-F238E27FC236}">
                <a16:creationId xmlns:a16="http://schemas.microsoft.com/office/drawing/2014/main" id="{B70BB00B-DAAD-421C-A0F0-3BA980B24C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152900"/>
            <a:ext cx="102108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FAFAFC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CC64F8B-CA1E-405F-9C56-093354CE0E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4314825"/>
            <a:ext cx="342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425" b="1">
                <a:solidFill>
                  <a:srgbClr val="1D1D1F"/>
                </a:solidFill>
                <a:latin typeface="NanumSquare"/>
                <a:ea typeface="NanumSquare"/>
                <a:cs typeface="NanumSquare"/>
              </a:defRPr>
            </a:pPr>
            <a:r>
              <a:rPr sz="1425" b="1">
                <a:solidFill>
                  <a:srgbClr val="1D1D1F"/>
                </a:solidFill>
                <a:latin typeface="NanumSquare"/>
                <a:ea typeface="NanumSquare"/>
                <a:cs typeface="NanumSquare"/>
              </a:rPr>
              <a:t>AX 서비스 풀스택 빌더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2A664AC-0A0C-4444-8515-23A0B1FD0D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4314825"/>
            <a:ext cx="5810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350" b="0">
                <a:solidFill>
                  <a:srgbClr val="667085"/>
                </a:solidFill>
                <a:latin typeface="NanumSquare"/>
                <a:ea typeface="NanumSquare"/>
                <a:cs typeface="NanumSquare"/>
              </a:defRPr>
            </a:pPr>
            <a:r>
              <a:rPr sz="1350" b="0">
                <a:solidFill>
                  <a:srgbClr val="667085"/>
                </a:solidFill>
                <a:latin typeface="NanumSquare"/>
                <a:ea typeface="NanumSquare"/>
                <a:cs typeface="NanumSquare"/>
              </a:rPr>
              <a:t>PRD, FastAPI, React, RAG, Function Calling, CI/CD</a:t>
            </a:r>
          </a:p>
        </p:txBody>
      </p:sp>
      <p:sp>
        <p:nvSpPr>
          <p:cNvPr id="13" name="course-3">
            <a:extLst xmlns:a="http://schemas.openxmlformats.org/drawingml/2006/main">
              <a:ext uri="{FF2B5EF4-FFF2-40B4-BE49-F238E27FC236}">
                <a16:creationId xmlns:a16="http://schemas.microsoft.com/office/drawing/2014/main" id="{08E2DCFA-4FB7-4269-B0D8-60BC639CD4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933950"/>
            <a:ext cx="102108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F5F6F8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8B7C5B4-43BE-4B98-8AD9-BBF0399A80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5095875"/>
            <a:ext cx="342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425" b="1">
                <a:solidFill>
                  <a:srgbClr val="1D1D1F"/>
                </a:solidFill>
                <a:latin typeface="NanumSquare"/>
                <a:ea typeface="NanumSquare"/>
                <a:cs typeface="NanumSquare"/>
              </a:defRPr>
            </a:pPr>
            <a:r>
              <a:rPr sz="1425" b="1">
                <a:solidFill>
                  <a:srgbClr val="1D1D1F"/>
                </a:solidFill>
                <a:latin typeface="NanumSquare"/>
                <a:ea typeface="NanumSquare"/>
                <a:cs typeface="NanumSquare"/>
              </a:rPr>
              <a:t>AI 네이티브 데이터 플랫폼 엔지니어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73CC4EE-AC9A-4835-8C7B-4358DC3313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095875"/>
            <a:ext cx="5810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350" b="0">
                <a:solidFill>
                  <a:srgbClr val="667085"/>
                </a:solidFill>
                <a:latin typeface="NanumSquare"/>
                <a:ea typeface="NanumSquare"/>
                <a:cs typeface="NanumSquare"/>
              </a:defRPr>
            </a:pPr>
            <a:r>
              <a:rPr sz="1350" b="0">
                <a:solidFill>
                  <a:srgbClr val="667085"/>
                </a:solidFill>
                <a:latin typeface="NanumSquare"/>
                <a:ea typeface="NanumSquare"/>
                <a:cs typeface="NanumSquare"/>
              </a:rPr>
              <a:t>Lakehouse, Airflow, Kafka, Data Quality, Vector DB, DataOps</a:t>
            </a:r>
          </a:p>
        </p:txBody>
      </p:sp>
      <p:sp>
        <p:nvSpPr>
          <p:cNvPr id="16" name="footer-left">
            <a:extLst xmlns:a="http://schemas.openxmlformats.org/drawingml/2006/main">
              <a:ext uri="{FF2B5EF4-FFF2-40B4-BE49-F238E27FC236}">
                <a16:creationId xmlns:a16="http://schemas.microsoft.com/office/drawing/2014/main" id="{8101DCF8-AF13-411C-803C-FFE1CC5371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476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825" b="0">
                <a:solidFill>
                  <a:srgbClr val="667085"/>
                </a:solidFill>
                <a:latin typeface="NanumSquare"/>
                <a:ea typeface="NanumSquare"/>
                <a:cs typeface="NanumSquare"/>
              </a:defRPr>
            </a:pPr>
            <a:r>
              <a:rPr sz="825" b="0">
                <a:solidFill>
                  <a:srgbClr val="667085"/>
                </a:solidFill>
                <a:latin typeface="NanumSquare"/>
                <a:ea typeface="NanumSquare"/>
                <a:cs typeface="NanumSquare"/>
              </a:rPr>
              <a:t>Goorm 20260701 AI Campus Prism 사전 특강</a:t>
            </a:r>
          </a:p>
        </p:txBody>
      </p:sp>
      <p:sp>
        <p:nvSpPr>
          <p:cNvPr id="17" name="footer-page">
            <a:extLst xmlns:a="http://schemas.openxmlformats.org/drawingml/2006/main">
              <a:ext uri="{FF2B5EF4-FFF2-40B4-BE49-F238E27FC236}">
                <a16:creationId xmlns:a16="http://schemas.microsoft.com/office/drawing/2014/main" id="{5CE5927A-B674-454C-9D7A-90C1F37C3D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6438900"/>
            <a:ext cx="400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lnSpc>
                <a:spcPct val="118000"/>
              </a:lnSpc>
              <a:buNone/>
              <a:defRPr sz="825" b="0">
                <a:solidFill>
                  <a:srgbClr val="667085"/>
                </a:solidFill>
                <a:latin typeface="NanumSquare"/>
                <a:ea typeface="NanumSquare"/>
                <a:cs typeface="NanumSquare"/>
              </a:defRPr>
            </a:pPr>
            <a:r>
              <a:rPr sz="825" b="0">
                <a:solidFill>
                  <a:srgbClr val="667085"/>
                </a:solidFill>
                <a:latin typeface="NanumSquare"/>
                <a:ea typeface="NanumSquare"/>
                <a:cs typeface="NanumSquare"/>
              </a:rPr>
              <a:t>22</a:t>
            </a:r>
          </a:p>
        </p:txBody>
      </p:sp>
    </p:spTree>
    <p:extLst>
      <p:ext uri="{BB962C8B-B14F-4D97-AF65-F5344CB8AC3E}">
        <p14:creationId xmlns:p14="http://schemas.microsoft.com/office/powerpoint/2010/main" val="89848576"/>
      </p:ext>
    </p:extLst>
  </p:cSld>
</p:sld>
</file>

<file path=ppt/slides/slide23.xml><?xml version="1.0" encoding="utf-8"?>
<p:sld xmlns:p="http://schemas.openxmlformats.org/presentationml/2006/main">
  <p:cSld>
    <p:bg>
      <p:bgPr>
        <a:solidFill xmlns:a="http://schemas.openxmlformats.org/drawingml/2006/main">
          <a:srgbClr val="F5F6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eyebrow">
            <a:extLst xmlns:a="http://schemas.openxmlformats.org/drawingml/2006/main">
              <a:ext uri="{FF2B5EF4-FFF2-40B4-BE49-F238E27FC236}">
                <a16:creationId xmlns:a16="http://schemas.microsoft.com/office/drawing/2014/main" id="{9EBEF8EE-9156-47D6-A526-CD235AD5F5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815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975" b="1">
                <a:solidFill>
                  <a:srgbClr val="667085"/>
                </a:solidFill>
                <a:latin typeface="NanumSquare"/>
                <a:ea typeface="NanumSquare"/>
                <a:cs typeface="NanumSquare"/>
              </a:defRPr>
            </a:pPr>
            <a:r>
              <a:rPr sz="975" b="1">
                <a:solidFill>
                  <a:srgbClr val="667085"/>
                </a:solidFill>
                <a:latin typeface="NanumSquare"/>
                <a:ea typeface="NanumSquare"/>
                <a:cs typeface="NanumSquare"/>
              </a:rPr>
              <a:t>CURRICULUM BRIDGE 01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CD8E751B-FA81-412A-98FA-C46C6DE3C0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38200"/>
            <a:ext cx="103632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2850" b="1">
                <a:solidFill>
                  <a:srgbClr val="1D1D1F"/>
                </a:solidFill>
                <a:latin typeface="NanumSquare"/>
                <a:ea typeface="NanumSquare"/>
                <a:cs typeface="NanumSquare"/>
              </a:defRPr>
            </a:pPr>
            <a:r>
              <a:rPr sz="2850" b="1">
                <a:solidFill>
                  <a:srgbClr val="1D1D1F"/>
                </a:solidFill>
                <a:latin typeface="NanumSquare"/>
                <a:ea typeface="NanumSquare"/>
                <a:cs typeface="NanumSquare"/>
              </a:rPr>
              <a:t>AX 서비스 풀스택 빌더 과정의 현업 번역</a:t>
            </a:r>
          </a:p>
        </p:txBody>
      </p:sp>
      <p:sp>
        <p:nvSpPr>
          <p:cNvPr id="3" name="subtitle">
            <a:extLst xmlns:a="http://schemas.openxmlformats.org/drawingml/2006/main">
              <a:ext uri="{FF2B5EF4-FFF2-40B4-BE49-F238E27FC236}">
                <a16:creationId xmlns:a16="http://schemas.microsoft.com/office/drawing/2014/main" id="{DB7A0C40-4D92-44DB-85D6-BC3FA0D5B0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47850"/>
            <a:ext cx="103632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22000"/>
              </a:lnSpc>
              <a:buNone/>
              <a:defRPr sz="1575" b="0">
                <a:solidFill>
                  <a:srgbClr val="667085"/>
                </a:solidFill>
                <a:latin typeface="NanumSquare"/>
                <a:ea typeface="NanumSquare"/>
                <a:cs typeface="NanumSquare"/>
              </a:defRPr>
            </a:pPr>
            <a:r>
              <a:rPr sz="1575" b="0">
                <a:solidFill>
                  <a:srgbClr val="667085"/>
                </a:solidFill>
                <a:latin typeface="NanumSquare"/>
                <a:ea typeface="NanumSquare"/>
                <a:cs typeface="NanumSquare"/>
              </a:rPr>
              <a:t>아이디어를 AI 서비스 MVP로 완성하는 사람에게 필요한 언어입니다.</a:t>
            </a:r>
          </a:p>
        </p:txBody>
      </p:sp>
      <p:sp>
        <p:nvSpPr>
          <p:cNvPr id="4" name="card-1">
            <a:extLst xmlns:a="http://schemas.openxmlformats.org/drawingml/2006/main">
              <a:ext uri="{FF2B5EF4-FFF2-40B4-BE49-F238E27FC236}">
                <a16:creationId xmlns:a16="http://schemas.microsoft.com/office/drawing/2014/main" id="{B917FE0A-5EAE-497F-8A59-A320B707FC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0"/>
            <a:ext cx="3333750" cy="2362200"/>
          </a:xfrm>
          <a:prstGeom xmlns:a="http://schemas.openxmlformats.org/drawingml/2006/main" prst="roundRect">
            <a:avLst>
              <a:gd name="adj" fmla="val 483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35B484A-72AC-46A6-B201-E84108EBA4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086100"/>
            <a:ext cx="2876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200" b="1">
                <a:solidFill>
                  <a:srgbClr val="0A2342"/>
                </a:solidFill>
                <a:latin typeface="NanumSquare"/>
                <a:ea typeface="NanumSquare"/>
                <a:cs typeface="NanumSquare"/>
              </a:defRPr>
            </a:pPr>
            <a:r>
              <a:rPr sz="1200" b="1">
                <a:solidFill>
                  <a:srgbClr val="0A2342"/>
                </a:solidFill>
                <a:latin typeface="NanumSquare"/>
                <a:ea typeface="NanumSquare"/>
                <a:cs typeface="NanumSquare"/>
              </a:rPr>
              <a:t>PLAN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8436BBD-F249-4C7F-8790-DDC321F358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486150"/>
            <a:ext cx="28765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1D1D1F"/>
                </a:solidFill>
                <a:latin typeface="NanumSquare"/>
                <a:ea typeface="NanumSquare"/>
                <a:cs typeface="NanumSquare"/>
              </a:defRPr>
            </a:pPr>
            <a:r>
              <a:rPr sz="1800" b="1">
                <a:solidFill>
                  <a:srgbClr val="1D1D1F"/>
                </a:solidFill>
                <a:latin typeface="NanumSquare"/>
                <a:ea typeface="NanumSquare"/>
                <a:cs typeface="NanumSquare"/>
              </a:rPr>
              <a:t>AX 프로덕트 기획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9FF7144-466D-48FC-93BC-3CDA6AB361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229100"/>
            <a:ext cx="28765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275" b="0">
                <a:solidFill>
                  <a:srgbClr val="667085"/>
                </a:solidFill>
                <a:latin typeface="NanumSquare"/>
                <a:ea typeface="NanumSquare"/>
                <a:cs typeface="NanumSquare"/>
              </a:defRPr>
            </a:pPr>
            <a:r>
              <a:rPr sz="1275" b="0">
                <a:solidFill>
                  <a:srgbClr val="667085"/>
                </a:solidFill>
                <a:latin typeface="NanumSquare"/>
                <a:ea typeface="NanumSquare"/>
                <a:cs typeface="NanumSquare"/>
              </a:rPr>
              <a:t>사용자 리서치, 페르소나, 여정 맵, MoSCoW, 사용성 테스트</a:t>
            </a:r>
          </a:p>
        </p:txBody>
      </p:sp>
      <p:sp>
        <p:nvSpPr>
          <p:cNvPr id="8" name="card-2">
            <a:extLst xmlns:a="http://schemas.openxmlformats.org/drawingml/2006/main">
              <a:ext uri="{FF2B5EF4-FFF2-40B4-BE49-F238E27FC236}">
                <a16:creationId xmlns:a16="http://schemas.microsoft.com/office/drawing/2014/main" id="{AD0EBF15-1E4B-4C70-8BD2-0E51EB8408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2857500"/>
            <a:ext cx="3333750" cy="2362200"/>
          </a:xfrm>
          <a:prstGeom xmlns:a="http://schemas.openxmlformats.org/drawingml/2006/main" prst="roundRect">
            <a:avLst>
              <a:gd name="adj" fmla="val 483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35217FD-B8D9-4F72-9416-704824CF90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3086100"/>
            <a:ext cx="2876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200" b="1">
                <a:solidFill>
                  <a:srgbClr val="0A2342"/>
                </a:solidFill>
                <a:latin typeface="NanumSquare"/>
                <a:ea typeface="NanumSquare"/>
                <a:cs typeface="NanumSquare"/>
              </a:defRPr>
            </a:pPr>
            <a:r>
              <a:rPr sz="1200" b="1">
                <a:solidFill>
                  <a:srgbClr val="0A2342"/>
                </a:solidFill>
                <a:latin typeface="NanumSquare"/>
                <a:ea typeface="NanumSquare"/>
                <a:cs typeface="NanumSquare"/>
              </a:rPr>
              <a:t>BUILD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0D7D032-B4D6-4DD2-BE19-73741D20AC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3486150"/>
            <a:ext cx="28765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1D1D1F"/>
                </a:solidFill>
                <a:latin typeface="NanumSquare"/>
                <a:ea typeface="NanumSquare"/>
                <a:cs typeface="NanumSquare"/>
              </a:defRPr>
            </a:pPr>
            <a:r>
              <a:rPr sz="1800" b="1">
                <a:solidFill>
                  <a:srgbClr val="1D1D1F"/>
                </a:solidFill>
                <a:latin typeface="NanumSquare"/>
                <a:ea typeface="NanumSquare"/>
                <a:cs typeface="NanumSquare"/>
              </a:rPr>
              <a:t>AI-Augmented 개발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313733A-00FC-4808-BCFF-A0CEBD70D7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4229100"/>
            <a:ext cx="28765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275" b="0">
                <a:solidFill>
                  <a:srgbClr val="667085"/>
                </a:solidFill>
                <a:latin typeface="NanumSquare"/>
                <a:ea typeface="NanumSquare"/>
                <a:cs typeface="NanumSquare"/>
              </a:defRPr>
            </a:pPr>
            <a:r>
              <a:rPr sz="1275" b="0">
                <a:solidFill>
                  <a:srgbClr val="667085"/>
                </a:solidFill>
                <a:latin typeface="NanumSquare"/>
                <a:ea typeface="NanumSquare"/>
                <a:cs typeface="NanumSquare"/>
              </a:rPr>
              <a:t>FastAPI, React, ORM, API 스펙, 인증, AI 코드 리뷰</a:t>
            </a:r>
          </a:p>
        </p:txBody>
      </p:sp>
      <p:sp>
        <p:nvSpPr>
          <p:cNvPr id="12" name="card-3">
            <a:extLst xmlns:a="http://schemas.openxmlformats.org/drawingml/2006/main">
              <a:ext uri="{FF2B5EF4-FFF2-40B4-BE49-F238E27FC236}">
                <a16:creationId xmlns:a16="http://schemas.microsoft.com/office/drawing/2014/main" id="{F723DF3B-3860-4247-B601-EA6CBBC45E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2857500"/>
            <a:ext cx="3333750" cy="2362200"/>
          </a:xfrm>
          <a:prstGeom xmlns:a="http://schemas.openxmlformats.org/drawingml/2006/main" prst="roundRect">
            <a:avLst>
              <a:gd name="adj" fmla="val 483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40BED70-1544-42B8-B54E-A2F9874ED5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3086100"/>
            <a:ext cx="2876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200" b="1">
                <a:solidFill>
                  <a:srgbClr val="0A2342"/>
                </a:solidFill>
                <a:latin typeface="NanumSquare"/>
                <a:ea typeface="NanumSquare"/>
                <a:cs typeface="NanumSquare"/>
              </a:defRPr>
            </a:pPr>
            <a:r>
              <a:rPr sz="1200" b="1">
                <a:solidFill>
                  <a:srgbClr val="0A2342"/>
                </a:solidFill>
                <a:latin typeface="NanumSquare"/>
                <a:ea typeface="NanumSquare"/>
                <a:cs typeface="NanumSquare"/>
              </a:rPr>
              <a:t>AI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C8C9A39-57D4-44A3-A7E4-6E1DCB8886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3486150"/>
            <a:ext cx="28765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1D1D1F"/>
                </a:solidFill>
                <a:latin typeface="NanumSquare"/>
                <a:ea typeface="NanumSquare"/>
                <a:cs typeface="NanumSquare"/>
              </a:defRPr>
            </a:pPr>
            <a:r>
              <a:rPr sz="1800" b="1">
                <a:solidFill>
                  <a:srgbClr val="1D1D1F"/>
                </a:solidFill>
                <a:latin typeface="NanumSquare"/>
                <a:ea typeface="NanumSquare"/>
                <a:cs typeface="NanumSquare"/>
              </a:rPr>
              <a:t>LLM 서비스 엔지니어링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A8AEA9D-8874-4BDB-BE77-5A13BBB343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4229100"/>
            <a:ext cx="28765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275" b="0">
                <a:solidFill>
                  <a:srgbClr val="667085"/>
                </a:solidFill>
                <a:latin typeface="NanumSquare"/>
                <a:ea typeface="NanumSquare"/>
                <a:cs typeface="NanumSquare"/>
              </a:defRPr>
            </a:pPr>
            <a:r>
              <a:rPr sz="1275" b="0">
                <a:solidFill>
                  <a:srgbClr val="667085"/>
                </a:solidFill>
                <a:latin typeface="NanumSquare"/>
                <a:ea typeface="NanumSquare"/>
                <a:cs typeface="NanumSquare"/>
              </a:rPr>
              <a:t>LangChain, RAG, Vector DB, 검색 품질 평가, Function Calling, 스트리밍</a:t>
            </a:r>
          </a:p>
        </p:txBody>
      </p:sp>
      <p:sp>
        <p:nvSpPr>
          <p:cNvPr id="16" name="footer-left">
            <a:extLst xmlns:a="http://schemas.openxmlformats.org/drawingml/2006/main">
              <a:ext uri="{FF2B5EF4-FFF2-40B4-BE49-F238E27FC236}">
                <a16:creationId xmlns:a16="http://schemas.microsoft.com/office/drawing/2014/main" id="{20C19E69-6D07-4D8A-8486-16C883A268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476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825" b="0">
                <a:solidFill>
                  <a:srgbClr val="667085"/>
                </a:solidFill>
                <a:latin typeface="NanumSquare"/>
                <a:ea typeface="NanumSquare"/>
                <a:cs typeface="NanumSquare"/>
              </a:defRPr>
            </a:pPr>
            <a:r>
              <a:rPr sz="825" b="0">
                <a:solidFill>
                  <a:srgbClr val="667085"/>
                </a:solidFill>
                <a:latin typeface="NanumSquare"/>
                <a:ea typeface="NanumSquare"/>
                <a:cs typeface="NanumSquare"/>
              </a:rPr>
              <a:t>Goorm 20260701 AI Campus Prism 사전 특강</a:t>
            </a:r>
          </a:p>
        </p:txBody>
      </p:sp>
      <p:sp>
        <p:nvSpPr>
          <p:cNvPr id="17" name="footer-page">
            <a:extLst xmlns:a="http://schemas.openxmlformats.org/drawingml/2006/main">
              <a:ext uri="{FF2B5EF4-FFF2-40B4-BE49-F238E27FC236}">
                <a16:creationId xmlns:a16="http://schemas.microsoft.com/office/drawing/2014/main" id="{AC2C9E4B-0AF6-4D26-BD9D-3765EBFA10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6438900"/>
            <a:ext cx="400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lnSpc>
                <a:spcPct val="118000"/>
              </a:lnSpc>
              <a:buNone/>
              <a:defRPr sz="825" b="0">
                <a:solidFill>
                  <a:srgbClr val="667085"/>
                </a:solidFill>
                <a:latin typeface="NanumSquare"/>
                <a:ea typeface="NanumSquare"/>
                <a:cs typeface="NanumSquare"/>
              </a:defRPr>
            </a:pPr>
            <a:r>
              <a:rPr sz="825" b="0">
                <a:solidFill>
                  <a:srgbClr val="667085"/>
                </a:solidFill>
                <a:latin typeface="NanumSquare"/>
                <a:ea typeface="NanumSquare"/>
                <a:cs typeface="NanumSquare"/>
              </a:rPr>
              <a:t>23</a:t>
            </a:r>
          </a:p>
        </p:txBody>
      </p:sp>
    </p:spTree>
    <p:extLst>
      <p:ext uri="{BB962C8B-B14F-4D97-AF65-F5344CB8AC3E}">
        <p14:creationId xmlns:p14="http://schemas.microsoft.com/office/powerpoint/2010/main" val="878086680"/>
      </p:ext>
    </p:extLst>
  </p:cSld>
</p:sld>
</file>

<file path=ppt/slides/slide2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eyebrow">
            <a:extLst xmlns:a="http://schemas.openxmlformats.org/drawingml/2006/main">
              <a:ext uri="{FF2B5EF4-FFF2-40B4-BE49-F238E27FC236}">
                <a16:creationId xmlns:a16="http://schemas.microsoft.com/office/drawing/2014/main" id="{18EA8E10-0A9F-4924-8944-75BC0165D4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815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975" b="1">
                <a:solidFill>
                  <a:srgbClr val="667085"/>
                </a:solidFill>
                <a:latin typeface="NanumSquare"/>
                <a:ea typeface="NanumSquare"/>
                <a:cs typeface="NanumSquare"/>
              </a:defRPr>
            </a:pPr>
            <a:r>
              <a:rPr sz="975" b="1">
                <a:solidFill>
                  <a:srgbClr val="667085"/>
                </a:solidFill>
                <a:latin typeface="NanumSquare"/>
                <a:ea typeface="NanumSquare"/>
                <a:cs typeface="NanumSquare"/>
              </a:rPr>
              <a:t>CURRICULUM BRIDGE 02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FF3FC86B-9A85-4795-ACF2-885B1FF90C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38200"/>
            <a:ext cx="103632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2850" b="1">
                <a:solidFill>
                  <a:srgbClr val="1D1D1F"/>
                </a:solidFill>
                <a:latin typeface="NanumSquare"/>
                <a:ea typeface="NanumSquare"/>
                <a:cs typeface="NanumSquare"/>
              </a:defRPr>
            </a:pPr>
            <a:r>
              <a:rPr sz="2850" b="1">
                <a:solidFill>
                  <a:srgbClr val="1D1D1F"/>
                </a:solidFill>
                <a:latin typeface="NanumSquare"/>
                <a:ea typeface="NanumSquare"/>
                <a:cs typeface="NanumSquare"/>
              </a:rPr>
              <a:t>데이터 모델·플랫폼 과정의 현업 번역</a:t>
            </a:r>
          </a:p>
        </p:txBody>
      </p:sp>
      <p:sp>
        <p:nvSpPr>
          <p:cNvPr id="3" name="subtitle">
            <a:extLst xmlns:a="http://schemas.openxmlformats.org/drawingml/2006/main">
              <a:ext uri="{FF2B5EF4-FFF2-40B4-BE49-F238E27FC236}">
                <a16:creationId xmlns:a16="http://schemas.microsoft.com/office/drawing/2014/main" id="{F2F408BC-C5E7-446E-B5BB-9E9B738087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47850"/>
            <a:ext cx="103632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22000"/>
              </a:lnSpc>
              <a:buNone/>
              <a:defRPr sz="1575" b="0">
                <a:solidFill>
                  <a:srgbClr val="667085"/>
                </a:solidFill>
                <a:latin typeface="NanumSquare"/>
                <a:ea typeface="NanumSquare"/>
                <a:cs typeface="NanumSquare"/>
              </a:defRPr>
            </a:pPr>
            <a:r>
              <a:rPr sz="1575" b="0">
                <a:solidFill>
                  <a:srgbClr val="667085"/>
                </a:solidFill>
                <a:latin typeface="NanumSquare"/>
                <a:ea typeface="NanumSquare"/>
                <a:cs typeface="NanumSquare"/>
              </a:rPr>
              <a:t>AI가 똑똑해 보이는 순간 뒤에는, 대개 데이터 구조와 품질을 만든 사람이 있습니다.</a:t>
            </a:r>
          </a:p>
        </p:txBody>
      </p:sp>
      <p:sp>
        <p:nvSpPr>
          <p:cNvPr id="4" name="card-1">
            <a:extLst xmlns:a="http://schemas.openxmlformats.org/drawingml/2006/main">
              <a:ext uri="{FF2B5EF4-FFF2-40B4-BE49-F238E27FC236}">
                <a16:creationId xmlns:a16="http://schemas.microsoft.com/office/drawing/2014/main" id="{CD71BB1B-C3CE-4E3C-8A86-3FE2FF3B4F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0"/>
            <a:ext cx="3333750" cy="2362200"/>
          </a:xfrm>
          <a:prstGeom xmlns:a="http://schemas.openxmlformats.org/drawingml/2006/main" prst="roundRect">
            <a:avLst>
              <a:gd name="adj" fmla="val 483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3999C22-DBE1-4C35-9737-827FA435F4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086100"/>
            <a:ext cx="2876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200" b="1">
                <a:solidFill>
                  <a:srgbClr val="0A2342"/>
                </a:solidFill>
                <a:latin typeface="NanumSquare"/>
                <a:ea typeface="NanumSquare"/>
                <a:cs typeface="NanumSquare"/>
              </a:defRPr>
            </a:pPr>
            <a:r>
              <a:rPr sz="1200" b="1">
                <a:solidFill>
                  <a:srgbClr val="0A2342"/>
                </a:solidFill>
                <a:latin typeface="NanumSquare"/>
                <a:ea typeface="NanumSquare"/>
                <a:cs typeface="NanumSquare"/>
              </a:rPr>
              <a:t>MODEL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1916D48-9741-49F6-8AB9-A2D736EB85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486150"/>
            <a:ext cx="28765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1D1D1F"/>
                </a:solidFill>
                <a:latin typeface="NanumSquare"/>
                <a:ea typeface="NanumSquare"/>
                <a:cs typeface="NanumSquare"/>
              </a:defRPr>
            </a:pPr>
            <a:r>
              <a:rPr sz="1800" b="1">
                <a:solidFill>
                  <a:srgbClr val="1D1D1F"/>
                </a:solidFill>
                <a:latin typeface="NanumSquare"/>
                <a:ea typeface="NanumSquare"/>
                <a:cs typeface="NanumSquare"/>
              </a:rPr>
              <a:t>시맨틱 모델링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B0B982D-B2F0-4AE2-8157-00DAE7590D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229100"/>
            <a:ext cx="28765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275" b="0">
                <a:solidFill>
                  <a:srgbClr val="667085"/>
                </a:solidFill>
                <a:latin typeface="NanumSquare"/>
                <a:ea typeface="NanumSquare"/>
                <a:cs typeface="NanumSquare"/>
              </a:defRPr>
            </a:pPr>
            <a:r>
              <a:rPr sz="1275" b="0">
                <a:solidFill>
                  <a:srgbClr val="667085"/>
                </a:solidFill>
                <a:latin typeface="NanumSquare"/>
                <a:ea typeface="NanumSquare"/>
                <a:cs typeface="NanumSquare"/>
              </a:rPr>
              <a:t>SQL, 스타 스키마, 지표 거버넌스, dbt, 데이터 리니지</a:t>
            </a:r>
          </a:p>
        </p:txBody>
      </p:sp>
      <p:sp>
        <p:nvSpPr>
          <p:cNvPr id="8" name="card-2">
            <a:extLst xmlns:a="http://schemas.openxmlformats.org/drawingml/2006/main">
              <a:ext uri="{FF2B5EF4-FFF2-40B4-BE49-F238E27FC236}">
                <a16:creationId xmlns:a16="http://schemas.microsoft.com/office/drawing/2014/main" id="{FEABA88A-912C-44BF-8577-7C9677283F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2857500"/>
            <a:ext cx="3333750" cy="2362200"/>
          </a:xfrm>
          <a:prstGeom xmlns:a="http://schemas.openxmlformats.org/drawingml/2006/main" prst="roundRect">
            <a:avLst>
              <a:gd name="adj" fmla="val 483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EA34B22-BE3C-4519-9951-1E334CE6A3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3086100"/>
            <a:ext cx="2876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200" b="1">
                <a:solidFill>
                  <a:srgbClr val="0A2342"/>
                </a:solidFill>
                <a:latin typeface="NanumSquare"/>
                <a:ea typeface="NanumSquare"/>
                <a:cs typeface="NanumSquare"/>
              </a:defRPr>
            </a:pPr>
            <a:r>
              <a:rPr sz="1200" b="1">
                <a:solidFill>
                  <a:srgbClr val="0A2342"/>
                </a:solidFill>
                <a:latin typeface="NanumSquare"/>
                <a:ea typeface="NanumSquare"/>
                <a:cs typeface="NanumSquare"/>
              </a:rPr>
              <a:t>PIPELINE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4954E6E-91C7-4DE8-B7C3-88B31C125A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3486150"/>
            <a:ext cx="28765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1D1D1F"/>
                </a:solidFill>
                <a:latin typeface="NanumSquare"/>
                <a:ea typeface="NanumSquare"/>
                <a:cs typeface="NanumSquare"/>
              </a:defRPr>
            </a:pPr>
            <a:r>
              <a:rPr sz="1800" b="1">
                <a:solidFill>
                  <a:srgbClr val="1D1D1F"/>
                </a:solidFill>
                <a:latin typeface="NanumSquare"/>
                <a:ea typeface="NanumSquare"/>
                <a:cs typeface="NanumSquare"/>
              </a:rPr>
              <a:t>Lakehouse·Streaming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C5B0FFE-675A-4285-BD56-1AD5FDEF5F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4229100"/>
            <a:ext cx="28765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275" b="0">
                <a:solidFill>
                  <a:srgbClr val="667085"/>
                </a:solidFill>
                <a:latin typeface="NanumSquare"/>
                <a:ea typeface="NanumSquare"/>
                <a:cs typeface="NanumSquare"/>
              </a:defRPr>
            </a:pPr>
            <a:r>
              <a:rPr sz="1275" b="0">
                <a:solidFill>
                  <a:srgbClr val="667085"/>
                </a:solidFill>
                <a:latin typeface="NanumSquare"/>
                <a:ea typeface="NanumSquare"/>
                <a:cs typeface="NanumSquare"/>
              </a:rPr>
              <a:t>Raw/Staging/Mart, Airflow DAG, Kafka/Spark, Backfill, Retry</a:t>
            </a:r>
          </a:p>
        </p:txBody>
      </p:sp>
      <p:sp>
        <p:nvSpPr>
          <p:cNvPr id="12" name="card-3">
            <a:extLst xmlns:a="http://schemas.openxmlformats.org/drawingml/2006/main">
              <a:ext uri="{FF2B5EF4-FFF2-40B4-BE49-F238E27FC236}">
                <a16:creationId xmlns:a16="http://schemas.microsoft.com/office/drawing/2014/main" id="{65B40303-5F4B-4311-B91A-DEACF30173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2857500"/>
            <a:ext cx="3333750" cy="2362200"/>
          </a:xfrm>
          <a:prstGeom xmlns:a="http://schemas.openxmlformats.org/drawingml/2006/main" prst="roundRect">
            <a:avLst>
              <a:gd name="adj" fmla="val 483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8B3EDC7-DEA1-499E-AA28-8A203F45D9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3086100"/>
            <a:ext cx="2876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200" b="1">
                <a:solidFill>
                  <a:srgbClr val="0A2342"/>
                </a:solidFill>
                <a:latin typeface="NanumSquare"/>
                <a:ea typeface="NanumSquare"/>
                <a:cs typeface="NanumSquare"/>
              </a:defRPr>
            </a:pPr>
            <a:r>
              <a:rPr sz="1200" b="1">
                <a:solidFill>
                  <a:srgbClr val="0A2342"/>
                </a:solidFill>
                <a:latin typeface="NanumSquare"/>
                <a:ea typeface="NanumSquare"/>
                <a:cs typeface="NanumSquare"/>
              </a:rPr>
              <a:t>RAG DATA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66C2A05-56A5-45F7-BE64-A5226331F5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3486150"/>
            <a:ext cx="28765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1D1D1F"/>
                </a:solidFill>
                <a:latin typeface="NanumSquare"/>
                <a:ea typeface="NanumSquare"/>
                <a:cs typeface="NanumSquare"/>
              </a:defRPr>
            </a:pPr>
            <a:r>
              <a:rPr sz="1800" b="1">
                <a:solidFill>
                  <a:srgbClr val="1D1D1F"/>
                </a:solidFill>
                <a:latin typeface="NanumSquare"/>
                <a:ea typeface="NanumSquare"/>
                <a:cs typeface="NanumSquare"/>
              </a:rPr>
              <a:t>문서 데이터 플랫폼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3AC6C51-56D0-406D-9306-1BAE93A823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4229100"/>
            <a:ext cx="28765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275" b="0">
                <a:solidFill>
                  <a:srgbClr val="667085"/>
                </a:solidFill>
                <a:latin typeface="NanumSquare"/>
                <a:ea typeface="NanumSquare"/>
                <a:cs typeface="NanumSquare"/>
              </a:defRPr>
            </a:pPr>
            <a:r>
              <a:rPr sz="1275" b="0">
                <a:solidFill>
                  <a:srgbClr val="667085"/>
                </a:solidFill>
                <a:latin typeface="NanumSquare"/>
                <a:ea typeface="NanumSquare"/>
                <a:cs typeface="NanumSquare"/>
              </a:rPr>
              <a:t>Chunking, Embedding, Metadata, Hybrid Search, 문서 최신성, 피드백 로그</a:t>
            </a:r>
          </a:p>
        </p:txBody>
      </p:sp>
      <p:sp>
        <p:nvSpPr>
          <p:cNvPr id="16" name="footer-left">
            <a:extLst xmlns:a="http://schemas.openxmlformats.org/drawingml/2006/main">
              <a:ext uri="{FF2B5EF4-FFF2-40B4-BE49-F238E27FC236}">
                <a16:creationId xmlns:a16="http://schemas.microsoft.com/office/drawing/2014/main" id="{4213C16D-84E5-482E-A341-E7B2376EEF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476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825" b="0">
                <a:solidFill>
                  <a:srgbClr val="667085"/>
                </a:solidFill>
                <a:latin typeface="NanumSquare"/>
                <a:ea typeface="NanumSquare"/>
                <a:cs typeface="NanumSquare"/>
              </a:defRPr>
            </a:pPr>
            <a:r>
              <a:rPr sz="825" b="0">
                <a:solidFill>
                  <a:srgbClr val="667085"/>
                </a:solidFill>
                <a:latin typeface="NanumSquare"/>
                <a:ea typeface="NanumSquare"/>
                <a:cs typeface="NanumSquare"/>
              </a:rPr>
              <a:t>Goorm 20260701 AI Campus Prism 사전 특강</a:t>
            </a:r>
          </a:p>
        </p:txBody>
      </p:sp>
      <p:sp>
        <p:nvSpPr>
          <p:cNvPr id="17" name="footer-page">
            <a:extLst xmlns:a="http://schemas.openxmlformats.org/drawingml/2006/main">
              <a:ext uri="{FF2B5EF4-FFF2-40B4-BE49-F238E27FC236}">
                <a16:creationId xmlns:a16="http://schemas.microsoft.com/office/drawing/2014/main" id="{E13498FE-4700-4EC5-9D30-BF3ED3DAEB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6438900"/>
            <a:ext cx="400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lnSpc>
                <a:spcPct val="118000"/>
              </a:lnSpc>
              <a:buNone/>
              <a:defRPr sz="825" b="0">
                <a:solidFill>
                  <a:srgbClr val="667085"/>
                </a:solidFill>
                <a:latin typeface="NanumSquare"/>
                <a:ea typeface="NanumSquare"/>
                <a:cs typeface="NanumSquare"/>
              </a:defRPr>
            </a:pPr>
            <a:r>
              <a:rPr sz="825" b="0">
                <a:solidFill>
                  <a:srgbClr val="667085"/>
                </a:solidFill>
                <a:latin typeface="NanumSquare"/>
                <a:ea typeface="NanumSquare"/>
                <a:cs typeface="NanumSquare"/>
              </a:rPr>
              <a:t>24</a:t>
            </a:r>
          </a:p>
        </p:txBody>
      </p:sp>
    </p:spTree>
    <p:extLst>
      <p:ext uri="{BB962C8B-B14F-4D97-AF65-F5344CB8AC3E}">
        <p14:creationId xmlns:p14="http://schemas.microsoft.com/office/powerpoint/2010/main" val="2048412821"/>
      </p:ext>
    </p:extLst>
  </p:cSld>
</p:sld>
</file>

<file path=ppt/slides/slide25.xml><?xml version="1.0" encoding="utf-8"?>
<p:sld xmlns:p="http://schemas.openxmlformats.org/presentationml/2006/main">
  <p:cSld>
    <p:bg>
      <p:bgPr>
        <a:solidFill xmlns:a="http://schemas.openxmlformats.org/drawingml/2006/main">
          <a:srgbClr val="070B1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eyebrow">
            <a:extLst xmlns:a="http://schemas.openxmlformats.org/drawingml/2006/main">
              <a:ext uri="{FF2B5EF4-FFF2-40B4-BE49-F238E27FC236}">
                <a16:creationId xmlns:a16="http://schemas.microsoft.com/office/drawing/2014/main" id="{D09C7AD7-D318-46D6-832C-40087EE8E6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815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975" b="1">
                <a:solidFill>
                  <a:srgbClr val="CCCCCC"/>
                </a:solidFill>
                <a:latin typeface="NanumSquare"/>
                <a:ea typeface="NanumSquare"/>
                <a:cs typeface="NanumSquare"/>
              </a:defRPr>
            </a:pPr>
            <a:r>
              <a:rPr sz="975" b="1">
                <a:solidFill>
                  <a:srgbClr val="CCCCCC"/>
                </a:solidFill>
                <a:latin typeface="NanumSquare"/>
                <a:ea typeface="NanumSquare"/>
                <a:cs typeface="NanumSquare"/>
              </a:rPr>
              <a:t>CURRICULUM BRIDGE 03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99FD48ED-98A6-44B2-AA0D-8817FFBC75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38200"/>
            <a:ext cx="103632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2850" b="1">
                <a:solidFill>
                  <a:srgbClr val="FFFFFF"/>
                </a:solidFill>
                <a:latin typeface="NanumSquare"/>
                <a:ea typeface="NanumSquare"/>
                <a:cs typeface="NanumSquare"/>
              </a:defRPr>
            </a:pPr>
            <a:r>
              <a:rPr sz="2850" b="1">
                <a:solidFill>
                  <a:srgbClr val="FFFFFF"/>
                </a:solidFill>
                <a:latin typeface="NanumSquare"/>
                <a:ea typeface="NanumSquare"/>
                <a:cs typeface="NanumSquare"/>
              </a:rPr>
              <a:t>인프라 과정의 현업 번역</a:t>
            </a:r>
          </a:p>
        </p:txBody>
      </p:sp>
      <p:sp>
        <p:nvSpPr>
          <p:cNvPr id="3" name="subtitle">
            <a:extLst xmlns:a="http://schemas.openxmlformats.org/drawingml/2006/main">
              <a:ext uri="{FF2B5EF4-FFF2-40B4-BE49-F238E27FC236}">
                <a16:creationId xmlns:a16="http://schemas.microsoft.com/office/drawing/2014/main" id="{5D6D5D54-3819-48FB-AA12-FA0B106E8D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47850"/>
            <a:ext cx="103632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22000"/>
              </a:lnSpc>
              <a:buNone/>
              <a:defRPr sz="1575" b="0">
                <a:solidFill>
                  <a:srgbClr val="D6D6D6"/>
                </a:solidFill>
                <a:latin typeface="NanumSquare"/>
                <a:ea typeface="NanumSquare"/>
                <a:cs typeface="NanumSquare"/>
              </a:defRPr>
            </a:pPr>
            <a:r>
              <a:rPr sz="1575" b="0">
                <a:solidFill>
                  <a:srgbClr val="D6D6D6"/>
                </a:solidFill>
                <a:latin typeface="NanumSquare"/>
                <a:ea typeface="NanumSquare"/>
                <a:cs typeface="NanumSquare"/>
              </a:rPr>
              <a:t>AI 서비스는 모델보다 먼저 시스템입니다. 느리고 불안정하면 아무도 쓰지 않습니다.</a:t>
            </a:r>
          </a:p>
        </p:txBody>
      </p:sp>
      <p:sp>
        <p:nvSpPr>
          <p:cNvPr id="4" name="card-1">
            <a:extLst xmlns:a="http://schemas.openxmlformats.org/drawingml/2006/main">
              <a:ext uri="{FF2B5EF4-FFF2-40B4-BE49-F238E27FC236}">
                <a16:creationId xmlns:a16="http://schemas.microsoft.com/office/drawing/2014/main" id="{005C98E3-1AAF-4427-BA1A-87CE242D7C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95600"/>
            <a:ext cx="3333750" cy="2362200"/>
          </a:xfrm>
          <a:prstGeom xmlns:a="http://schemas.openxmlformats.org/drawingml/2006/main" prst="roundRect">
            <a:avLst>
              <a:gd name="adj" fmla="val 4839"/>
            </a:avLst>
          </a:prstGeom>
          <a:solidFill xmlns:a="http://schemas.openxmlformats.org/drawingml/2006/main">
            <a:srgbClr val="101827"/>
          </a:solidFill>
          <a:ln xmlns:a="http://schemas.openxmlformats.org/drawingml/2006/main" w="9525">
            <a:solidFill>
              <a:srgbClr val="3B3B3D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1D745C3-4941-400C-9818-58044A017C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124200"/>
            <a:ext cx="2876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200" b="1">
                <a:solidFill>
                  <a:srgbClr val="C7D7EA"/>
                </a:solidFill>
                <a:latin typeface="NanumSquare"/>
                <a:ea typeface="NanumSquare"/>
                <a:cs typeface="NanumSquare"/>
              </a:defRPr>
            </a:pPr>
            <a:r>
              <a:rPr sz="1200" b="1">
                <a:solidFill>
                  <a:srgbClr val="C7D7EA"/>
                </a:solidFill>
                <a:latin typeface="NanumSquare"/>
                <a:ea typeface="NanumSquare"/>
                <a:cs typeface="NanumSquare"/>
              </a:rPr>
              <a:t>SERVE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E3B7DE5-BE57-4334-8BAE-88B3A7F211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524250"/>
            <a:ext cx="28765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FFFFFF"/>
                </a:solidFill>
                <a:latin typeface="NanumSquare"/>
                <a:ea typeface="NanumSquare"/>
                <a:cs typeface="NanumSquare"/>
              </a:defRPr>
            </a:pPr>
            <a:r>
              <a:rPr sz="1800" b="1">
                <a:solidFill>
                  <a:srgbClr val="FFFFFF"/>
                </a:solidFill>
                <a:latin typeface="NanumSquare"/>
                <a:ea typeface="NanumSquare"/>
                <a:cs typeface="NanumSquare"/>
              </a:rPr>
              <a:t>GPU/LLM 서빙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ACD052C-FF49-4368-B145-37B47EDFB5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267200"/>
            <a:ext cx="28765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275" b="0">
                <a:solidFill>
                  <a:srgbClr val="D6D6D6"/>
                </a:solidFill>
                <a:latin typeface="NanumSquare"/>
                <a:ea typeface="NanumSquare"/>
                <a:cs typeface="NanumSquare"/>
              </a:defRPr>
            </a:pPr>
            <a:r>
              <a:rPr sz="1275" b="0">
                <a:solidFill>
                  <a:srgbClr val="D6D6D6"/>
                </a:solidFill>
                <a:latin typeface="NanumSquare"/>
                <a:ea typeface="NanumSquare"/>
                <a:cs typeface="NanumSquare"/>
              </a:rPr>
              <a:t>GPU, VRAM, CUDA, vLLM, Triton, 배치 처리, 지연 시간, 처리량</a:t>
            </a:r>
          </a:p>
        </p:txBody>
      </p:sp>
      <p:sp>
        <p:nvSpPr>
          <p:cNvPr id="8" name="card-2">
            <a:extLst xmlns:a="http://schemas.openxmlformats.org/drawingml/2006/main">
              <a:ext uri="{FF2B5EF4-FFF2-40B4-BE49-F238E27FC236}">
                <a16:creationId xmlns:a16="http://schemas.microsoft.com/office/drawing/2014/main" id="{D6C6D3C0-930F-4BB2-A14E-9524385E0A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2895600"/>
            <a:ext cx="3333750" cy="2362200"/>
          </a:xfrm>
          <a:prstGeom xmlns:a="http://schemas.openxmlformats.org/drawingml/2006/main" prst="roundRect">
            <a:avLst>
              <a:gd name="adj" fmla="val 4839"/>
            </a:avLst>
          </a:prstGeom>
          <a:solidFill xmlns:a="http://schemas.openxmlformats.org/drawingml/2006/main">
            <a:srgbClr val="101827"/>
          </a:solidFill>
          <a:ln xmlns:a="http://schemas.openxmlformats.org/drawingml/2006/main" w="9525">
            <a:solidFill>
              <a:srgbClr val="3B3B3D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E80B2AF-713B-48D8-B39D-EFE8EEAF52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3124200"/>
            <a:ext cx="2876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200" b="1">
                <a:solidFill>
                  <a:srgbClr val="C7D7EA"/>
                </a:solidFill>
                <a:latin typeface="NanumSquare"/>
                <a:ea typeface="NanumSquare"/>
                <a:cs typeface="NanumSquare"/>
              </a:defRPr>
            </a:pPr>
            <a:r>
              <a:rPr sz="1200" b="1">
                <a:solidFill>
                  <a:srgbClr val="C7D7EA"/>
                </a:solidFill>
                <a:latin typeface="NanumSquare"/>
                <a:ea typeface="NanumSquare"/>
                <a:cs typeface="NanumSquare"/>
              </a:rPr>
              <a:t>OBSERVE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1AF7AF0-D50A-4A77-AB4F-96DCF73543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3524250"/>
            <a:ext cx="28765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FFFFFF"/>
                </a:solidFill>
                <a:latin typeface="NanumSquare"/>
                <a:ea typeface="NanumSquare"/>
                <a:cs typeface="NanumSquare"/>
              </a:defRPr>
            </a:pPr>
            <a:r>
              <a:rPr sz="1800" b="1">
                <a:solidFill>
                  <a:srgbClr val="FFFFFF"/>
                </a:solidFill>
                <a:latin typeface="NanumSquare"/>
                <a:ea typeface="NanumSquare"/>
                <a:cs typeface="NanumSquare"/>
              </a:rPr>
              <a:t>관측성과 SRE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6F2AE44-3C34-44B6-8A31-4251F06266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4267200"/>
            <a:ext cx="28765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275" b="0">
                <a:solidFill>
                  <a:srgbClr val="D6D6D6"/>
                </a:solidFill>
                <a:latin typeface="NanumSquare"/>
                <a:ea typeface="NanumSquare"/>
                <a:cs typeface="NanumSquare"/>
              </a:defRPr>
            </a:pPr>
            <a:r>
              <a:rPr sz="1275" b="0">
                <a:solidFill>
                  <a:srgbClr val="D6D6D6"/>
                </a:solidFill>
                <a:latin typeface="NanumSquare"/>
                <a:ea typeface="NanumSquare"/>
                <a:cs typeface="NanumSquare"/>
              </a:rPr>
              <a:t>Log, Metric, Trace, Prometheus, Grafana, SLI/SLO/SLA</a:t>
            </a:r>
          </a:p>
        </p:txBody>
      </p:sp>
      <p:sp>
        <p:nvSpPr>
          <p:cNvPr id="12" name="card-3">
            <a:extLst xmlns:a="http://schemas.openxmlformats.org/drawingml/2006/main">
              <a:ext uri="{FF2B5EF4-FFF2-40B4-BE49-F238E27FC236}">
                <a16:creationId xmlns:a16="http://schemas.microsoft.com/office/drawing/2014/main" id="{036EDE5E-420B-4E04-AD4E-DC188243FD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2895600"/>
            <a:ext cx="3333750" cy="2362200"/>
          </a:xfrm>
          <a:prstGeom xmlns:a="http://schemas.openxmlformats.org/drawingml/2006/main" prst="roundRect">
            <a:avLst>
              <a:gd name="adj" fmla="val 4839"/>
            </a:avLst>
          </a:prstGeom>
          <a:solidFill xmlns:a="http://schemas.openxmlformats.org/drawingml/2006/main">
            <a:srgbClr val="101827"/>
          </a:solidFill>
          <a:ln xmlns:a="http://schemas.openxmlformats.org/drawingml/2006/main" w="9525">
            <a:solidFill>
              <a:srgbClr val="3B3B3D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953CA8B-FBAF-439E-BA81-DBD03A239D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3124200"/>
            <a:ext cx="2876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200" b="1">
                <a:solidFill>
                  <a:srgbClr val="C7D7EA"/>
                </a:solidFill>
                <a:latin typeface="NanumSquare"/>
                <a:ea typeface="NanumSquare"/>
                <a:cs typeface="NanumSquare"/>
              </a:defRPr>
            </a:pPr>
            <a:r>
              <a:rPr sz="1200" b="1">
                <a:solidFill>
                  <a:srgbClr val="C7D7EA"/>
                </a:solidFill>
                <a:latin typeface="NanumSquare"/>
                <a:ea typeface="NanumSquare"/>
                <a:cs typeface="NanumSquare"/>
              </a:rPr>
              <a:t>RELEASE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08152C8-A392-4B9E-9A95-D49FC90F09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3524250"/>
            <a:ext cx="28765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FFFFFF"/>
                </a:solidFill>
                <a:latin typeface="NanumSquare"/>
                <a:ea typeface="NanumSquare"/>
                <a:cs typeface="NanumSquare"/>
              </a:defRPr>
            </a:pPr>
            <a:r>
              <a:rPr sz="1800" b="1">
                <a:solidFill>
                  <a:srgbClr val="FFFFFF"/>
                </a:solidFill>
                <a:latin typeface="NanumSquare"/>
                <a:ea typeface="NanumSquare"/>
                <a:cs typeface="NanumSquare"/>
              </a:rPr>
              <a:t>GitOps 운영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9F4B7C6-CFD0-408F-BCEC-A22C9DCB46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4267200"/>
            <a:ext cx="28765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275" b="0">
                <a:solidFill>
                  <a:srgbClr val="D6D6D6"/>
                </a:solidFill>
                <a:latin typeface="NanumSquare"/>
                <a:ea typeface="NanumSquare"/>
                <a:cs typeface="NanumSquare"/>
              </a:defRPr>
            </a:pPr>
            <a:r>
              <a:rPr sz="1275" b="0">
                <a:solidFill>
                  <a:srgbClr val="D6D6D6"/>
                </a:solidFill>
                <a:latin typeface="NanumSquare"/>
                <a:ea typeface="NanumSquare"/>
                <a:cs typeface="NanumSquare"/>
              </a:rPr>
              <a:t>GitHub Actions, ArgoCD, Blue/Green, Canary, Rollback, Runbook</a:t>
            </a:r>
          </a:p>
        </p:txBody>
      </p:sp>
      <p:sp>
        <p:nvSpPr>
          <p:cNvPr id="16" name="footer-left">
            <a:extLst xmlns:a="http://schemas.openxmlformats.org/drawingml/2006/main">
              <a:ext uri="{FF2B5EF4-FFF2-40B4-BE49-F238E27FC236}">
                <a16:creationId xmlns:a16="http://schemas.microsoft.com/office/drawing/2014/main" id="{41018E97-A7DD-4B74-B024-2ED6F95258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476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825" b="0">
                <a:solidFill>
                  <a:srgbClr val="9CA8B8"/>
                </a:solidFill>
                <a:latin typeface="NanumSquare"/>
                <a:ea typeface="NanumSquare"/>
                <a:cs typeface="NanumSquare"/>
              </a:defRPr>
            </a:pPr>
            <a:r>
              <a:rPr sz="825" b="0">
                <a:solidFill>
                  <a:srgbClr val="9CA8B8"/>
                </a:solidFill>
                <a:latin typeface="NanumSquare"/>
                <a:ea typeface="NanumSquare"/>
                <a:cs typeface="NanumSquare"/>
              </a:rPr>
              <a:t>Goorm 20260701 AI Campus Prism 사전 특강</a:t>
            </a:r>
          </a:p>
        </p:txBody>
      </p:sp>
      <p:sp>
        <p:nvSpPr>
          <p:cNvPr id="17" name="footer-page">
            <a:extLst xmlns:a="http://schemas.openxmlformats.org/drawingml/2006/main">
              <a:ext uri="{FF2B5EF4-FFF2-40B4-BE49-F238E27FC236}">
                <a16:creationId xmlns:a16="http://schemas.microsoft.com/office/drawing/2014/main" id="{E2DD0F36-DF30-453B-B0BB-0267D3ACCD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6438900"/>
            <a:ext cx="400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lnSpc>
                <a:spcPct val="118000"/>
              </a:lnSpc>
              <a:buNone/>
              <a:defRPr sz="825" b="0">
                <a:solidFill>
                  <a:srgbClr val="9CA8B8"/>
                </a:solidFill>
                <a:latin typeface="NanumSquare"/>
                <a:ea typeface="NanumSquare"/>
                <a:cs typeface="NanumSquare"/>
              </a:defRPr>
            </a:pPr>
            <a:r>
              <a:rPr sz="825" b="0">
                <a:solidFill>
                  <a:srgbClr val="9CA8B8"/>
                </a:solidFill>
                <a:latin typeface="NanumSquare"/>
                <a:ea typeface="NanumSquare"/>
                <a:cs typeface="NanumSquare"/>
              </a:rPr>
              <a:t>25</a:t>
            </a:r>
          </a:p>
        </p:txBody>
      </p:sp>
    </p:spTree>
    <p:extLst>
      <p:ext uri="{BB962C8B-B14F-4D97-AF65-F5344CB8AC3E}">
        <p14:creationId xmlns:p14="http://schemas.microsoft.com/office/powerpoint/2010/main" val="1852862783"/>
      </p:ext>
    </p:extLst>
  </p:cSld>
</p:sld>
</file>

<file path=ppt/slides/slide2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eyebrow">
            <a:extLst xmlns:a="http://schemas.openxmlformats.org/drawingml/2006/main">
              <a:ext uri="{FF2B5EF4-FFF2-40B4-BE49-F238E27FC236}">
                <a16:creationId xmlns:a16="http://schemas.microsoft.com/office/drawing/2014/main" id="{A4F2CFA2-345C-40DE-AF68-16D54EE18B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815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975" b="1">
                <a:solidFill>
                  <a:srgbClr val="667085"/>
                </a:solidFill>
                <a:latin typeface="NanumSquare"/>
                <a:ea typeface="NanumSquare"/>
                <a:cs typeface="NanumSquare"/>
              </a:defRPr>
            </a:pPr>
            <a:r>
              <a:rPr sz="975" b="1">
                <a:solidFill>
                  <a:srgbClr val="667085"/>
                </a:solidFill>
                <a:latin typeface="NanumSquare"/>
                <a:ea typeface="NanumSquare"/>
                <a:cs typeface="NanumSquare"/>
              </a:rPr>
              <a:t>CURRICULUM BRIDGE 04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A2319938-A32D-4AF3-97F1-149ED0B472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38200"/>
            <a:ext cx="103632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2850" b="1">
                <a:solidFill>
                  <a:srgbClr val="1D1D1F"/>
                </a:solidFill>
                <a:latin typeface="NanumSquare"/>
                <a:ea typeface="NanumSquare"/>
                <a:cs typeface="NanumSquare"/>
              </a:defRPr>
            </a:pPr>
            <a:r>
              <a:rPr sz="2850" b="1">
                <a:solidFill>
                  <a:srgbClr val="1D1D1F"/>
                </a:solidFill>
                <a:latin typeface="NanumSquare"/>
                <a:ea typeface="NanumSquare"/>
                <a:cs typeface="NanumSquare"/>
              </a:rPr>
              <a:t>보안 과정의 현업 번역</a:t>
            </a:r>
          </a:p>
        </p:txBody>
      </p:sp>
      <p:sp>
        <p:nvSpPr>
          <p:cNvPr id="3" name="subtitle">
            <a:extLst xmlns:a="http://schemas.openxmlformats.org/drawingml/2006/main">
              <a:ext uri="{FF2B5EF4-FFF2-40B4-BE49-F238E27FC236}">
                <a16:creationId xmlns:a16="http://schemas.microsoft.com/office/drawing/2014/main" id="{4FF7741A-A290-47CE-8007-3C9B2FEA30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47850"/>
            <a:ext cx="103632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22000"/>
              </a:lnSpc>
              <a:buNone/>
              <a:defRPr sz="1575" b="0">
                <a:solidFill>
                  <a:srgbClr val="667085"/>
                </a:solidFill>
                <a:latin typeface="NanumSquare"/>
                <a:ea typeface="NanumSquare"/>
                <a:cs typeface="NanumSquare"/>
              </a:defRPr>
            </a:pPr>
            <a:r>
              <a:rPr sz="1575" b="0">
                <a:solidFill>
                  <a:srgbClr val="667085"/>
                </a:solidFill>
                <a:latin typeface="NanumSquare"/>
                <a:ea typeface="NanumSquare"/>
                <a:cs typeface="NanumSquare"/>
              </a:rPr>
              <a:t>AI를 더 많이 쓰려면, 더 정교하게 막고 감시하고 설명할 수 있어야 합니다.</a:t>
            </a:r>
          </a:p>
        </p:txBody>
      </p:sp>
      <p:sp>
        <p:nvSpPr>
          <p:cNvPr id="4" name="card-1">
            <a:extLst xmlns:a="http://schemas.openxmlformats.org/drawingml/2006/main">
              <a:ext uri="{FF2B5EF4-FFF2-40B4-BE49-F238E27FC236}">
                <a16:creationId xmlns:a16="http://schemas.microsoft.com/office/drawing/2014/main" id="{573D24E8-512D-48EE-849B-A853A463CD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0"/>
            <a:ext cx="3333750" cy="2362200"/>
          </a:xfrm>
          <a:prstGeom xmlns:a="http://schemas.openxmlformats.org/drawingml/2006/main" prst="roundRect">
            <a:avLst>
              <a:gd name="adj" fmla="val 483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DE4E9DF-2342-4952-A54E-565DEF3DE8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086100"/>
            <a:ext cx="2876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200" b="1">
                <a:solidFill>
                  <a:srgbClr val="0A2342"/>
                </a:solidFill>
                <a:latin typeface="NanumSquare"/>
                <a:ea typeface="NanumSquare"/>
                <a:cs typeface="NanumSquare"/>
              </a:defRPr>
            </a:pPr>
            <a:r>
              <a:rPr sz="1200" b="1">
                <a:solidFill>
                  <a:srgbClr val="0A2342"/>
                </a:solidFill>
                <a:latin typeface="NanumSquare"/>
                <a:ea typeface="NanumSquare"/>
                <a:cs typeface="NanumSquare"/>
              </a:rPr>
              <a:t>THREAT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AE3EAF7-9AB9-4759-ACB2-407C8B0F91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486150"/>
            <a:ext cx="28765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1D1D1F"/>
                </a:solidFill>
                <a:latin typeface="NanumSquare"/>
                <a:ea typeface="NanumSquare"/>
                <a:cs typeface="NanumSquare"/>
              </a:defRPr>
            </a:pPr>
            <a:r>
              <a:rPr sz="1800" b="1">
                <a:solidFill>
                  <a:srgbClr val="1D1D1F"/>
                </a:solidFill>
                <a:latin typeface="NanumSquare"/>
                <a:ea typeface="NanumSquare"/>
                <a:cs typeface="NanumSquare"/>
              </a:rPr>
              <a:t>AI 위협 모델링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5882429-9F62-471B-94D7-4FF267A2D4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229100"/>
            <a:ext cx="28765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275" b="0">
                <a:solidFill>
                  <a:srgbClr val="667085"/>
                </a:solidFill>
                <a:latin typeface="NanumSquare"/>
                <a:ea typeface="NanumSquare"/>
                <a:cs typeface="NanumSquare"/>
              </a:defRPr>
            </a:pPr>
            <a:r>
              <a:rPr sz="1275" b="0">
                <a:solidFill>
                  <a:srgbClr val="667085"/>
                </a:solidFill>
                <a:latin typeface="NanumSquare"/>
                <a:ea typeface="NanumSquare"/>
                <a:cs typeface="NanumSquare"/>
              </a:rPr>
              <a:t>LLM/RAG/Agent 구조, 공격 표면, 데이터 흐름, 보안 요구사항</a:t>
            </a:r>
          </a:p>
        </p:txBody>
      </p:sp>
      <p:sp>
        <p:nvSpPr>
          <p:cNvPr id="8" name="card-2">
            <a:extLst xmlns:a="http://schemas.openxmlformats.org/drawingml/2006/main">
              <a:ext uri="{FF2B5EF4-FFF2-40B4-BE49-F238E27FC236}">
                <a16:creationId xmlns:a16="http://schemas.microsoft.com/office/drawing/2014/main" id="{1E2D841E-030C-4C54-A4F0-30963CE172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2857500"/>
            <a:ext cx="3333750" cy="2362200"/>
          </a:xfrm>
          <a:prstGeom xmlns:a="http://schemas.openxmlformats.org/drawingml/2006/main" prst="roundRect">
            <a:avLst>
              <a:gd name="adj" fmla="val 483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DA31F4D-04ED-4485-B824-9F90F252AF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3086100"/>
            <a:ext cx="2876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200" b="1">
                <a:solidFill>
                  <a:srgbClr val="0A2342"/>
                </a:solidFill>
                <a:latin typeface="NanumSquare"/>
                <a:ea typeface="NanumSquare"/>
                <a:cs typeface="NanumSquare"/>
              </a:defRPr>
            </a:pPr>
            <a:r>
              <a:rPr sz="1200" b="1">
                <a:solidFill>
                  <a:srgbClr val="0A2342"/>
                </a:solidFill>
                <a:latin typeface="NanumSquare"/>
                <a:ea typeface="NanumSquare"/>
                <a:cs typeface="NanumSquare"/>
              </a:rPr>
              <a:t>ATTACK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DC63614-28DD-43F8-9FE4-DACD3E8F0D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3486150"/>
            <a:ext cx="28765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1D1D1F"/>
                </a:solidFill>
                <a:latin typeface="NanumSquare"/>
                <a:ea typeface="NanumSquare"/>
                <a:cs typeface="NanumSquare"/>
              </a:defRPr>
            </a:pPr>
            <a:r>
              <a:rPr sz="1800" b="1">
                <a:solidFill>
                  <a:srgbClr val="1D1D1F"/>
                </a:solidFill>
                <a:latin typeface="NanumSquare"/>
                <a:ea typeface="NanumSquare"/>
                <a:cs typeface="NanumSquare"/>
              </a:rPr>
              <a:t>레드팀과 취약점 검증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AFB0770-F1BC-4833-A049-C79C1A33E7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4229100"/>
            <a:ext cx="28765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275" b="0">
                <a:solidFill>
                  <a:srgbClr val="667085"/>
                </a:solidFill>
                <a:latin typeface="NanumSquare"/>
                <a:ea typeface="NanumSquare"/>
                <a:cs typeface="NanumSquare"/>
              </a:defRPr>
            </a:pPr>
            <a:r>
              <a:rPr sz="1275" b="0">
                <a:solidFill>
                  <a:srgbClr val="667085"/>
                </a:solidFill>
                <a:latin typeface="NanumSquare"/>
                <a:ea typeface="NanumSquare"/>
                <a:cs typeface="NanumSquare"/>
              </a:rPr>
              <a:t>Prompt Attack, Jailbreak, Tool Abuse, Data Exfiltration, 평가셋</a:t>
            </a:r>
          </a:p>
        </p:txBody>
      </p:sp>
      <p:sp>
        <p:nvSpPr>
          <p:cNvPr id="12" name="card-3">
            <a:extLst xmlns:a="http://schemas.openxmlformats.org/drawingml/2006/main">
              <a:ext uri="{FF2B5EF4-FFF2-40B4-BE49-F238E27FC236}">
                <a16:creationId xmlns:a16="http://schemas.microsoft.com/office/drawing/2014/main" id="{A8D8E38C-BFE5-4011-910A-97D26682A1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2857500"/>
            <a:ext cx="3333750" cy="2362200"/>
          </a:xfrm>
          <a:prstGeom xmlns:a="http://schemas.openxmlformats.org/drawingml/2006/main" prst="roundRect">
            <a:avLst>
              <a:gd name="adj" fmla="val 483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A797C36-CD66-488E-B2AA-E1E0F4416E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3086100"/>
            <a:ext cx="2876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200" b="1">
                <a:solidFill>
                  <a:srgbClr val="0A2342"/>
                </a:solidFill>
                <a:latin typeface="NanumSquare"/>
                <a:ea typeface="NanumSquare"/>
                <a:cs typeface="NanumSquare"/>
              </a:defRPr>
            </a:pPr>
            <a:r>
              <a:rPr sz="1200" b="1">
                <a:solidFill>
                  <a:srgbClr val="0A2342"/>
                </a:solidFill>
                <a:latin typeface="NanumSquare"/>
                <a:ea typeface="NanumSquare"/>
                <a:cs typeface="NanumSquare"/>
              </a:rPr>
              <a:t>DEFENSE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F832908-A38A-4C83-BAEC-DFEAB91DD7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3486150"/>
            <a:ext cx="28765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1D1D1F"/>
                </a:solidFill>
                <a:latin typeface="NanumSquare"/>
                <a:ea typeface="NanumSquare"/>
                <a:cs typeface="NanumSquare"/>
              </a:defRPr>
            </a:pPr>
            <a:r>
              <a:rPr sz="1800" b="1">
                <a:solidFill>
                  <a:srgbClr val="1D1D1F"/>
                </a:solidFill>
                <a:latin typeface="NanumSquare"/>
                <a:ea typeface="NanumSquare"/>
                <a:cs typeface="NanumSquare"/>
              </a:rPr>
              <a:t>가드레일 운영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AA7E385-99B3-4873-B258-69CFE73B5C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4229100"/>
            <a:ext cx="28765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275" b="0">
                <a:solidFill>
                  <a:srgbClr val="667085"/>
                </a:solidFill>
                <a:latin typeface="NanumSquare"/>
                <a:ea typeface="NanumSquare"/>
                <a:cs typeface="NanumSquare"/>
              </a:defRPr>
            </a:pPr>
            <a:r>
              <a:rPr sz="1275" b="0">
                <a:solidFill>
                  <a:srgbClr val="667085"/>
                </a:solidFill>
                <a:latin typeface="NanumSquare"/>
                <a:ea typeface="NanumSquare"/>
                <a:cs typeface="NanumSquare"/>
              </a:rPr>
              <a:t>입력/출력 정책, 권한 필터링, 위험 등급, 보안 대시보드, 알림</a:t>
            </a:r>
          </a:p>
        </p:txBody>
      </p:sp>
      <p:sp>
        <p:nvSpPr>
          <p:cNvPr id="16" name="footer-left">
            <a:extLst xmlns:a="http://schemas.openxmlformats.org/drawingml/2006/main">
              <a:ext uri="{FF2B5EF4-FFF2-40B4-BE49-F238E27FC236}">
                <a16:creationId xmlns:a16="http://schemas.microsoft.com/office/drawing/2014/main" id="{1F4CB312-B122-4588-B176-8EFB49A727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476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825" b="0">
                <a:solidFill>
                  <a:srgbClr val="667085"/>
                </a:solidFill>
                <a:latin typeface="NanumSquare"/>
                <a:ea typeface="NanumSquare"/>
                <a:cs typeface="NanumSquare"/>
              </a:defRPr>
            </a:pPr>
            <a:r>
              <a:rPr sz="825" b="0">
                <a:solidFill>
                  <a:srgbClr val="667085"/>
                </a:solidFill>
                <a:latin typeface="NanumSquare"/>
                <a:ea typeface="NanumSquare"/>
                <a:cs typeface="NanumSquare"/>
              </a:rPr>
              <a:t>Goorm 20260701 AI Campus Prism 사전 특강</a:t>
            </a:r>
          </a:p>
        </p:txBody>
      </p:sp>
      <p:sp>
        <p:nvSpPr>
          <p:cNvPr id="17" name="footer-page">
            <a:extLst xmlns:a="http://schemas.openxmlformats.org/drawingml/2006/main">
              <a:ext uri="{FF2B5EF4-FFF2-40B4-BE49-F238E27FC236}">
                <a16:creationId xmlns:a16="http://schemas.microsoft.com/office/drawing/2014/main" id="{BAF76832-37D4-4A99-873C-4E976E54B5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6438900"/>
            <a:ext cx="400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lnSpc>
                <a:spcPct val="118000"/>
              </a:lnSpc>
              <a:buNone/>
              <a:defRPr sz="825" b="0">
                <a:solidFill>
                  <a:srgbClr val="667085"/>
                </a:solidFill>
                <a:latin typeface="NanumSquare"/>
                <a:ea typeface="NanumSquare"/>
                <a:cs typeface="NanumSquare"/>
              </a:defRPr>
            </a:pPr>
            <a:r>
              <a:rPr sz="825" b="0">
                <a:solidFill>
                  <a:srgbClr val="667085"/>
                </a:solidFill>
                <a:latin typeface="NanumSquare"/>
                <a:ea typeface="NanumSquare"/>
                <a:cs typeface="NanumSquare"/>
              </a:rPr>
              <a:t>26</a:t>
            </a:r>
          </a:p>
        </p:txBody>
      </p:sp>
    </p:spTree>
    <p:extLst>
      <p:ext uri="{BB962C8B-B14F-4D97-AF65-F5344CB8AC3E}">
        <p14:creationId xmlns:p14="http://schemas.microsoft.com/office/powerpoint/2010/main" val="1073222230"/>
      </p:ext>
    </p:extLst>
  </p:cSld>
</p:sld>
</file>

<file path=ppt/slides/slide27.xml><?xml version="1.0" encoding="utf-8"?>
<p:sld xmlns:p="http://schemas.openxmlformats.org/presentationml/2006/main">
  <p:cSld>
    <p:bg>
      <p:bgPr>
        <a:solidFill xmlns:a="http://schemas.openxmlformats.org/drawingml/2006/main">
          <a:srgbClr val="F5F6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eyebrow">
            <a:extLst xmlns:a="http://schemas.openxmlformats.org/drawingml/2006/main">
              <a:ext uri="{FF2B5EF4-FFF2-40B4-BE49-F238E27FC236}">
                <a16:creationId xmlns:a16="http://schemas.microsoft.com/office/drawing/2014/main" id="{EFD916C7-D3F0-400B-8CAB-44D82C9BE8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815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975" b="1">
                <a:solidFill>
                  <a:srgbClr val="667085"/>
                </a:solidFill>
                <a:latin typeface="NanumSquare"/>
                <a:ea typeface="NanumSquare"/>
                <a:cs typeface="NanumSquare"/>
              </a:defRPr>
            </a:pPr>
            <a:r>
              <a:rPr sz="975" b="1">
                <a:solidFill>
                  <a:srgbClr val="667085"/>
                </a:solidFill>
                <a:latin typeface="NanumSquare"/>
                <a:ea typeface="NanumSquare"/>
                <a:cs typeface="NanumSquare"/>
              </a:rPr>
              <a:t>TEAM MODEL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F8924D88-E9F1-4F7F-8D17-A84ECCD381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38200"/>
            <a:ext cx="103632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2850" b="1">
                <a:solidFill>
                  <a:srgbClr val="1D1D1F"/>
                </a:solidFill>
                <a:latin typeface="NanumSquare"/>
                <a:ea typeface="NanumSquare"/>
                <a:cs typeface="NanumSquare"/>
              </a:defRPr>
            </a:pPr>
            <a:r>
              <a:rPr sz="2850" b="1">
                <a:solidFill>
                  <a:srgbClr val="1D1D1F"/>
                </a:solidFill>
                <a:latin typeface="NanumSquare"/>
                <a:ea typeface="NanumSquare"/>
                <a:cs typeface="NanumSquare"/>
              </a:rPr>
              <a:t>AI Native 팀의 협업 모델</a:t>
            </a:r>
          </a:p>
        </p:txBody>
      </p:sp>
      <p:sp>
        <p:nvSpPr>
          <p:cNvPr id="3" name="subtitle">
            <a:extLst xmlns:a="http://schemas.openxmlformats.org/drawingml/2006/main">
              <a:ext uri="{FF2B5EF4-FFF2-40B4-BE49-F238E27FC236}">
                <a16:creationId xmlns:a16="http://schemas.microsoft.com/office/drawing/2014/main" id="{2AE161A6-0D50-4AAE-9119-25DB1FAFE3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47850"/>
            <a:ext cx="103632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22000"/>
              </a:lnSpc>
              <a:buNone/>
              <a:defRPr sz="1575" b="0">
                <a:solidFill>
                  <a:srgbClr val="667085"/>
                </a:solidFill>
                <a:latin typeface="NanumSquare"/>
                <a:ea typeface="NanumSquare"/>
                <a:cs typeface="NanumSquare"/>
              </a:defRPr>
            </a:pPr>
            <a:r>
              <a:rPr sz="1575" b="0">
                <a:solidFill>
                  <a:srgbClr val="667085"/>
                </a:solidFill>
                <a:latin typeface="NanumSquare"/>
                <a:ea typeface="NanumSquare"/>
                <a:cs typeface="NanumSquare"/>
              </a:rPr>
              <a:t>좋은 AI 서비스는 한 직군의 천재성이 아니라, 역할 간 인터페이스가 명확할 때 만들어집니다.</a:t>
            </a:r>
          </a:p>
        </p:txBody>
      </p:sp>
      <p:sp>
        <p:nvSpPr>
          <p:cNvPr id="4" name="team-0">
            <a:extLst xmlns:a="http://schemas.openxmlformats.org/drawingml/2006/main">
              <a:ext uri="{FF2B5EF4-FFF2-40B4-BE49-F238E27FC236}">
                <a16:creationId xmlns:a16="http://schemas.microsoft.com/office/drawing/2014/main" id="{F7A2FE95-D755-470B-95D6-6017C5D712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2857500"/>
            <a:ext cx="2667000" cy="781050"/>
          </a:xfrm>
          <a:prstGeom xmlns:a="http://schemas.openxmlformats.org/drawingml/2006/main" prst="roundRect">
            <a:avLst>
              <a:gd name="adj" fmla="val 1463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4DE3084-4834-447D-8D9F-833162F4D9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3000375"/>
            <a:ext cx="2095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575" b="1">
                <a:solidFill>
                  <a:srgbClr val="0A2342"/>
                </a:solidFill>
                <a:latin typeface="NanumSquare"/>
                <a:ea typeface="NanumSquare"/>
                <a:cs typeface="NanumSquare"/>
              </a:defRPr>
            </a:pPr>
            <a:r>
              <a:rPr sz="1575" b="1">
                <a:solidFill>
                  <a:srgbClr val="0A2342"/>
                </a:solidFill>
                <a:latin typeface="NanumSquare"/>
                <a:ea typeface="NanumSquare"/>
                <a:cs typeface="NanumSquare"/>
              </a:rPr>
              <a:t>PM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592619C-321E-4C0E-88CB-E9B8BDAEB8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3324225"/>
            <a:ext cx="2095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75" b="0">
                <a:solidFill>
                  <a:srgbClr val="1D1D1F"/>
                </a:solidFill>
                <a:latin typeface="NanumSquare"/>
                <a:ea typeface="NanumSquare"/>
                <a:cs typeface="NanumSquare"/>
              </a:defRPr>
            </a:pPr>
            <a:r>
              <a:rPr sz="1275" b="0">
                <a:solidFill>
                  <a:srgbClr val="1D1D1F"/>
                </a:solidFill>
                <a:latin typeface="NanumSquare"/>
                <a:ea typeface="NanumSquare"/>
                <a:cs typeface="NanumSquare"/>
              </a:rPr>
              <a:t>문제·정책·지표</a:t>
            </a:r>
          </a:p>
        </p:txBody>
      </p:sp>
      <p:sp>
        <p:nvSpPr>
          <p:cNvPr id="7" name="team-1">
            <a:extLst xmlns:a="http://schemas.openxmlformats.org/drawingml/2006/main">
              <a:ext uri="{FF2B5EF4-FFF2-40B4-BE49-F238E27FC236}">
                <a16:creationId xmlns:a16="http://schemas.microsoft.com/office/drawing/2014/main" id="{DBF6A92D-89D9-482A-B39F-D7A518F2E9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2857500"/>
            <a:ext cx="2667000" cy="781050"/>
          </a:xfrm>
          <a:prstGeom xmlns:a="http://schemas.openxmlformats.org/drawingml/2006/main" prst="roundRect">
            <a:avLst>
              <a:gd name="adj" fmla="val 1463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FB5D5E8-D185-4FE8-843A-C4DE316296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3000375"/>
            <a:ext cx="2095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575" b="1">
                <a:solidFill>
                  <a:srgbClr val="0A2342"/>
                </a:solidFill>
                <a:latin typeface="NanumSquare"/>
                <a:ea typeface="NanumSquare"/>
                <a:cs typeface="NanumSquare"/>
              </a:defRPr>
            </a:pPr>
            <a:r>
              <a:rPr sz="1575" b="1">
                <a:solidFill>
                  <a:srgbClr val="0A2342"/>
                </a:solidFill>
                <a:latin typeface="NanumSquare"/>
                <a:ea typeface="NanumSquare"/>
                <a:cs typeface="NanumSquare"/>
              </a:rPr>
              <a:t>UX/UI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15504A7-F158-4EB7-898D-34ABEFA02A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3324225"/>
            <a:ext cx="2095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75" b="0">
                <a:solidFill>
                  <a:srgbClr val="1D1D1F"/>
                </a:solidFill>
                <a:latin typeface="NanumSquare"/>
                <a:ea typeface="NanumSquare"/>
                <a:cs typeface="NanumSquare"/>
              </a:defRPr>
            </a:pPr>
            <a:r>
              <a:rPr sz="1275" b="0">
                <a:solidFill>
                  <a:srgbClr val="1D1D1F"/>
                </a:solidFill>
                <a:latin typeface="NanumSquare"/>
                <a:ea typeface="NanumSquare"/>
                <a:cs typeface="NanumSquare"/>
              </a:rPr>
              <a:t>상태·신뢰·흐름</a:t>
            </a:r>
          </a:p>
        </p:txBody>
      </p:sp>
      <p:sp>
        <p:nvSpPr>
          <p:cNvPr id="10" name="team-2">
            <a:extLst xmlns:a="http://schemas.openxmlformats.org/drawingml/2006/main">
              <a:ext uri="{FF2B5EF4-FFF2-40B4-BE49-F238E27FC236}">
                <a16:creationId xmlns:a16="http://schemas.microsoft.com/office/drawing/2014/main" id="{B2F5888F-6AD9-40EA-9FC6-2E5C9BA323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2857500"/>
            <a:ext cx="2667000" cy="781050"/>
          </a:xfrm>
          <a:prstGeom xmlns:a="http://schemas.openxmlformats.org/drawingml/2006/main" prst="roundRect">
            <a:avLst>
              <a:gd name="adj" fmla="val 1463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092923E-C0B6-46C5-8DCE-9C65586300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3000375"/>
            <a:ext cx="2095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575" b="1">
                <a:solidFill>
                  <a:srgbClr val="0A2342"/>
                </a:solidFill>
                <a:latin typeface="NanumSquare"/>
                <a:ea typeface="NanumSquare"/>
                <a:cs typeface="NanumSquare"/>
              </a:defRPr>
            </a:pPr>
            <a:r>
              <a:rPr sz="1575" b="1">
                <a:solidFill>
                  <a:srgbClr val="0A2342"/>
                </a:solidFill>
                <a:latin typeface="NanumSquare"/>
                <a:ea typeface="NanumSquare"/>
                <a:cs typeface="NanumSquare"/>
              </a:rPr>
              <a:t>FE/BE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E407D75-4135-4CAF-8F20-D2322A3952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3324225"/>
            <a:ext cx="2095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75" b="0">
                <a:solidFill>
                  <a:srgbClr val="1D1D1F"/>
                </a:solidFill>
                <a:latin typeface="NanumSquare"/>
                <a:ea typeface="NanumSquare"/>
                <a:cs typeface="NanumSquare"/>
              </a:defRPr>
            </a:pPr>
            <a:r>
              <a:rPr sz="1275" b="0">
                <a:solidFill>
                  <a:srgbClr val="1D1D1F"/>
                </a:solidFill>
                <a:latin typeface="NanumSquare"/>
                <a:ea typeface="NanumSquare"/>
                <a:cs typeface="NanumSquare"/>
              </a:rPr>
              <a:t>API·상태·검증</a:t>
            </a:r>
          </a:p>
        </p:txBody>
      </p:sp>
      <p:sp>
        <p:nvSpPr>
          <p:cNvPr id="13" name="team-3">
            <a:extLst xmlns:a="http://schemas.openxmlformats.org/drawingml/2006/main">
              <a:ext uri="{FF2B5EF4-FFF2-40B4-BE49-F238E27FC236}">
                <a16:creationId xmlns:a16="http://schemas.microsoft.com/office/drawing/2014/main" id="{07854BE6-E46D-4619-ABF8-3871EEAD52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4000500"/>
            <a:ext cx="2667000" cy="781050"/>
          </a:xfrm>
          <a:prstGeom xmlns:a="http://schemas.openxmlformats.org/drawingml/2006/main" prst="roundRect">
            <a:avLst>
              <a:gd name="adj" fmla="val 1463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AEC9BAA-D544-41BA-83D7-42DD7F5420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4143375"/>
            <a:ext cx="2095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575" b="1">
                <a:solidFill>
                  <a:srgbClr val="0A2342"/>
                </a:solidFill>
                <a:latin typeface="NanumSquare"/>
                <a:ea typeface="NanumSquare"/>
                <a:cs typeface="NanumSquare"/>
              </a:defRPr>
            </a:pPr>
            <a:r>
              <a:rPr sz="1575" b="1">
                <a:solidFill>
                  <a:srgbClr val="0A2342"/>
                </a:solidFill>
                <a:latin typeface="NanumSquare"/>
                <a:ea typeface="NanumSquare"/>
                <a:cs typeface="NanumSquare"/>
              </a:rPr>
              <a:t>DATA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FB585C9-4371-4E31-86FA-FC9E06760A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4467225"/>
            <a:ext cx="2095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75" b="0">
                <a:solidFill>
                  <a:srgbClr val="1D1D1F"/>
                </a:solidFill>
                <a:latin typeface="NanumSquare"/>
                <a:ea typeface="NanumSquare"/>
                <a:cs typeface="NanumSquare"/>
              </a:defRPr>
            </a:pPr>
            <a:r>
              <a:rPr sz="1275" b="0">
                <a:solidFill>
                  <a:srgbClr val="1D1D1F"/>
                </a:solidFill>
                <a:latin typeface="NanumSquare"/>
                <a:ea typeface="NanumSquare"/>
                <a:cs typeface="NanumSquare"/>
              </a:rPr>
              <a:t>지식·품질·피드백</a:t>
            </a:r>
          </a:p>
        </p:txBody>
      </p:sp>
      <p:sp>
        <p:nvSpPr>
          <p:cNvPr id="16" name="team-4">
            <a:extLst xmlns:a="http://schemas.openxmlformats.org/drawingml/2006/main">
              <a:ext uri="{FF2B5EF4-FFF2-40B4-BE49-F238E27FC236}">
                <a16:creationId xmlns:a16="http://schemas.microsoft.com/office/drawing/2014/main" id="{CB5334E4-4AFA-4B7A-BE79-2C35959539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4000500"/>
            <a:ext cx="2667000" cy="781050"/>
          </a:xfrm>
          <a:prstGeom xmlns:a="http://schemas.openxmlformats.org/drawingml/2006/main" prst="roundRect">
            <a:avLst>
              <a:gd name="adj" fmla="val 1463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8B140C9-445E-4951-884D-ED89FF9B5B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4143375"/>
            <a:ext cx="2095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575" b="1">
                <a:solidFill>
                  <a:srgbClr val="0A2342"/>
                </a:solidFill>
                <a:latin typeface="NanumSquare"/>
                <a:ea typeface="NanumSquare"/>
                <a:cs typeface="NanumSquare"/>
              </a:defRPr>
            </a:pPr>
            <a:r>
              <a:rPr sz="1575" b="1">
                <a:solidFill>
                  <a:srgbClr val="0A2342"/>
                </a:solidFill>
                <a:latin typeface="NanumSquare"/>
                <a:ea typeface="NanumSquare"/>
                <a:cs typeface="NanumSquare"/>
              </a:rPr>
              <a:t>INFRA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A8730D7-C1F0-47ED-81EC-77A3168A1F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4467225"/>
            <a:ext cx="2095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75" b="0">
                <a:solidFill>
                  <a:srgbClr val="1D1D1F"/>
                </a:solidFill>
                <a:latin typeface="NanumSquare"/>
                <a:ea typeface="NanumSquare"/>
                <a:cs typeface="NanumSquare"/>
              </a:defRPr>
            </a:pPr>
            <a:r>
              <a:rPr sz="1275" b="0">
                <a:solidFill>
                  <a:srgbClr val="1D1D1F"/>
                </a:solidFill>
                <a:latin typeface="NanumSquare"/>
                <a:ea typeface="NanumSquare"/>
                <a:cs typeface="NanumSquare"/>
              </a:rPr>
              <a:t>서빙·관측·배포</a:t>
            </a:r>
          </a:p>
        </p:txBody>
      </p:sp>
      <p:sp>
        <p:nvSpPr>
          <p:cNvPr id="19" name="team-5">
            <a:extLst xmlns:a="http://schemas.openxmlformats.org/drawingml/2006/main">
              <a:ext uri="{FF2B5EF4-FFF2-40B4-BE49-F238E27FC236}">
                <a16:creationId xmlns:a16="http://schemas.microsoft.com/office/drawing/2014/main" id="{5749DD2D-20BD-49DD-A06B-2CC2261091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4000500"/>
            <a:ext cx="2667000" cy="781050"/>
          </a:xfrm>
          <a:prstGeom xmlns:a="http://schemas.openxmlformats.org/drawingml/2006/main" prst="roundRect">
            <a:avLst>
              <a:gd name="adj" fmla="val 1463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33DB512-A88C-4045-936F-0BBF4A29B7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4143375"/>
            <a:ext cx="2095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575" b="1">
                <a:solidFill>
                  <a:srgbClr val="0A2342"/>
                </a:solidFill>
                <a:latin typeface="NanumSquare"/>
                <a:ea typeface="NanumSquare"/>
                <a:cs typeface="NanumSquare"/>
              </a:defRPr>
            </a:pPr>
            <a:r>
              <a:rPr sz="1575" b="1">
                <a:solidFill>
                  <a:srgbClr val="0A2342"/>
                </a:solidFill>
                <a:latin typeface="NanumSquare"/>
                <a:ea typeface="NanumSquare"/>
                <a:cs typeface="NanumSquare"/>
              </a:rPr>
              <a:t>SECURITY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D8ECE50-650A-43CE-97F7-BD075413F9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4467225"/>
            <a:ext cx="2095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75" b="0">
                <a:solidFill>
                  <a:srgbClr val="1D1D1F"/>
                </a:solidFill>
                <a:latin typeface="NanumSquare"/>
                <a:ea typeface="NanumSquare"/>
                <a:cs typeface="NanumSquare"/>
              </a:defRPr>
            </a:pPr>
            <a:r>
              <a:rPr sz="1275" b="0">
                <a:solidFill>
                  <a:srgbClr val="1D1D1F"/>
                </a:solidFill>
                <a:latin typeface="NanumSquare"/>
                <a:ea typeface="NanumSquare"/>
                <a:cs typeface="NanumSquare"/>
              </a:rPr>
              <a:t>권한·공격·가드레일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260049D-D043-4F0E-8477-6926BEA65F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5391150"/>
            <a:ext cx="9239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18000"/>
              </a:lnSpc>
              <a:buNone/>
              <a:defRPr sz="1500" b="1">
                <a:solidFill>
                  <a:srgbClr val="1D1D1F"/>
                </a:solidFill>
                <a:latin typeface="NanumSquare"/>
                <a:ea typeface="NanumSquare"/>
                <a:cs typeface="NanumSquare"/>
              </a:defRPr>
            </a:pPr>
            <a:r>
              <a:rPr sz="1500" b="1">
                <a:solidFill>
                  <a:srgbClr val="1D1D1F"/>
                </a:solidFill>
                <a:latin typeface="NanumSquare"/>
                <a:ea typeface="NanumSquare"/>
                <a:cs typeface="NanumSquare"/>
              </a:rPr>
              <a:t>인터페이스 문서: PRD, API Spec, Data Contract, Eval Set, Runbook, Guardrail Policy</a:t>
            </a:r>
          </a:p>
        </p:txBody>
      </p:sp>
      <p:sp>
        <p:nvSpPr>
          <p:cNvPr id="23" name="footer-left">
            <a:extLst xmlns:a="http://schemas.openxmlformats.org/drawingml/2006/main">
              <a:ext uri="{FF2B5EF4-FFF2-40B4-BE49-F238E27FC236}">
                <a16:creationId xmlns:a16="http://schemas.microsoft.com/office/drawing/2014/main" id="{2EC3E230-4B58-440B-A255-43F0A740DA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476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825" b="0">
                <a:solidFill>
                  <a:srgbClr val="667085"/>
                </a:solidFill>
                <a:latin typeface="NanumSquare"/>
                <a:ea typeface="NanumSquare"/>
                <a:cs typeface="NanumSquare"/>
              </a:defRPr>
            </a:pPr>
            <a:r>
              <a:rPr sz="825" b="0">
                <a:solidFill>
                  <a:srgbClr val="667085"/>
                </a:solidFill>
                <a:latin typeface="NanumSquare"/>
                <a:ea typeface="NanumSquare"/>
                <a:cs typeface="NanumSquare"/>
              </a:rPr>
              <a:t>Goorm 20260701 AI Campus Prism 사전 특강</a:t>
            </a:r>
          </a:p>
        </p:txBody>
      </p:sp>
      <p:sp>
        <p:nvSpPr>
          <p:cNvPr id="24" name="footer-page">
            <a:extLst xmlns:a="http://schemas.openxmlformats.org/drawingml/2006/main">
              <a:ext uri="{FF2B5EF4-FFF2-40B4-BE49-F238E27FC236}">
                <a16:creationId xmlns:a16="http://schemas.microsoft.com/office/drawing/2014/main" id="{93B0FF52-667F-41E3-9C53-28EFD79AF0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6438900"/>
            <a:ext cx="400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lnSpc>
                <a:spcPct val="118000"/>
              </a:lnSpc>
              <a:buNone/>
              <a:defRPr sz="825" b="0">
                <a:solidFill>
                  <a:srgbClr val="667085"/>
                </a:solidFill>
                <a:latin typeface="NanumSquare"/>
                <a:ea typeface="NanumSquare"/>
                <a:cs typeface="NanumSquare"/>
              </a:defRPr>
            </a:pPr>
            <a:r>
              <a:rPr sz="825" b="0">
                <a:solidFill>
                  <a:srgbClr val="667085"/>
                </a:solidFill>
                <a:latin typeface="NanumSquare"/>
                <a:ea typeface="NanumSquare"/>
                <a:cs typeface="NanumSquare"/>
              </a:rPr>
              <a:t>27</a:t>
            </a:r>
          </a:p>
        </p:txBody>
      </p:sp>
    </p:spTree>
    <p:extLst>
      <p:ext uri="{BB962C8B-B14F-4D97-AF65-F5344CB8AC3E}">
        <p14:creationId xmlns:p14="http://schemas.microsoft.com/office/powerpoint/2010/main" val="649325550"/>
      </p:ext>
    </p:extLst>
  </p:cSld>
</p:sld>
</file>

<file path=ppt/slides/slide2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eyebrow">
            <a:extLst xmlns:a="http://schemas.openxmlformats.org/drawingml/2006/main">
              <a:ext uri="{FF2B5EF4-FFF2-40B4-BE49-F238E27FC236}">
                <a16:creationId xmlns:a16="http://schemas.microsoft.com/office/drawing/2014/main" id="{D5BCC9E6-7115-4CBB-9740-2F03635D0D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815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975" b="1">
                <a:solidFill>
                  <a:srgbClr val="667085"/>
                </a:solidFill>
                <a:latin typeface="NanumSquare"/>
                <a:ea typeface="NanumSquare"/>
                <a:cs typeface="NanumSquare"/>
              </a:defRPr>
            </a:pPr>
            <a:r>
              <a:rPr sz="975" b="1">
                <a:solidFill>
                  <a:srgbClr val="667085"/>
                </a:solidFill>
                <a:latin typeface="NanumSquare"/>
                <a:ea typeface="NanumSquare"/>
                <a:cs typeface="NanumSquare"/>
              </a:rPr>
              <a:t>CAREER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F570C812-058E-4A4A-8E3A-045F120223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38200"/>
            <a:ext cx="103632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2850" b="1">
                <a:solidFill>
                  <a:srgbClr val="1D1D1F"/>
                </a:solidFill>
                <a:latin typeface="NanumSquare"/>
                <a:ea typeface="NanumSquare"/>
                <a:cs typeface="NanumSquare"/>
              </a:defRPr>
            </a:pPr>
            <a:r>
              <a:rPr sz="2850" b="1">
                <a:solidFill>
                  <a:srgbClr val="1D1D1F"/>
                </a:solidFill>
                <a:latin typeface="NanumSquare"/>
                <a:ea typeface="NanumSquare"/>
                <a:cs typeface="NanumSquare"/>
              </a:rPr>
              <a:t>포트폴리오는 결과물이 아니라 의사결정 기록입니다</a:t>
            </a:r>
          </a:p>
        </p:txBody>
      </p:sp>
      <p:sp>
        <p:nvSpPr>
          <p:cNvPr id="3" name="subtitle">
            <a:extLst xmlns:a="http://schemas.openxmlformats.org/drawingml/2006/main">
              <a:ext uri="{FF2B5EF4-FFF2-40B4-BE49-F238E27FC236}">
                <a16:creationId xmlns:a16="http://schemas.microsoft.com/office/drawing/2014/main" id="{04B3C19B-42F9-4807-96D0-DAD93DF16C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47850"/>
            <a:ext cx="103632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22000"/>
              </a:lnSpc>
              <a:buNone/>
              <a:defRPr sz="1575" b="0">
                <a:solidFill>
                  <a:srgbClr val="667085"/>
                </a:solidFill>
                <a:latin typeface="NanumSquare"/>
                <a:ea typeface="NanumSquare"/>
                <a:cs typeface="NanumSquare"/>
              </a:defRPr>
            </a:pPr>
            <a:r>
              <a:rPr sz="1575" b="0">
                <a:solidFill>
                  <a:srgbClr val="667085"/>
                </a:solidFill>
                <a:latin typeface="NanumSquare"/>
                <a:ea typeface="NanumSquare"/>
                <a:cs typeface="NanumSquare"/>
              </a:rPr>
              <a:t>채용자는 ‘무엇을 만들었나’보다 ‘왜 그렇게 만들었고 어떻게 검증했나’를 봅니다.</a:t>
            </a:r>
          </a:p>
        </p:txBody>
      </p:sp>
      <p:sp>
        <p:nvSpPr>
          <p:cNvPr id="4" name="card-1">
            <a:extLst xmlns:a="http://schemas.openxmlformats.org/drawingml/2006/main">
              <a:ext uri="{FF2B5EF4-FFF2-40B4-BE49-F238E27FC236}">
                <a16:creationId xmlns:a16="http://schemas.microsoft.com/office/drawing/2014/main" id="{83469804-62C0-4637-AD43-E6F7955FE4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0"/>
            <a:ext cx="3333750" cy="2362200"/>
          </a:xfrm>
          <a:prstGeom xmlns:a="http://schemas.openxmlformats.org/drawingml/2006/main" prst="roundRect">
            <a:avLst>
              <a:gd name="adj" fmla="val 483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2130AC0-8189-461F-BA2F-820EE4C3D4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086100"/>
            <a:ext cx="2876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200" b="1">
                <a:solidFill>
                  <a:srgbClr val="0A2342"/>
                </a:solidFill>
                <a:latin typeface="NanumSquare"/>
                <a:ea typeface="NanumSquare"/>
                <a:cs typeface="NanumSquare"/>
              </a:defRPr>
            </a:pPr>
            <a:r>
              <a:rPr sz="1200" b="1">
                <a:solidFill>
                  <a:srgbClr val="0A2342"/>
                </a:solidFill>
                <a:latin typeface="NanumSquare"/>
                <a:ea typeface="NanumSquare"/>
                <a:cs typeface="NanumSquare"/>
              </a:rPr>
              <a:t>01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E902179-F662-4C87-852B-AB1FAB6C8D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486150"/>
            <a:ext cx="28765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1D1D1F"/>
                </a:solidFill>
                <a:latin typeface="NanumSquare"/>
                <a:ea typeface="NanumSquare"/>
                <a:cs typeface="NanumSquare"/>
              </a:defRPr>
            </a:pPr>
            <a:r>
              <a:rPr sz="1800" b="1">
                <a:solidFill>
                  <a:srgbClr val="1D1D1F"/>
                </a:solidFill>
                <a:latin typeface="NanumSquare"/>
                <a:ea typeface="NanumSquare"/>
                <a:cs typeface="NanumSquare"/>
              </a:rPr>
              <a:t>문제 정의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C67E71D-8244-4D3A-924B-6E9331A715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229100"/>
            <a:ext cx="28765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275" b="0">
                <a:solidFill>
                  <a:srgbClr val="667085"/>
                </a:solidFill>
                <a:latin typeface="NanumSquare"/>
                <a:ea typeface="NanumSquare"/>
                <a:cs typeface="NanumSquare"/>
              </a:defRPr>
            </a:pPr>
            <a:r>
              <a:rPr sz="1275" b="0">
                <a:solidFill>
                  <a:srgbClr val="667085"/>
                </a:solidFill>
                <a:latin typeface="NanumSquare"/>
                <a:ea typeface="NanumSquare"/>
                <a:cs typeface="NanumSquare"/>
              </a:rPr>
              <a:t>누구의 어떤 판단 비용을 줄였는지 한 문장으로 설명</a:t>
            </a:r>
          </a:p>
        </p:txBody>
      </p:sp>
      <p:sp>
        <p:nvSpPr>
          <p:cNvPr id="8" name="card-2">
            <a:extLst xmlns:a="http://schemas.openxmlformats.org/drawingml/2006/main">
              <a:ext uri="{FF2B5EF4-FFF2-40B4-BE49-F238E27FC236}">
                <a16:creationId xmlns:a16="http://schemas.microsoft.com/office/drawing/2014/main" id="{6546E319-26BC-4482-8B29-B3627EED35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2857500"/>
            <a:ext cx="3333750" cy="2362200"/>
          </a:xfrm>
          <a:prstGeom xmlns:a="http://schemas.openxmlformats.org/drawingml/2006/main" prst="roundRect">
            <a:avLst>
              <a:gd name="adj" fmla="val 483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5F48C8E-7A90-4055-AE06-BA0A77C95D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3086100"/>
            <a:ext cx="2876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200" b="1">
                <a:solidFill>
                  <a:srgbClr val="0A2342"/>
                </a:solidFill>
                <a:latin typeface="NanumSquare"/>
                <a:ea typeface="NanumSquare"/>
                <a:cs typeface="NanumSquare"/>
              </a:defRPr>
            </a:pPr>
            <a:r>
              <a:rPr sz="1200" b="1">
                <a:solidFill>
                  <a:srgbClr val="0A2342"/>
                </a:solidFill>
                <a:latin typeface="NanumSquare"/>
                <a:ea typeface="NanumSquare"/>
                <a:cs typeface="NanumSquare"/>
              </a:rPr>
              <a:t>02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FC7638C-3B3A-4322-A6F5-902EBFE6EF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3486150"/>
            <a:ext cx="28765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1D1D1F"/>
                </a:solidFill>
                <a:latin typeface="NanumSquare"/>
                <a:ea typeface="NanumSquare"/>
                <a:cs typeface="NanumSquare"/>
              </a:defRPr>
            </a:pPr>
            <a:r>
              <a:rPr sz="1800" b="1">
                <a:solidFill>
                  <a:srgbClr val="1D1D1F"/>
                </a:solidFill>
                <a:latin typeface="NanumSquare"/>
                <a:ea typeface="NanumSquare"/>
                <a:cs typeface="NanumSquare"/>
              </a:rPr>
              <a:t>AI 설계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4998D48-42CC-46B6-B42C-F8AA2F1341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4229100"/>
            <a:ext cx="28765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275" b="0">
                <a:solidFill>
                  <a:srgbClr val="667085"/>
                </a:solidFill>
                <a:latin typeface="NanumSquare"/>
                <a:ea typeface="NanumSquare"/>
                <a:cs typeface="NanumSquare"/>
              </a:defRPr>
            </a:pPr>
            <a:r>
              <a:rPr sz="1275" b="0">
                <a:solidFill>
                  <a:srgbClr val="667085"/>
                </a:solidFill>
                <a:latin typeface="NanumSquare"/>
                <a:ea typeface="NanumSquare"/>
                <a:cs typeface="NanumSquare"/>
              </a:rPr>
              <a:t>프롬프트, 도구, RAG, 정책, 실패 처리를 구조로 설명</a:t>
            </a:r>
          </a:p>
        </p:txBody>
      </p:sp>
      <p:sp>
        <p:nvSpPr>
          <p:cNvPr id="12" name="card-3">
            <a:extLst xmlns:a="http://schemas.openxmlformats.org/drawingml/2006/main">
              <a:ext uri="{FF2B5EF4-FFF2-40B4-BE49-F238E27FC236}">
                <a16:creationId xmlns:a16="http://schemas.microsoft.com/office/drawing/2014/main" id="{D5F91979-600B-424F-A066-554D9164E6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2857500"/>
            <a:ext cx="3333750" cy="2362200"/>
          </a:xfrm>
          <a:prstGeom xmlns:a="http://schemas.openxmlformats.org/drawingml/2006/main" prst="roundRect">
            <a:avLst>
              <a:gd name="adj" fmla="val 483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CDF4D8E-2F87-4188-8F67-C3A1751F1F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3086100"/>
            <a:ext cx="2876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200" b="1">
                <a:solidFill>
                  <a:srgbClr val="0A2342"/>
                </a:solidFill>
                <a:latin typeface="NanumSquare"/>
                <a:ea typeface="NanumSquare"/>
                <a:cs typeface="NanumSquare"/>
              </a:defRPr>
            </a:pPr>
            <a:r>
              <a:rPr sz="1200" b="1">
                <a:solidFill>
                  <a:srgbClr val="0A2342"/>
                </a:solidFill>
                <a:latin typeface="NanumSquare"/>
                <a:ea typeface="NanumSquare"/>
                <a:cs typeface="NanumSquare"/>
              </a:rPr>
              <a:t>03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567EC20-7507-452B-BEEF-F438997ED8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3486150"/>
            <a:ext cx="28765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1D1D1F"/>
                </a:solidFill>
                <a:latin typeface="NanumSquare"/>
                <a:ea typeface="NanumSquare"/>
                <a:cs typeface="NanumSquare"/>
              </a:defRPr>
            </a:pPr>
            <a:r>
              <a:rPr sz="1800" b="1">
                <a:solidFill>
                  <a:srgbClr val="1D1D1F"/>
                </a:solidFill>
                <a:latin typeface="NanumSquare"/>
                <a:ea typeface="NanumSquare"/>
                <a:cs typeface="NanumSquare"/>
              </a:rPr>
              <a:t>검증과 학습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FEE058C-37ED-4566-B422-1E8521C622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4229100"/>
            <a:ext cx="28765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275" b="0">
                <a:solidFill>
                  <a:srgbClr val="667085"/>
                </a:solidFill>
                <a:latin typeface="NanumSquare"/>
                <a:ea typeface="NanumSquare"/>
                <a:cs typeface="NanumSquare"/>
              </a:defRPr>
            </a:pPr>
            <a:r>
              <a:rPr sz="1275" b="0">
                <a:solidFill>
                  <a:srgbClr val="667085"/>
                </a:solidFill>
                <a:latin typeface="NanumSquare"/>
                <a:ea typeface="NanumSquare"/>
                <a:cs typeface="NanumSquare"/>
              </a:rPr>
              <a:t>사용자 테스트, 평가셋, 로그, 지표 변화, 다음 개선안</a:t>
            </a:r>
          </a:p>
        </p:txBody>
      </p:sp>
      <p:sp>
        <p:nvSpPr>
          <p:cNvPr id="16" name="footer-left">
            <a:extLst xmlns:a="http://schemas.openxmlformats.org/drawingml/2006/main">
              <a:ext uri="{FF2B5EF4-FFF2-40B4-BE49-F238E27FC236}">
                <a16:creationId xmlns:a16="http://schemas.microsoft.com/office/drawing/2014/main" id="{38CE967D-3811-44E6-A03D-8C4BC077A1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476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825" b="0">
                <a:solidFill>
                  <a:srgbClr val="667085"/>
                </a:solidFill>
                <a:latin typeface="NanumSquare"/>
                <a:ea typeface="NanumSquare"/>
                <a:cs typeface="NanumSquare"/>
              </a:defRPr>
            </a:pPr>
            <a:r>
              <a:rPr sz="825" b="0">
                <a:solidFill>
                  <a:srgbClr val="667085"/>
                </a:solidFill>
                <a:latin typeface="NanumSquare"/>
                <a:ea typeface="NanumSquare"/>
                <a:cs typeface="NanumSquare"/>
              </a:rPr>
              <a:t>Goorm 20260701 AI Campus Prism 사전 특강</a:t>
            </a:r>
          </a:p>
        </p:txBody>
      </p:sp>
      <p:sp>
        <p:nvSpPr>
          <p:cNvPr id="17" name="footer-page">
            <a:extLst xmlns:a="http://schemas.openxmlformats.org/drawingml/2006/main">
              <a:ext uri="{FF2B5EF4-FFF2-40B4-BE49-F238E27FC236}">
                <a16:creationId xmlns:a16="http://schemas.microsoft.com/office/drawing/2014/main" id="{1081AD73-C680-4F17-8CC5-6A02B896A9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6438900"/>
            <a:ext cx="400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lnSpc>
                <a:spcPct val="118000"/>
              </a:lnSpc>
              <a:buNone/>
              <a:defRPr sz="825" b="0">
                <a:solidFill>
                  <a:srgbClr val="667085"/>
                </a:solidFill>
                <a:latin typeface="NanumSquare"/>
                <a:ea typeface="NanumSquare"/>
                <a:cs typeface="NanumSquare"/>
              </a:defRPr>
            </a:pPr>
            <a:r>
              <a:rPr sz="825" b="0">
                <a:solidFill>
                  <a:srgbClr val="667085"/>
                </a:solidFill>
                <a:latin typeface="NanumSquare"/>
                <a:ea typeface="NanumSquare"/>
                <a:cs typeface="NanumSquare"/>
              </a:rPr>
              <a:t>28</a:t>
            </a:r>
          </a:p>
        </p:txBody>
      </p:sp>
    </p:spTree>
    <p:extLst>
      <p:ext uri="{BB962C8B-B14F-4D97-AF65-F5344CB8AC3E}">
        <p14:creationId xmlns:p14="http://schemas.microsoft.com/office/powerpoint/2010/main" val="1124255924"/>
      </p:ext>
    </p:extLst>
  </p:cSld>
</p:sld>
</file>

<file path=ppt/slides/slide29.xml><?xml version="1.0" encoding="utf-8"?>
<p:sld xmlns:p="http://schemas.openxmlformats.org/presentationml/2006/main">
  <p:cSld>
    <p:bg>
      <p:bgPr>
        <a:solidFill xmlns:a="http://schemas.openxmlformats.org/drawingml/2006/main">
          <a:srgbClr val="070B1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6FCAA8E1-DC09-4E22-AD9D-04E5657408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3340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975" b="1">
                <a:solidFill>
                  <a:srgbClr val="CCCCCC"/>
                </a:solidFill>
                <a:latin typeface="NanumSquare"/>
                <a:ea typeface="NanumSquare"/>
                <a:cs typeface="NanumSquare"/>
              </a:defRPr>
            </a:pPr>
            <a:r>
              <a:rPr sz="975" b="1">
                <a:solidFill>
                  <a:srgbClr val="CCCCCC"/>
                </a:solidFill>
                <a:latin typeface="NanumSquare"/>
                <a:ea typeface="NanumSquare"/>
                <a:cs typeface="NanumSquare"/>
              </a:rPr>
              <a:t>AI CAMPUS PRISM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3B68325-F443-46F0-943E-779729AD0A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19300"/>
            <a:ext cx="93345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3900" b="1">
                <a:solidFill>
                  <a:srgbClr val="FFFFFF"/>
                </a:solidFill>
                <a:latin typeface="NanumSquare"/>
                <a:ea typeface="NanumSquare"/>
                <a:cs typeface="NanumSquare"/>
              </a:defRPr>
            </a:pPr>
            <a:r>
              <a:rPr sz="3900" b="1">
                <a:solidFill>
                  <a:srgbClr val="FFFFFF"/>
                </a:solidFill>
                <a:latin typeface="NanumSquare"/>
                <a:ea typeface="NanumSquare"/>
                <a:cs typeface="NanumSquare"/>
              </a:rPr>
              <a:t>참고 기술과 디자인 레퍼런스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CC5E32B-248D-4079-B4FE-3DC443F950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67100"/>
            <a:ext cx="8382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800" b="0">
                <a:solidFill>
                  <a:srgbClr val="D6D6D6"/>
                </a:solidFill>
                <a:latin typeface="NanumSquare"/>
                <a:ea typeface="NanumSquare"/>
                <a:cs typeface="NanumSquare"/>
              </a:defRPr>
            </a:pPr>
            <a:r>
              <a:rPr sz="1800" b="0">
                <a:solidFill>
                  <a:srgbClr val="D6D6D6"/>
                </a:solidFill>
                <a:latin typeface="NanumSquare"/>
                <a:ea typeface="NanumSquare"/>
                <a:cs typeface="NanumSquare"/>
              </a:rPr>
              <a:t>아래 레퍼런스들은 ‘무엇을 베꼈는가’가 아니라, 어떤 기준으로 설계 언어와 기술 언어를 정리했는가를 보여줍니다.</a:t>
            </a:r>
          </a:p>
        </p:txBody>
      </p:sp>
      <p:sp>
        <p:nvSpPr>
          <p:cNvPr id="4" name="footer-left">
            <a:extLst xmlns:a="http://schemas.openxmlformats.org/drawingml/2006/main">
              <a:ext uri="{FF2B5EF4-FFF2-40B4-BE49-F238E27FC236}">
                <a16:creationId xmlns:a16="http://schemas.microsoft.com/office/drawing/2014/main" id="{852F5B9C-4B02-483C-A7C9-99F608D6CE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476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825" b="0">
                <a:solidFill>
                  <a:srgbClr val="9CA8B8"/>
                </a:solidFill>
                <a:latin typeface="NanumSquare"/>
                <a:ea typeface="NanumSquare"/>
                <a:cs typeface="NanumSquare"/>
              </a:defRPr>
            </a:pPr>
            <a:r>
              <a:rPr sz="825" b="0">
                <a:solidFill>
                  <a:srgbClr val="9CA8B8"/>
                </a:solidFill>
                <a:latin typeface="NanumSquare"/>
                <a:ea typeface="NanumSquare"/>
                <a:cs typeface="NanumSquare"/>
              </a:rPr>
              <a:t>Goorm 20260701 AI Campus Prism 사전 특강</a:t>
            </a:r>
          </a:p>
        </p:txBody>
      </p:sp>
      <p:sp>
        <p:nvSpPr>
          <p:cNvPr id="5" name="footer-page">
            <a:extLst xmlns:a="http://schemas.openxmlformats.org/drawingml/2006/main">
              <a:ext uri="{FF2B5EF4-FFF2-40B4-BE49-F238E27FC236}">
                <a16:creationId xmlns:a16="http://schemas.microsoft.com/office/drawing/2014/main" id="{D245E762-0B45-4227-82A0-8CF9B93676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6438900"/>
            <a:ext cx="400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lnSpc>
                <a:spcPct val="118000"/>
              </a:lnSpc>
              <a:buNone/>
              <a:defRPr sz="825" b="0">
                <a:solidFill>
                  <a:srgbClr val="9CA8B8"/>
                </a:solidFill>
                <a:latin typeface="NanumSquare"/>
                <a:ea typeface="NanumSquare"/>
                <a:cs typeface="NanumSquare"/>
              </a:defRPr>
            </a:pPr>
            <a:r>
              <a:rPr sz="825" b="0">
                <a:solidFill>
                  <a:srgbClr val="9CA8B8"/>
                </a:solidFill>
                <a:latin typeface="NanumSquare"/>
                <a:ea typeface="NanumSquare"/>
                <a:cs typeface="NanumSquare"/>
              </a:rPr>
              <a:t>29</a:t>
            </a:r>
          </a:p>
        </p:txBody>
      </p:sp>
    </p:spTree>
    <p:extLst>
      <p:ext uri="{BB962C8B-B14F-4D97-AF65-F5344CB8AC3E}">
        <p14:creationId xmlns:p14="http://schemas.microsoft.com/office/powerpoint/2010/main" val="1001910715"/>
      </p:ext>
    </p:extLst>
  </p:cSld>
</p:sld>
</file>

<file path=ppt/slides/slide30.xml><?xml version="1.0" encoding="utf-8"?>
<p:sld xmlns:p="http://schemas.openxmlformats.org/presentationml/2006/main">
  <p:cSld>
    <p:bg>
      <p:bgPr>
        <a:solidFill xmlns:a="http://schemas.openxmlformats.org/drawingml/2006/main">
          <a:srgbClr val="F5F6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eyebrow">
            <a:extLst xmlns:a="http://schemas.openxmlformats.org/drawingml/2006/main">
              <a:ext uri="{FF2B5EF4-FFF2-40B4-BE49-F238E27FC236}">
                <a16:creationId xmlns:a16="http://schemas.microsoft.com/office/drawing/2014/main" id="{C69F28E7-DB6B-47DD-99BA-F170C49E05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815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975" b="1">
                <a:solidFill>
                  <a:srgbClr val="667085"/>
                </a:solidFill>
                <a:latin typeface="NanumSquare"/>
                <a:ea typeface="NanumSquare"/>
                <a:cs typeface="NanumSquare"/>
              </a:defRPr>
            </a:pPr>
            <a:r>
              <a:rPr sz="975" b="1">
                <a:solidFill>
                  <a:srgbClr val="667085"/>
                </a:solidFill>
                <a:latin typeface="NanumSquare"/>
                <a:ea typeface="NanumSquare"/>
                <a:cs typeface="NanumSquare"/>
              </a:rPr>
              <a:t>REFERENCE 01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C2060013-BC21-4D70-A54F-8A66E3E1C2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38200"/>
            <a:ext cx="103632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2850" b="1">
                <a:solidFill>
                  <a:srgbClr val="1D1D1F"/>
                </a:solidFill>
                <a:latin typeface="NanumSquare"/>
                <a:ea typeface="NanumSquare"/>
                <a:cs typeface="NanumSquare"/>
              </a:defRPr>
            </a:pPr>
            <a:r>
              <a:rPr sz="2850" b="1">
                <a:solidFill>
                  <a:srgbClr val="1D1D1F"/>
                </a:solidFill>
                <a:latin typeface="NanumSquare"/>
                <a:ea typeface="NanumSquare"/>
                <a:cs typeface="NanumSquare"/>
              </a:rPr>
              <a:t>Design System: getdesign.md + Apple tokens</a:t>
            </a:r>
          </a:p>
        </p:txBody>
      </p:sp>
      <p:sp>
        <p:nvSpPr>
          <p:cNvPr id="3" name="subtitle">
            <a:extLst xmlns:a="http://schemas.openxmlformats.org/drawingml/2006/main">
              <a:ext uri="{FF2B5EF4-FFF2-40B4-BE49-F238E27FC236}">
                <a16:creationId xmlns:a16="http://schemas.microsoft.com/office/drawing/2014/main" id="{5BCB0179-0498-41E6-B47A-3DDE74FC3D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47850"/>
            <a:ext cx="103632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22000"/>
              </a:lnSpc>
              <a:buNone/>
              <a:defRPr sz="1575" b="0">
                <a:solidFill>
                  <a:srgbClr val="667085"/>
                </a:solidFill>
                <a:latin typeface="NanumSquare"/>
                <a:ea typeface="NanumSquare"/>
                <a:cs typeface="NanumSquare"/>
              </a:defRPr>
            </a:pPr>
            <a:r>
              <a:rPr sz="1575" b="0">
                <a:solidFill>
                  <a:srgbClr val="667085"/>
                </a:solidFill>
                <a:latin typeface="NanumSquare"/>
                <a:ea typeface="NanumSquare"/>
                <a:cs typeface="NanumSquare"/>
              </a:rPr>
              <a:t>이번 자료는 로컬 DESIGN-apple.md의 토큰을 발표용 디자인 시스템으로 재구성했습니다.</a:t>
            </a:r>
          </a:p>
        </p:txBody>
      </p:sp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4178fdbfdb34080"/>
          <a:srcRect xmlns:a="http://schemas.openxmlformats.org/drawingml/2006/main" l="0" t="6000" r="0" b="600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76300" y="2628900"/>
            <a:ext cx="4953000" cy="2724150"/>
          </a:xfrm>
          <a:prstGeom xmlns:a="http://schemas.openxmlformats.org/drawingml/2006/main" prst="roundRect">
            <a:avLst>
              <a:gd name="adj" fmla="val 4196"/>
            </a:avLst>
          </a:prstGeom>
        </p:spPr>
      </p:pic>
      <p:sp>
        <p:nvSpPr>
          <p:cNvPr id="5" name="token-panel">
            <a:extLst xmlns:a="http://schemas.openxmlformats.org/drawingml/2006/main">
              <a:ext uri="{FF2B5EF4-FFF2-40B4-BE49-F238E27FC236}">
                <a16:creationId xmlns:a16="http://schemas.microsoft.com/office/drawing/2014/main" id="{B4E6B22D-B8A7-4162-9EDD-6AF57F6291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2628900"/>
            <a:ext cx="4857750" cy="2724150"/>
          </a:xfrm>
          <a:prstGeom xmlns:a="http://schemas.openxmlformats.org/drawingml/2006/main" prst="roundRect">
            <a:avLst>
              <a:gd name="adj" fmla="val 419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B79F4E4-2EA1-4EFE-BBCC-216B838A28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2990850"/>
            <a:ext cx="4095750" cy="1962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22000"/>
              </a:lnSpc>
              <a:buNone/>
              <a:defRPr sz="1275" b="0">
                <a:solidFill>
                  <a:srgbClr val="1D1D1F"/>
                </a:solidFill>
                <a:latin typeface="NanumSquare"/>
                <a:ea typeface="NanumSquare"/>
                <a:cs typeface="NanumSquare"/>
              </a:defRPr>
            </a:pPr>
            <a:r>
              <a:rPr sz="1275" b="0">
                <a:solidFill>
                  <a:srgbClr val="1D1D1F"/>
                </a:solidFill>
                <a:latin typeface="NanumSquare"/>
                <a:ea typeface="NanumSquare"/>
                <a:cs typeface="NanumSquare"/>
              </a:rPr>
              <a:t>• Deep Navy #0A2342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22000"/>
              </a:lnSpc>
              <a:buNone/>
              <a:defRPr sz="1275" b="0">
                <a:solidFill>
                  <a:srgbClr val="1D1D1F"/>
                </a:solidFill>
                <a:latin typeface="NanumSquare"/>
                <a:ea typeface="NanumSquare"/>
                <a:cs typeface="NanumSquare"/>
              </a:defRPr>
            </a:pPr>
            <a:r>
              <a:rPr sz="1275" b="0">
                <a:solidFill>
                  <a:srgbClr val="1D1D1F"/>
                </a:solidFill>
                <a:latin typeface="NanumSquare"/>
                <a:ea typeface="NanumSquare"/>
                <a:cs typeface="NanumSquare"/>
              </a:rPr>
              <a:t>• white / parchment / near-black rhythm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22000"/>
              </a:lnSpc>
              <a:buNone/>
              <a:defRPr sz="1275" b="0">
                <a:solidFill>
                  <a:srgbClr val="1D1D1F"/>
                </a:solidFill>
                <a:latin typeface="NanumSquare"/>
                <a:ea typeface="NanumSquare"/>
                <a:cs typeface="NanumSquare"/>
              </a:defRPr>
            </a:pPr>
            <a:r>
              <a:rPr sz="1275" b="0">
                <a:solidFill>
                  <a:srgbClr val="1D1D1F"/>
                </a:solidFill>
                <a:latin typeface="NanumSquare"/>
                <a:ea typeface="NanumSquare"/>
                <a:cs typeface="NanumSquare"/>
              </a:rPr>
              <a:t>• 큰 헤드라인, 낮은 밀도, 깊은 여백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22000"/>
              </a:lnSpc>
              <a:buNone/>
              <a:defRPr sz="1275" b="0">
                <a:solidFill>
                  <a:srgbClr val="1D1D1F"/>
                </a:solidFill>
                <a:latin typeface="NanumSquare"/>
                <a:ea typeface="NanumSquare"/>
                <a:cs typeface="NanumSquare"/>
              </a:defRPr>
            </a:pPr>
            <a:r>
              <a:rPr sz="1275" b="0">
                <a:solidFill>
                  <a:srgbClr val="1D1D1F"/>
                </a:solidFill>
                <a:latin typeface="NanumSquare"/>
                <a:ea typeface="NanumSquare"/>
                <a:cs typeface="NanumSquare"/>
              </a:rPr>
              <a:t>• full-bleed section 중심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22000"/>
              </a:lnSpc>
              <a:buNone/>
              <a:defRPr sz="1275" b="0">
                <a:solidFill>
                  <a:srgbClr val="1D1D1F"/>
                </a:solidFill>
                <a:latin typeface="NanumSquare"/>
                <a:ea typeface="NanumSquare"/>
                <a:cs typeface="NanumSquare"/>
              </a:defRPr>
            </a:pPr>
            <a:r>
              <a:rPr sz="1275" b="0">
                <a:solidFill>
                  <a:srgbClr val="1D1D1F"/>
                </a:solidFill>
                <a:latin typeface="NanumSquare"/>
                <a:ea typeface="NanumSquare"/>
                <a:cs typeface="NanumSquare"/>
              </a:rPr>
              <a:t>• tokens + components saved in designs/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6128ADD-D31C-43D3-91FE-7E28804D15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505450"/>
            <a:ext cx="4953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975" b="0">
                <a:solidFill>
                  <a:srgbClr val="0A2342"/>
                </a:solidFill>
                <a:latin typeface="NanumSquare"/>
                <a:ea typeface="NanumSquare"/>
                <a:cs typeface="NanumSquare"/>
              </a:defRPr>
            </a:pPr>
            <a:r>
              <a:rPr sz="975" b="0">
                <a:solidFill>
                  <a:srgbClr val="0A2342"/>
                </a:solidFill>
                <a:latin typeface="NanumSquare"/>
                <a:ea typeface="NanumSquare"/>
                <a:cs typeface="NanumSquare"/>
              </a:rPr>
              <a:t>https://getdesign.md/</a:t>
            </a:r>
          </a:p>
        </p:txBody>
      </p:sp>
      <p:sp>
        <p:nvSpPr>
          <p:cNvPr id="8" name="footer-left">
            <a:extLst xmlns:a="http://schemas.openxmlformats.org/drawingml/2006/main">
              <a:ext uri="{FF2B5EF4-FFF2-40B4-BE49-F238E27FC236}">
                <a16:creationId xmlns:a16="http://schemas.microsoft.com/office/drawing/2014/main" id="{B0F09875-D247-4EB8-9300-382643D07F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476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825" b="0">
                <a:solidFill>
                  <a:srgbClr val="667085"/>
                </a:solidFill>
                <a:latin typeface="NanumSquare"/>
                <a:ea typeface="NanumSquare"/>
                <a:cs typeface="NanumSquare"/>
              </a:defRPr>
            </a:pPr>
            <a:r>
              <a:rPr sz="825" b="0">
                <a:solidFill>
                  <a:srgbClr val="667085"/>
                </a:solidFill>
                <a:latin typeface="NanumSquare"/>
                <a:ea typeface="NanumSquare"/>
                <a:cs typeface="NanumSquare"/>
              </a:rPr>
              <a:t>Goorm 20260701 AI Campus Prism 사전 특강</a:t>
            </a:r>
          </a:p>
        </p:txBody>
      </p:sp>
      <p:sp>
        <p:nvSpPr>
          <p:cNvPr id="9" name="footer-page">
            <a:extLst xmlns:a="http://schemas.openxmlformats.org/drawingml/2006/main">
              <a:ext uri="{FF2B5EF4-FFF2-40B4-BE49-F238E27FC236}">
                <a16:creationId xmlns:a16="http://schemas.microsoft.com/office/drawing/2014/main" id="{1042AAA9-E6D6-4FC4-AAAB-E97CE7BB45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6438900"/>
            <a:ext cx="400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lnSpc>
                <a:spcPct val="118000"/>
              </a:lnSpc>
              <a:buNone/>
              <a:defRPr sz="825" b="0">
                <a:solidFill>
                  <a:srgbClr val="667085"/>
                </a:solidFill>
                <a:latin typeface="NanumSquare"/>
                <a:ea typeface="NanumSquare"/>
                <a:cs typeface="NanumSquare"/>
              </a:defRPr>
            </a:pPr>
            <a:r>
              <a:rPr sz="825" b="0">
                <a:solidFill>
                  <a:srgbClr val="667085"/>
                </a:solidFill>
                <a:latin typeface="NanumSquare"/>
                <a:ea typeface="NanumSquare"/>
                <a:cs typeface="NanumSquare"/>
              </a:rPr>
              <a:t>30</a:t>
            </a:r>
          </a:p>
        </p:txBody>
      </p:sp>
    </p:spTree>
    <p:extLst>
      <p:ext uri="{BB962C8B-B14F-4D97-AF65-F5344CB8AC3E}">
        <p14:creationId xmlns:p14="http://schemas.microsoft.com/office/powerpoint/2010/main" val="344543704"/>
      </p:ext>
    </p:extLst>
  </p:cSld>
</p:sld>
</file>

<file path=ppt/slides/slide3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eyebrow">
            <a:extLst xmlns:a="http://schemas.openxmlformats.org/drawingml/2006/main">
              <a:ext uri="{FF2B5EF4-FFF2-40B4-BE49-F238E27FC236}">
                <a16:creationId xmlns:a16="http://schemas.microsoft.com/office/drawing/2014/main" id="{AADEF53E-B98F-48A2-9D7C-2FF625D846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815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975" b="1">
                <a:solidFill>
                  <a:srgbClr val="667085"/>
                </a:solidFill>
                <a:latin typeface="NanumSquare"/>
                <a:ea typeface="NanumSquare"/>
                <a:cs typeface="NanumSquare"/>
              </a:defRPr>
            </a:pPr>
            <a:r>
              <a:rPr sz="975" b="1">
                <a:solidFill>
                  <a:srgbClr val="667085"/>
                </a:solidFill>
                <a:latin typeface="NanumSquare"/>
                <a:ea typeface="NanumSquare"/>
                <a:cs typeface="NanumSquare"/>
              </a:rPr>
              <a:t>REFERENCE 02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BC42DB8F-1AA2-4B91-B6F9-478D6211C4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38200"/>
            <a:ext cx="103632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2850" b="1">
                <a:solidFill>
                  <a:srgbClr val="1D1D1F"/>
                </a:solidFill>
                <a:latin typeface="NanumSquare"/>
                <a:ea typeface="NanumSquare"/>
                <a:cs typeface="NanumSquare"/>
              </a:defRPr>
            </a:pPr>
            <a:r>
              <a:rPr sz="2850" b="1">
                <a:solidFill>
                  <a:srgbClr val="1D1D1F"/>
                </a:solidFill>
                <a:latin typeface="NanumSquare"/>
                <a:ea typeface="NanumSquare"/>
                <a:cs typeface="NanumSquare"/>
              </a:rPr>
              <a:t>AI Campus Prism 공식 페이지</a:t>
            </a:r>
          </a:p>
        </p:txBody>
      </p:sp>
      <p:sp>
        <p:nvSpPr>
          <p:cNvPr id="3" name="subtitle">
            <a:extLst xmlns:a="http://schemas.openxmlformats.org/drawingml/2006/main">
              <a:ext uri="{FF2B5EF4-FFF2-40B4-BE49-F238E27FC236}">
                <a16:creationId xmlns:a16="http://schemas.microsoft.com/office/drawing/2014/main" id="{6412B9A8-D211-4D0B-8301-0DAF73D519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47850"/>
            <a:ext cx="103632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22000"/>
              </a:lnSpc>
              <a:buNone/>
              <a:defRPr sz="1575" b="0">
                <a:solidFill>
                  <a:srgbClr val="667085"/>
                </a:solidFill>
                <a:latin typeface="NanumSquare"/>
                <a:ea typeface="NanumSquare"/>
                <a:cs typeface="NanumSquare"/>
              </a:defRPr>
            </a:pPr>
            <a:r>
              <a:rPr sz="1575" b="0">
                <a:solidFill>
                  <a:srgbClr val="667085"/>
                </a:solidFill>
                <a:latin typeface="NanumSquare"/>
                <a:ea typeface="NanumSquare"/>
                <a:cs typeface="NanumSquare"/>
              </a:rPr>
              <a:t>지원자에게는 과정의 분위기와 신뢰도를 확인할 수 있는 가장 직접적인 참고자료입니다.</a:t>
            </a:r>
          </a:p>
        </p:txBody>
      </p:sp>
      <p:pic>
        <p:nvPicPr>
          <p:cNvPr id="1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0ffae2d9f8f4cde"/>
          <a:srcRect xmlns:a="http://schemas.openxmlformats.org/drawingml/2006/main" l="0" t="9467" r="0" b="946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47750" y="2400300"/>
            <a:ext cx="7143750" cy="3619500"/>
          </a:xfrm>
          <a:prstGeom xmlns:a="http://schemas.openxmlformats.org/drawingml/2006/main" prst="roundRect">
            <a:avLst>
              <a:gd name="adj" fmla="val 3158"/>
            </a:avLst>
          </a:prstGeom>
        </p:spPr>
      </p:pic>
      <p:sp>
        <p:nvSpPr>
          <p:cNvPr id="5" name="campus-copy">
            <a:extLst xmlns:a="http://schemas.openxmlformats.org/drawingml/2006/main">
              <a:ext uri="{FF2B5EF4-FFF2-40B4-BE49-F238E27FC236}">
                <a16:creationId xmlns:a16="http://schemas.microsoft.com/office/drawing/2014/main" id="{47727DFB-43F2-4130-AA79-20877E905D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2400300"/>
            <a:ext cx="2571750" cy="2476500"/>
          </a:xfrm>
          <a:prstGeom xmlns:a="http://schemas.openxmlformats.org/drawingml/2006/main" prst="roundRect">
            <a:avLst>
              <a:gd name="adj" fmla="val 4615"/>
            </a:avLst>
          </a:prstGeom>
          <a:solidFill xmlns:a="http://schemas.openxmlformats.org/drawingml/2006/main">
            <a:srgbClr val="F5F6F8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55F1596-EA47-4A17-A1B8-13AE9F3966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2686050"/>
            <a:ext cx="2076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500" b="1">
                <a:solidFill>
                  <a:srgbClr val="1D1D1F"/>
                </a:solidFill>
                <a:latin typeface="NanumSquare"/>
                <a:ea typeface="NanumSquare"/>
                <a:cs typeface="NanumSquare"/>
              </a:defRPr>
            </a:pPr>
            <a:r>
              <a:rPr sz="1500" b="1">
                <a:solidFill>
                  <a:srgbClr val="1D1D1F"/>
                </a:solidFill>
                <a:latin typeface="NanumSquare"/>
                <a:ea typeface="NanumSquare"/>
                <a:cs typeface="NanumSquare"/>
              </a:rPr>
              <a:t>강의 중 연결 포인트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089DA46-C6E9-4193-AE60-E48D923EE8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3143250"/>
            <a:ext cx="20764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22000"/>
              </a:lnSpc>
              <a:buNone/>
              <a:defRPr sz="1200" b="0">
                <a:solidFill>
                  <a:srgbClr val="1D1D1F"/>
                </a:solidFill>
                <a:latin typeface="NanumSquare"/>
                <a:ea typeface="NanumSquare"/>
                <a:cs typeface="NanumSquare"/>
              </a:defRPr>
            </a:pPr>
            <a:r>
              <a:rPr sz="1200" b="0">
                <a:solidFill>
                  <a:srgbClr val="1D1D1F"/>
                </a:solidFill>
                <a:latin typeface="NanumSquare"/>
                <a:ea typeface="NanumSquare"/>
                <a:cs typeface="NanumSquare"/>
              </a:rPr>
              <a:t>• AI 실무형 부트캠프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22000"/>
              </a:lnSpc>
              <a:buNone/>
              <a:defRPr sz="1200" b="0">
                <a:solidFill>
                  <a:srgbClr val="1D1D1F"/>
                </a:solidFill>
                <a:latin typeface="NanumSquare"/>
                <a:ea typeface="NanumSquare"/>
                <a:cs typeface="NanumSquare"/>
              </a:defRPr>
            </a:pPr>
            <a:r>
              <a:rPr sz="1200" b="0">
                <a:solidFill>
                  <a:srgbClr val="1D1D1F"/>
                </a:solidFill>
                <a:latin typeface="NanumSquare"/>
                <a:ea typeface="NanumSquare"/>
                <a:cs typeface="NanumSquare"/>
              </a:rPr>
              <a:t>• 지원자·예비 지원자 대상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22000"/>
              </a:lnSpc>
              <a:buNone/>
              <a:defRPr sz="1200" b="0">
                <a:solidFill>
                  <a:srgbClr val="1D1D1F"/>
                </a:solidFill>
                <a:latin typeface="NanumSquare"/>
                <a:ea typeface="NanumSquare"/>
                <a:cs typeface="NanumSquare"/>
              </a:defRPr>
            </a:pPr>
            <a:r>
              <a:rPr sz="1200" b="0">
                <a:solidFill>
                  <a:srgbClr val="1D1D1F"/>
                </a:solidFill>
                <a:latin typeface="NanumSquare"/>
                <a:ea typeface="NanumSquare"/>
                <a:cs typeface="NanumSquare"/>
              </a:rPr>
              <a:t>• 커리어 전환의 불안보다 학습 루프 강조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34B161D-DED2-45C7-8032-85C9899DF1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6153150"/>
            <a:ext cx="6096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975" b="0">
                <a:solidFill>
                  <a:srgbClr val="0A2342"/>
                </a:solidFill>
                <a:latin typeface="NanumSquare"/>
                <a:ea typeface="NanumSquare"/>
                <a:cs typeface="NanumSquare"/>
              </a:defRPr>
            </a:pPr>
            <a:r>
              <a:rPr sz="975" b="0">
                <a:solidFill>
                  <a:srgbClr val="0A2342"/>
                </a:solidFill>
                <a:latin typeface="NanumSquare"/>
                <a:ea typeface="NanumSquare"/>
                <a:cs typeface="NanumSquare"/>
              </a:rPr>
              <a:t>https://aicampus.goorm.io/</a:t>
            </a:r>
          </a:p>
        </p:txBody>
      </p:sp>
      <p:sp>
        <p:nvSpPr>
          <p:cNvPr id="9" name="footer-left">
            <a:extLst xmlns:a="http://schemas.openxmlformats.org/drawingml/2006/main">
              <a:ext uri="{FF2B5EF4-FFF2-40B4-BE49-F238E27FC236}">
                <a16:creationId xmlns:a16="http://schemas.microsoft.com/office/drawing/2014/main" id="{EF3470DB-AD60-476D-8810-FB3731DEAA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476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825" b="0">
                <a:solidFill>
                  <a:srgbClr val="667085"/>
                </a:solidFill>
                <a:latin typeface="NanumSquare"/>
                <a:ea typeface="NanumSquare"/>
                <a:cs typeface="NanumSquare"/>
              </a:defRPr>
            </a:pPr>
            <a:r>
              <a:rPr sz="825" b="0">
                <a:solidFill>
                  <a:srgbClr val="667085"/>
                </a:solidFill>
                <a:latin typeface="NanumSquare"/>
                <a:ea typeface="NanumSquare"/>
                <a:cs typeface="NanumSquare"/>
              </a:rPr>
              <a:t>Goorm 20260701 AI Campus Prism 사전 특강</a:t>
            </a:r>
          </a:p>
        </p:txBody>
      </p:sp>
      <p:sp>
        <p:nvSpPr>
          <p:cNvPr id="10" name="footer-page">
            <a:extLst xmlns:a="http://schemas.openxmlformats.org/drawingml/2006/main">
              <a:ext uri="{FF2B5EF4-FFF2-40B4-BE49-F238E27FC236}">
                <a16:creationId xmlns:a16="http://schemas.microsoft.com/office/drawing/2014/main" id="{F57E756F-99CC-4168-A689-179854A0B0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6438900"/>
            <a:ext cx="400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lnSpc>
                <a:spcPct val="118000"/>
              </a:lnSpc>
              <a:buNone/>
              <a:defRPr sz="825" b="0">
                <a:solidFill>
                  <a:srgbClr val="667085"/>
                </a:solidFill>
                <a:latin typeface="NanumSquare"/>
                <a:ea typeface="NanumSquare"/>
                <a:cs typeface="NanumSquare"/>
              </a:defRPr>
            </a:pPr>
            <a:r>
              <a:rPr sz="825" b="0">
                <a:solidFill>
                  <a:srgbClr val="667085"/>
                </a:solidFill>
                <a:latin typeface="NanumSquare"/>
                <a:ea typeface="NanumSquare"/>
                <a:cs typeface="NanumSquare"/>
              </a:rPr>
              <a:t>31</a:t>
            </a:r>
          </a:p>
        </p:txBody>
      </p:sp>
    </p:spTree>
    <p:extLst>
      <p:ext uri="{BB962C8B-B14F-4D97-AF65-F5344CB8AC3E}">
        <p14:creationId xmlns:p14="http://schemas.microsoft.com/office/powerpoint/2010/main" val="1496545003"/>
      </p:ext>
    </p:extLst>
  </p:cSld>
</p:sld>
</file>

<file path=ppt/slides/slide32.xml><?xml version="1.0" encoding="utf-8"?>
<p:sld xmlns:p="http://schemas.openxmlformats.org/presentationml/2006/main">
  <p:cSld>
    <p:bg>
      <p:bgPr>
        <a:solidFill xmlns:a="http://schemas.openxmlformats.org/drawingml/2006/main">
          <a:srgbClr val="F5F6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eyebrow">
            <a:extLst xmlns:a="http://schemas.openxmlformats.org/drawingml/2006/main">
              <a:ext uri="{FF2B5EF4-FFF2-40B4-BE49-F238E27FC236}">
                <a16:creationId xmlns:a16="http://schemas.microsoft.com/office/drawing/2014/main" id="{F172D2D2-F7AE-4A9F-9CF9-C507DFC3CD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815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975" b="1">
                <a:solidFill>
                  <a:srgbClr val="667085"/>
                </a:solidFill>
                <a:latin typeface="NanumSquare"/>
                <a:ea typeface="NanumSquare"/>
                <a:cs typeface="NanumSquare"/>
              </a:defRPr>
            </a:pPr>
            <a:r>
              <a:rPr sz="975" b="1">
                <a:solidFill>
                  <a:srgbClr val="667085"/>
                </a:solidFill>
                <a:latin typeface="NanumSquare"/>
                <a:ea typeface="NanumSquare"/>
                <a:cs typeface="NanumSquare"/>
              </a:rPr>
              <a:t>REFERENCE 03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28EB3C6C-8F5F-4F85-B58A-4C3C3B8693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38200"/>
            <a:ext cx="103632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2850" b="1">
                <a:solidFill>
                  <a:srgbClr val="1D1D1F"/>
                </a:solidFill>
                <a:latin typeface="NanumSquare"/>
                <a:ea typeface="NanumSquare"/>
                <a:cs typeface="NanumSquare"/>
              </a:defRPr>
            </a:pPr>
            <a:r>
              <a:rPr sz="2850" b="1">
                <a:solidFill>
                  <a:srgbClr val="1D1D1F"/>
                </a:solidFill>
                <a:latin typeface="NanumSquare"/>
                <a:ea typeface="NanumSquare"/>
                <a:cs typeface="NanumSquare"/>
              </a:rPr>
              <a:t>Agent Stack Reference</a:t>
            </a:r>
          </a:p>
        </p:txBody>
      </p:sp>
      <p:sp>
        <p:nvSpPr>
          <p:cNvPr id="3" name="subtitle">
            <a:extLst xmlns:a="http://schemas.openxmlformats.org/drawingml/2006/main">
              <a:ext uri="{FF2B5EF4-FFF2-40B4-BE49-F238E27FC236}">
                <a16:creationId xmlns:a16="http://schemas.microsoft.com/office/drawing/2014/main" id="{B8DF376B-2359-4A9D-8BFE-F378B65F91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47850"/>
            <a:ext cx="103632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22000"/>
              </a:lnSpc>
              <a:buNone/>
              <a:defRPr sz="1575" b="0">
                <a:solidFill>
                  <a:srgbClr val="667085"/>
                </a:solidFill>
                <a:latin typeface="NanumSquare"/>
                <a:ea typeface="NanumSquare"/>
                <a:cs typeface="NanumSquare"/>
              </a:defRPr>
            </a:pPr>
            <a:r>
              <a:rPr sz="1575" b="0">
                <a:solidFill>
                  <a:srgbClr val="667085"/>
                </a:solidFill>
                <a:latin typeface="NanumSquare"/>
                <a:ea typeface="NanumSquare"/>
                <a:cs typeface="NanumSquare"/>
              </a:rPr>
              <a:t>에이전트 제품은 모델, 도구 연결, 워크플로우 상태 관리가 함께 필요합니다.</a:t>
            </a:r>
          </a:p>
        </p:txBody>
      </p:sp>
      <p:pic>
        <p:nvPicPr>
          <p:cNvPr id="1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bebe825a9934b86"/>
          <a:srcRect xmlns:a="http://schemas.openxmlformats.org/drawingml/2006/main" l="2856" t="0" r="2856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62000" y="2419350"/>
            <a:ext cx="3333750" cy="2209800"/>
          </a:xfrm>
          <a:prstGeom xmlns:a="http://schemas.openxmlformats.org/drawingml/2006/main" prst="roundRect">
            <a:avLst>
              <a:gd name="adj" fmla="val 5172"/>
            </a:avLst>
          </a:prstGeom>
        </p:spPr>
      </p:pic>
      <p:pic>
        <p:nvPicPr>
          <p:cNvPr id="1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778a49a120248a9"/>
          <a:srcRect xmlns:a="http://schemas.openxmlformats.org/drawingml/2006/main" l="2856" t="0" r="2856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429125" y="2419350"/>
            <a:ext cx="3333750" cy="2209800"/>
          </a:xfrm>
          <a:prstGeom xmlns:a="http://schemas.openxmlformats.org/drawingml/2006/main" prst="roundRect">
            <a:avLst>
              <a:gd name="adj" fmla="val 5172"/>
            </a:avLst>
          </a:prstGeom>
        </p:spPr>
      </p:pic>
      <p:pic>
        <p:nvPicPr>
          <p:cNvPr id="1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1edbbebe55b4171"/>
          <a:srcRect xmlns:a="http://schemas.openxmlformats.org/drawingml/2006/main" l="2856" t="0" r="2856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096250" y="2419350"/>
            <a:ext cx="3333750" cy="2209800"/>
          </a:xfrm>
          <a:prstGeom xmlns:a="http://schemas.openxmlformats.org/drawingml/2006/main" prst="roundRect">
            <a:avLst>
              <a:gd name="adj" fmla="val 5172"/>
            </a:avLst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CED184F-CC32-4745-B953-23E73A9CBB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762500"/>
            <a:ext cx="3333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18000"/>
              </a:lnSpc>
              <a:buNone/>
              <a:defRPr sz="1200" b="1">
                <a:solidFill>
                  <a:srgbClr val="1D1D1F"/>
                </a:solidFill>
                <a:latin typeface="NanumSquare"/>
                <a:ea typeface="NanumSquare"/>
                <a:cs typeface="NanumSquare"/>
              </a:defRPr>
            </a:pPr>
            <a:r>
              <a:rPr sz="1200" b="1">
                <a:solidFill>
                  <a:srgbClr val="1D1D1F"/>
                </a:solidFill>
                <a:latin typeface="NanumSquare"/>
                <a:ea typeface="NanumSquare"/>
                <a:cs typeface="NanumSquare"/>
              </a:rPr>
              <a:t>OpenAI Agents SDK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F4257CB-D86D-4471-A2DA-CD1009D93D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4762500"/>
            <a:ext cx="3333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18000"/>
              </a:lnSpc>
              <a:buNone/>
              <a:defRPr sz="1200" b="1">
                <a:solidFill>
                  <a:srgbClr val="1D1D1F"/>
                </a:solidFill>
                <a:latin typeface="NanumSquare"/>
                <a:ea typeface="NanumSquare"/>
                <a:cs typeface="NanumSquare"/>
              </a:defRPr>
            </a:pPr>
            <a:r>
              <a:rPr sz="1200" b="1">
                <a:solidFill>
                  <a:srgbClr val="1D1D1F"/>
                </a:solidFill>
                <a:latin typeface="NanumSquare"/>
                <a:ea typeface="NanumSquare"/>
                <a:cs typeface="NanumSquare"/>
              </a:rPr>
              <a:t>Model Context Protocol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5FE58F8-D266-4F78-9635-8D352B8F1A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4762500"/>
            <a:ext cx="3333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18000"/>
              </a:lnSpc>
              <a:buNone/>
              <a:defRPr sz="1200" b="1">
                <a:solidFill>
                  <a:srgbClr val="1D1D1F"/>
                </a:solidFill>
                <a:latin typeface="NanumSquare"/>
                <a:ea typeface="NanumSquare"/>
                <a:cs typeface="NanumSquare"/>
              </a:defRPr>
            </a:pPr>
            <a:r>
              <a:rPr sz="1200" b="1">
                <a:solidFill>
                  <a:srgbClr val="1D1D1F"/>
                </a:solidFill>
                <a:latin typeface="NanumSquare"/>
                <a:ea typeface="NanumSquare"/>
                <a:cs typeface="NanumSquare"/>
              </a:rPr>
              <a:t>LangGraph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B2C1D47-78C4-403F-A607-6E85F2E003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5410200"/>
            <a:ext cx="9829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18000"/>
              </a:lnSpc>
              <a:buNone/>
              <a:defRPr sz="1500" b="0">
                <a:solidFill>
                  <a:srgbClr val="1D1D1F"/>
                </a:solidFill>
                <a:latin typeface="NanumSquare"/>
                <a:ea typeface="NanumSquare"/>
                <a:cs typeface="NanumSquare"/>
              </a:defRPr>
            </a:pPr>
            <a:r>
              <a:rPr sz="1500" b="0">
                <a:solidFill>
                  <a:srgbClr val="1D1D1F"/>
                </a:solidFill>
                <a:latin typeface="NanumSquare"/>
                <a:ea typeface="NanumSquare"/>
                <a:cs typeface="NanumSquare"/>
              </a:rPr>
              <a:t>현업 해석: AI가 외부 도구를 호출하고, 상태를 유지하며, 실패와 권한을 통제하는 구조를 설계한다.</a:t>
            </a:r>
          </a:p>
        </p:txBody>
      </p:sp>
      <p:sp>
        <p:nvSpPr>
          <p:cNvPr id="11" name="footer-left">
            <a:extLst xmlns:a="http://schemas.openxmlformats.org/drawingml/2006/main">
              <a:ext uri="{FF2B5EF4-FFF2-40B4-BE49-F238E27FC236}">
                <a16:creationId xmlns:a16="http://schemas.microsoft.com/office/drawing/2014/main" id="{6EB5B09A-9B05-4E08-AAD0-C9E9A7DA65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476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825" b="0">
                <a:solidFill>
                  <a:srgbClr val="667085"/>
                </a:solidFill>
                <a:latin typeface="NanumSquare"/>
                <a:ea typeface="NanumSquare"/>
                <a:cs typeface="NanumSquare"/>
              </a:defRPr>
            </a:pPr>
            <a:r>
              <a:rPr sz="825" b="0">
                <a:solidFill>
                  <a:srgbClr val="667085"/>
                </a:solidFill>
                <a:latin typeface="NanumSquare"/>
                <a:ea typeface="NanumSquare"/>
                <a:cs typeface="NanumSquare"/>
              </a:rPr>
              <a:t>Goorm 20260701 AI Campus Prism 사전 특강</a:t>
            </a:r>
          </a:p>
        </p:txBody>
      </p:sp>
      <p:sp>
        <p:nvSpPr>
          <p:cNvPr id="12" name="footer-page">
            <a:extLst xmlns:a="http://schemas.openxmlformats.org/drawingml/2006/main">
              <a:ext uri="{FF2B5EF4-FFF2-40B4-BE49-F238E27FC236}">
                <a16:creationId xmlns:a16="http://schemas.microsoft.com/office/drawing/2014/main" id="{47A0A1F0-CC55-45AC-9ADD-C48F278878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6438900"/>
            <a:ext cx="400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lnSpc>
                <a:spcPct val="118000"/>
              </a:lnSpc>
              <a:buNone/>
              <a:defRPr sz="825" b="0">
                <a:solidFill>
                  <a:srgbClr val="667085"/>
                </a:solidFill>
                <a:latin typeface="NanumSquare"/>
                <a:ea typeface="NanumSquare"/>
                <a:cs typeface="NanumSquare"/>
              </a:defRPr>
            </a:pPr>
            <a:r>
              <a:rPr sz="825" b="0">
                <a:solidFill>
                  <a:srgbClr val="667085"/>
                </a:solidFill>
                <a:latin typeface="NanumSquare"/>
                <a:ea typeface="NanumSquare"/>
                <a:cs typeface="NanumSquare"/>
              </a:rPr>
              <a:t>32</a:t>
            </a:r>
          </a:p>
        </p:txBody>
      </p:sp>
    </p:spTree>
    <p:extLst>
      <p:ext uri="{BB962C8B-B14F-4D97-AF65-F5344CB8AC3E}">
        <p14:creationId xmlns:p14="http://schemas.microsoft.com/office/powerpoint/2010/main" val="1916962175"/>
      </p:ext>
    </p:extLst>
  </p:cSld>
</p:sld>
</file>

<file path=ppt/slides/slide3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eyebrow">
            <a:extLst xmlns:a="http://schemas.openxmlformats.org/drawingml/2006/main">
              <a:ext uri="{FF2B5EF4-FFF2-40B4-BE49-F238E27FC236}">
                <a16:creationId xmlns:a16="http://schemas.microsoft.com/office/drawing/2014/main" id="{230546D5-CD13-4FF2-B039-C36EE1904F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815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975" b="1">
                <a:solidFill>
                  <a:srgbClr val="667085"/>
                </a:solidFill>
                <a:latin typeface="NanumSquare"/>
                <a:ea typeface="NanumSquare"/>
                <a:cs typeface="NanumSquare"/>
              </a:defRPr>
            </a:pPr>
            <a:r>
              <a:rPr sz="975" b="1">
                <a:solidFill>
                  <a:srgbClr val="667085"/>
                </a:solidFill>
                <a:latin typeface="NanumSquare"/>
                <a:ea typeface="NanumSquare"/>
                <a:cs typeface="NanumSquare"/>
              </a:rPr>
              <a:t>REFERENCE 04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45063E5D-E055-47D5-9173-15262961F5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38200"/>
            <a:ext cx="103632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2850" b="1">
                <a:solidFill>
                  <a:srgbClr val="1D1D1F"/>
                </a:solidFill>
                <a:latin typeface="NanumSquare"/>
                <a:ea typeface="NanumSquare"/>
                <a:cs typeface="NanumSquare"/>
              </a:defRPr>
            </a:pPr>
            <a:r>
              <a:rPr sz="2850" b="1">
                <a:solidFill>
                  <a:srgbClr val="1D1D1F"/>
                </a:solidFill>
                <a:latin typeface="NanumSquare"/>
                <a:ea typeface="NanumSquare"/>
                <a:cs typeface="NanumSquare"/>
              </a:rPr>
              <a:t>Builder Stack Reference</a:t>
            </a:r>
          </a:p>
        </p:txBody>
      </p:sp>
      <p:sp>
        <p:nvSpPr>
          <p:cNvPr id="3" name="subtitle">
            <a:extLst xmlns:a="http://schemas.openxmlformats.org/drawingml/2006/main">
              <a:ext uri="{FF2B5EF4-FFF2-40B4-BE49-F238E27FC236}">
                <a16:creationId xmlns:a16="http://schemas.microsoft.com/office/drawing/2014/main" id="{9A082EC2-9AD2-4451-9553-EEFE667651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47850"/>
            <a:ext cx="103632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22000"/>
              </a:lnSpc>
              <a:buNone/>
              <a:defRPr sz="1575" b="0">
                <a:solidFill>
                  <a:srgbClr val="667085"/>
                </a:solidFill>
                <a:latin typeface="NanumSquare"/>
                <a:ea typeface="NanumSquare"/>
                <a:cs typeface="NanumSquare"/>
              </a:defRPr>
            </a:pPr>
            <a:r>
              <a:rPr sz="1575" b="0">
                <a:solidFill>
                  <a:srgbClr val="667085"/>
                </a:solidFill>
                <a:latin typeface="NanumSquare"/>
                <a:ea typeface="NanumSquare"/>
                <a:cs typeface="NanumSquare"/>
              </a:rPr>
              <a:t>기획-디자인-구현-배포를 빠르게 오가려면, 도구를 연결하는 감각이 필요합니다.</a:t>
            </a:r>
          </a:p>
        </p:txBody>
      </p:sp>
      <p:pic>
        <p:nvPicPr>
          <p:cNvPr id="2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432e5c1e6b54820"/>
          <a:srcRect xmlns:a="http://schemas.openxmlformats.org/drawingml/2006/main" l="7613" t="0" r="7613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66750" y="2400300"/>
            <a:ext cx="2428875" cy="1790700"/>
          </a:xfrm>
          <a:prstGeom xmlns:a="http://schemas.openxmlformats.org/drawingml/2006/main" prst="roundRect">
            <a:avLst>
              <a:gd name="adj" fmla="val 6383"/>
            </a:avLst>
          </a:prstGeom>
        </p:spPr>
      </p:pic>
      <p:pic>
        <p:nvPicPr>
          <p:cNvPr id="2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aae5509712341be"/>
          <a:srcRect xmlns:a="http://schemas.openxmlformats.org/drawingml/2006/main" l="7613" t="0" r="7613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371850" y="2400300"/>
            <a:ext cx="2428875" cy="1790700"/>
          </a:xfrm>
          <a:prstGeom xmlns:a="http://schemas.openxmlformats.org/drawingml/2006/main" prst="roundRect">
            <a:avLst>
              <a:gd name="adj" fmla="val 6383"/>
            </a:avLst>
          </a:prstGeom>
        </p:spPr>
      </p:pic>
      <p:pic>
        <p:nvPicPr>
          <p:cNvPr id="2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7fb5cf75c3c484a"/>
          <a:srcRect xmlns:a="http://schemas.openxmlformats.org/drawingml/2006/main" l="7613" t="0" r="7613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076950" y="2400300"/>
            <a:ext cx="2428875" cy="1790700"/>
          </a:xfrm>
          <a:prstGeom xmlns:a="http://schemas.openxmlformats.org/drawingml/2006/main" prst="roundRect">
            <a:avLst>
              <a:gd name="adj" fmla="val 6383"/>
            </a:avLst>
          </a:prstGeom>
        </p:spPr>
      </p:pic>
      <p:pic>
        <p:nvPicPr>
          <p:cNvPr id="2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ae0526c847248e4"/>
          <a:srcRect xmlns:a="http://schemas.openxmlformats.org/drawingml/2006/main" l="7613" t="0" r="7613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782050" y="2400300"/>
            <a:ext cx="2428875" cy="1790700"/>
          </a:xfrm>
          <a:prstGeom xmlns:a="http://schemas.openxmlformats.org/drawingml/2006/main" prst="roundRect">
            <a:avLst>
              <a:gd name="adj" fmla="val 6383"/>
            </a:avLst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4F92256-B3D6-4ACA-AC87-57414D2456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400550"/>
            <a:ext cx="24288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18000"/>
              </a:lnSpc>
              <a:buNone/>
              <a:defRPr sz="1200" b="1">
                <a:solidFill>
                  <a:srgbClr val="1D1D1F"/>
                </a:solidFill>
                <a:latin typeface="NanumSquare"/>
                <a:ea typeface="NanumSquare"/>
                <a:cs typeface="NanumSquare"/>
              </a:defRPr>
            </a:pPr>
            <a:r>
              <a:rPr sz="1200" b="1">
                <a:solidFill>
                  <a:srgbClr val="1D1D1F"/>
                </a:solidFill>
                <a:latin typeface="NanumSquare"/>
                <a:ea typeface="NanumSquare"/>
                <a:cs typeface="NanumSquare"/>
              </a:rPr>
              <a:t>Figma AI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61CEAE4-B3FC-4033-BC72-118D950CCE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648200"/>
            <a:ext cx="24288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18000"/>
              </a:lnSpc>
              <a:buNone/>
              <a:defRPr sz="1050" b="0">
                <a:solidFill>
                  <a:srgbClr val="667085"/>
                </a:solidFill>
                <a:latin typeface="NanumSquare"/>
                <a:ea typeface="NanumSquare"/>
                <a:cs typeface="NanumSquare"/>
              </a:defRPr>
            </a:pPr>
            <a:r>
              <a:rPr sz="1050" b="0">
                <a:solidFill>
                  <a:srgbClr val="667085"/>
                </a:solidFill>
                <a:latin typeface="NanumSquare"/>
                <a:ea typeface="NanumSquare"/>
                <a:cs typeface="NanumSquare"/>
              </a:rPr>
              <a:t>아이디어 → 프로토타입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EA34464-4AB0-4894-B5E0-A1F3E1D6D0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4400550"/>
            <a:ext cx="24288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18000"/>
              </a:lnSpc>
              <a:buNone/>
              <a:defRPr sz="1200" b="1">
                <a:solidFill>
                  <a:srgbClr val="1D1D1F"/>
                </a:solidFill>
                <a:latin typeface="NanumSquare"/>
                <a:ea typeface="NanumSquare"/>
                <a:cs typeface="NanumSquare"/>
              </a:defRPr>
            </a:pPr>
            <a:r>
              <a:rPr sz="1200" b="1">
                <a:solidFill>
                  <a:srgbClr val="1D1D1F"/>
                </a:solidFill>
                <a:latin typeface="NanumSquare"/>
                <a:ea typeface="NanumSquare"/>
                <a:cs typeface="NanumSquare"/>
              </a:rPr>
              <a:t>Claude Code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0A446B9-132A-4986-B147-9F1EF026EE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4648200"/>
            <a:ext cx="24288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18000"/>
              </a:lnSpc>
              <a:buNone/>
              <a:defRPr sz="1050" b="0">
                <a:solidFill>
                  <a:srgbClr val="667085"/>
                </a:solidFill>
                <a:latin typeface="NanumSquare"/>
                <a:ea typeface="NanumSquare"/>
                <a:cs typeface="NanumSquare"/>
              </a:defRPr>
            </a:pPr>
            <a:r>
              <a:rPr sz="1050" b="0">
                <a:solidFill>
                  <a:srgbClr val="667085"/>
                </a:solidFill>
                <a:latin typeface="NanumSquare"/>
                <a:ea typeface="NanumSquare"/>
                <a:cs typeface="NanumSquare"/>
              </a:rPr>
              <a:t>코드 협업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C19D708-EB8B-49B5-A715-CDEDEB4A06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4400550"/>
            <a:ext cx="24288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18000"/>
              </a:lnSpc>
              <a:buNone/>
              <a:defRPr sz="1200" b="1">
                <a:solidFill>
                  <a:srgbClr val="1D1D1F"/>
                </a:solidFill>
                <a:latin typeface="NanumSquare"/>
                <a:ea typeface="NanumSquare"/>
                <a:cs typeface="NanumSquare"/>
              </a:defRPr>
            </a:pPr>
            <a:r>
              <a:rPr sz="1200" b="1">
                <a:solidFill>
                  <a:srgbClr val="1D1D1F"/>
                </a:solidFill>
                <a:latin typeface="NanumSquare"/>
                <a:ea typeface="NanumSquare"/>
                <a:cs typeface="NanumSquare"/>
              </a:rPr>
              <a:t>LlamaIndex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800AE04-2D7E-4B2F-8ADA-0A34B22323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4648200"/>
            <a:ext cx="24288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18000"/>
              </a:lnSpc>
              <a:buNone/>
              <a:defRPr sz="1050" b="0">
                <a:solidFill>
                  <a:srgbClr val="667085"/>
                </a:solidFill>
                <a:latin typeface="NanumSquare"/>
                <a:ea typeface="NanumSquare"/>
                <a:cs typeface="NanumSquare"/>
              </a:defRPr>
            </a:pPr>
            <a:r>
              <a:rPr sz="1050" b="0">
                <a:solidFill>
                  <a:srgbClr val="667085"/>
                </a:solidFill>
                <a:latin typeface="NanumSquare"/>
                <a:ea typeface="NanumSquare"/>
                <a:cs typeface="NanumSquare"/>
              </a:rPr>
              <a:t>RAG·데이터 연결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3BA18A1-C47C-4A79-9960-03035246C8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4400550"/>
            <a:ext cx="24288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18000"/>
              </a:lnSpc>
              <a:buNone/>
              <a:defRPr sz="1200" b="1">
                <a:solidFill>
                  <a:srgbClr val="1D1D1F"/>
                </a:solidFill>
                <a:latin typeface="NanumSquare"/>
                <a:ea typeface="NanumSquare"/>
                <a:cs typeface="NanumSquare"/>
              </a:defRPr>
            </a:pPr>
            <a:r>
              <a:rPr sz="1200" b="1">
                <a:solidFill>
                  <a:srgbClr val="1D1D1F"/>
                </a:solidFill>
                <a:latin typeface="NanumSquare"/>
                <a:ea typeface="NanumSquare"/>
                <a:cs typeface="NanumSquare"/>
              </a:rPr>
              <a:t>Vercel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47F5439-D5AE-4620-B33B-885E3279F9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4648200"/>
            <a:ext cx="24288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18000"/>
              </a:lnSpc>
              <a:buNone/>
              <a:defRPr sz="1050" b="0">
                <a:solidFill>
                  <a:srgbClr val="667085"/>
                </a:solidFill>
                <a:latin typeface="NanumSquare"/>
                <a:ea typeface="NanumSquare"/>
                <a:cs typeface="NanumSquare"/>
              </a:defRPr>
            </a:pPr>
            <a:r>
              <a:rPr sz="1050" b="0">
                <a:solidFill>
                  <a:srgbClr val="667085"/>
                </a:solidFill>
                <a:latin typeface="NanumSquare"/>
                <a:ea typeface="NanumSquare"/>
                <a:cs typeface="NanumSquare"/>
              </a:rPr>
              <a:t>배포·프론트엔드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673C563-597E-426B-B022-8CE6C1774D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5391150"/>
            <a:ext cx="9639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18000"/>
              </a:lnSpc>
              <a:buNone/>
              <a:defRPr sz="1500" b="0">
                <a:solidFill>
                  <a:srgbClr val="1D1D1F"/>
                </a:solidFill>
                <a:latin typeface="NanumSquare"/>
                <a:ea typeface="NanumSquare"/>
                <a:cs typeface="NanumSquare"/>
              </a:defRPr>
            </a:pPr>
            <a:r>
              <a:rPr sz="1500" b="0">
                <a:solidFill>
                  <a:srgbClr val="1D1D1F"/>
                </a:solidFill>
                <a:latin typeface="NanumSquare"/>
                <a:ea typeface="NanumSquare"/>
                <a:cs typeface="NanumSquare"/>
              </a:rPr>
              <a:t>현업 해석: 디자인, 코드, 지식 베이스, 배포가 분리된 단계가 아니라 빠른 검증 루프로 연결됩니다.</a:t>
            </a:r>
          </a:p>
        </p:txBody>
      </p:sp>
      <p:sp>
        <p:nvSpPr>
          <p:cNvPr id="17" name="footer-left">
            <a:extLst xmlns:a="http://schemas.openxmlformats.org/drawingml/2006/main">
              <a:ext uri="{FF2B5EF4-FFF2-40B4-BE49-F238E27FC236}">
                <a16:creationId xmlns:a16="http://schemas.microsoft.com/office/drawing/2014/main" id="{87884FB4-D777-4421-9F8B-99B07DFEF6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476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825" b="0">
                <a:solidFill>
                  <a:srgbClr val="667085"/>
                </a:solidFill>
                <a:latin typeface="NanumSquare"/>
                <a:ea typeface="NanumSquare"/>
                <a:cs typeface="NanumSquare"/>
              </a:defRPr>
            </a:pPr>
            <a:r>
              <a:rPr sz="825" b="0">
                <a:solidFill>
                  <a:srgbClr val="667085"/>
                </a:solidFill>
                <a:latin typeface="NanumSquare"/>
                <a:ea typeface="NanumSquare"/>
                <a:cs typeface="NanumSquare"/>
              </a:rPr>
              <a:t>Goorm 20260701 AI Campus Prism 사전 특강</a:t>
            </a:r>
          </a:p>
        </p:txBody>
      </p:sp>
      <p:sp>
        <p:nvSpPr>
          <p:cNvPr id="18" name="footer-page">
            <a:extLst xmlns:a="http://schemas.openxmlformats.org/drawingml/2006/main">
              <a:ext uri="{FF2B5EF4-FFF2-40B4-BE49-F238E27FC236}">
                <a16:creationId xmlns:a16="http://schemas.microsoft.com/office/drawing/2014/main" id="{6E56314C-FA30-4DA4-B5F3-B02329F2EE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6438900"/>
            <a:ext cx="400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lnSpc>
                <a:spcPct val="118000"/>
              </a:lnSpc>
              <a:buNone/>
              <a:defRPr sz="825" b="0">
                <a:solidFill>
                  <a:srgbClr val="667085"/>
                </a:solidFill>
                <a:latin typeface="NanumSquare"/>
                <a:ea typeface="NanumSquare"/>
                <a:cs typeface="NanumSquare"/>
              </a:defRPr>
            </a:pPr>
            <a:r>
              <a:rPr sz="825" b="0">
                <a:solidFill>
                  <a:srgbClr val="667085"/>
                </a:solidFill>
                <a:latin typeface="NanumSquare"/>
                <a:ea typeface="NanumSquare"/>
                <a:cs typeface="NanumSquare"/>
              </a:rPr>
              <a:t>33</a:t>
            </a:r>
          </a:p>
        </p:txBody>
      </p:sp>
    </p:spTree>
    <p:extLst>
      <p:ext uri="{BB962C8B-B14F-4D97-AF65-F5344CB8AC3E}">
        <p14:creationId xmlns:p14="http://schemas.microsoft.com/office/powerpoint/2010/main" val="1594425064"/>
      </p:ext>
    </p:extLst>
  </p:cSld>
</p:sld>
</file>

<file path=ppt/slides/slide34.xml><?xml version="1.0" encoding="utf-8"?>
<p:sld xmlns:p="http://schemas.openxmlformats.org/presentationml/2006/main">
  <p:cSld>
    <p:bg>
      <p:bgPr>
        <a:solidFill xmlns:a="http://schemas.openxmlformats.org/drawingml/2006/main">
          <a:srgbClr val="070B1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eyebrow">
            <a:extLst xmlns:a="http://schemas.openxmlformats.org/drawingml/2006/main">
              <a:ext uri="{FF2B5EF4-FFF2-40B4-BE49-F238E27FC236}">
                <a16:creationId xmlns:a16="http://schemas.microsoft.com/office/drawing/2014/main" id="{76D5A3F2-1B69-46CB-AB2E-2772F5E182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815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975" b="1">
                <a:solidFill>
                  <a:srgbClr val="CCCCCC"/>
                </a:solidFill>
                <a:latin typeface="NanumSquare"/>
                <a:ea typeface="NanumSquare"/>
                <a:cs typeface="NanumSquare"/>
              </a:defRPr>
            </a:pPr>
            <a:r>
              <a:rPr sz="975" b="1">
                <a:solidFill>
                  <a:srgbClr val="CCCCCC"/>
                </a:solidFill>
                <a:latin typeface="NanumSquare"/>
                <a:ea typeface="NanumSquare"/>
                <a:cs typeface="NanumSquare"/>
              </a:rPr>
              <a:t>REFERENCE 05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111E0B94-10D1-41DB-9E0D-B7B7F5BD79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38200"/>
            <a:ext cx="103632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2850" b="1">
                <a:solidFill>
                  <a:srgbClr val="FFFFFF"/>
                </a:solidFill>
                <a:latin typeface="NanumSquare"/>
                <a:ea typeface="NanumSquare"/>
                <a:cs typeface="NanumSquare"/>
              </a:defRPr>
            </a:pPr>
            <a:r>
              <a:rPr sz="2850" b="1">
                <a:solidFill>
                  <a:srgbClr val="FFFFFF"/>
                </a:solidFill>
                <a:latin typeface="NanumSquare"/>
                <a:ea typeface="NanumSquare"/>
                <a:cs typeface="NanumSquare"/>
              </a:rPr>
              <a:t>Operate &amp; Secure Reference</a:t>
            </a:r>
          </a:p>
        </p:txBody>
      </p:sp>
      <p:sp>
        <p:nvSpPr>
          <p:cNvPr id="3" name="subtitle">
            <a:extLst xmlns:a="http://schemas.openxmlformats.org/drawingml/2006/main">
              <a:ext uri="{FF2B5EF4-FFF2-40B4-BE49-F238E27FC236}">
                <a16:creationId xmlns:a16="http://schemas.microsoft.com/office/drawing/2014/main" id="{BE568E05-915C-4B03-8F36-28DBD72D88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47850"/>
            <a:ext cx="103632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22000"/>
              </a:lnSpc>
              <a:buNone/>
              <a:defRPr sz="1575" b="0">
                <a:solidFill>
                  <a:srgbClr val="D6D6D6"/>
                </a:solidFill>
                <a:latin typeface="NanumSquare"/>
                <a:ea typeface="NanumSquare"/>
                <a:cs typeface="NanumSquare"/>
              </a:defRPr>
            </a:pPr>
            <a:r>
              <a:rPr sz="1575" b="0">
                <a:solidFill>
                  <a:srgbClr val="D6D6D6"/>
                </a:solidFill>
                <a:latin typeface="NanumSquare"/>
                <a:ea typeface="NanumSquare"/>
                <a:cs typeface="NanumSquare"/>
              </a:rPr>
              <a:t>AI 서비스는 출시 이후가 진짜 시작입니다. 운영과 보안은 AI Native의 기본기입니다.</a:t>
            </a:r>
          </a:p>
        </p:txBody>
      </p:sp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35f536af6a24b19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200150" y="2381250"/>
            <a:ext cx="4572000" cy="2857500"/>
          </a:xfrm>
          <a:prstGeom xmlns:a="http://schemas.openxmlformats.org/drawingml/2006/main" prst="roundRect">
            <a:avLst>
              <a:gd name="adj" fmla="val 4000"/>
            </a:avLst>
          </a:prstGeom>
        </p:spPr>
      </p:pic>
      <p:pic>
        <p:nvPicPr>
          <p:cNvPr id="1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318f1b2a92f42b1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419850" y="2381250"/>
            <a:ext cx="4572000" cy="2857500"/>
          </a:xfrm>
          <a:prstGeom xmlns:a="http://schemas.openxmlformats.org/drawingml/2006/main" prst="roundRect">
            <a:avLst>
              <a:gd name="adj" fmla="val 4000"/>
            </a:avLst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7CA6DAB-C647-4127-B5BB-7712FF7CA7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5410200"/>
            <a:ext cx="4572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18000"/>
              </a:lnSpc>
              <a:buNone/>
              <a:defRPr sz="1275" b="1">
                <a:solidFill>
                  <a:srgbClr val="FFFFFF"/>
                </a:solidFill>
                <a:latin typeface="NanumSquare"/>
                <a:ea typeface="NanumSquare"/>
                <a:cs typeface="NanumSquare"/>
              </a:defRPr>
            </a:pPr>
            <a:r>
              <a:rPr sz="1275" b="1">
                <a:solidFill>
                  <a:srgbClr val="FFFFFF"/>
                </a:solidFill>
                <a:latin typeface="NanumSquare"/>
                <a:ea typeface="NanumSquare"/>
                <a:cs typeface="NanumSquare"/>
              </a:rPr>
              <a:t>Kubernetes: AI 서비스 실행과 확장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63A4ADF-5135-4A2D-808F-6024AE1871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5410200"/>
            <a:ext cx="4572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18000"/>
              </a:lnSpc>
              <a:buNone/>
              <a:defRPr sz="1275" b="1">
                <a:solidFill>
                  <a:srgbClr val="FFFFFF"/>
                </a:solidFill>
                <a:latin typeface="NanumSquare"/>
                <a:ea typeface="NanumSquare"/>
                <a:cs typeface="NanumSquare"/>
              </a:defRPr>
            </a:pPr>
            <a:r>
              <a:rPr sz="1275" b="1">
                <a:solidFill>
                  <a:srgbClr val="FFFFFF"/>
                </a:solidFill>
                <a:latin typeface="NanumSquare"/>
                <a:ea typeface="NanumSquare"/>
                <a:cs typeface="NanumSquare"/>
              </a:rPr>
              <a:t>NeMo Guardrails: 안전한 LLM 운영</a:t>
            </a:r>
          </a:p>
        </p:txBody>
      </p:sp>
      <p:sp>
        <p:nvSpPr>
          <p:cNvPr id="8" name="footer-left">
            <a:extLst xmlns:a="http://schemas.openxmlformats.org/drawingml/2006/main">
              <a:ext uri="{FF2B5EF4-FFF2-40B4-BE49-F238E27FC236}">
                <a16:creationId xmlns:a16="http://schemas.microsoft.com/office/drawing/2014/main" id="{C15CE232-AA22-4F07-A050-7BF821DD6C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476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825" b="0">
                <a:solidFill>
                  <a:srgbClr val="9CA8B8"/>
                </a:solidFill>
                <a:latin typeface="NanumSquare"/>
                <a:ea typeface="NanumSquare"/>
                <a:cs typeface="NanumSquare"/>
              </a:defRPr>
            </a:pPr>
            <a:r>
              <a:rPr sz="825" b="0">
                <a:solidFill>
                  <a:srgbClr val="9CA8B8"/>
                </a:solidFill>
                <a:latin typeface="NanumSquare"/>
                <a:ea typeface="NanumSquare"/>
                <a:cs typeface="NanumSquare"/>
              </a:rPr>
              <a:t>Goorm 20260701 AI Campus Prism 사전 특강</a:t>
            </a:r>
          </a:p>
        </p:txBody>
      </p:sp>
      <p:sp>
        <p:nvSpPr>
          <p:cNvPr id="9" name="footer-page">
            <a:extLst xmlns:a="http://schemas.openxmlformats.org/drawingml/2006/main">
              <a:ext uri="{FF2B5EF4-FFF2-40B4-BE49-F238E27FC236}">
                <a16:creationId xmlns:a16="http://schemas.microsoft.com/office/drawing/2014/main" id="{48B7F93C-BFAD-43E5-A09D-66D905D553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6438900"/>
            <a:ext cx="400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lnSpc>
                <a:spcPct val="118000"/>
              </a:lnSpc>
              <a:buNone/>
              <a:defRPr sz="825" b="0">
                <a:solidFill>
                  <a:srgbClr val="9CA8B8"/>
                </a:solidFill>
                <a:latin typeface="NanumSquare"/>
                <a:ea typeface="NanumSquare"/>
                <a:cs typeface="NanumSquare"/>
              </a:defRPr>
            </a:pPr>
            <a:r>
              <a:rPr sz="825" b="0">
                <a:solidFill>
                  <a:srgbClr val="9CA8B8"/>
                </a:solidFill>
                <a:latin typeface="NanumSquare"/>
                <a:ea typeface="NanumSquare"/>
                <a:cs typeface="NanumSquare"/>
              </a:rPr>
              <a:t>34</a:t>
            </a:r>
          </a:p>
        </p:txBody>
      </p:sp>
    </p:spTree>
    <p:extLst>
      <p:ext uri="{BB962C8B-B14F-4D97-AF65-F5344CB8AC3E}">
        <p14:creationId xmlns:p14="http://schemas.microsoft.com/office/powerpoint/2010/main" val="1075750874"/>
      </p:ext>
    </p:extLst>
  </p:cSld>
</p:sld>
</file>

<file path=ppt/slides/slide35.xml><?xml version="1.0" encoding="utf-8"?>
<p:sld xmlns:p="http://schemas.openxmlformats.org/presentationml/2006/main">
  <p:cSld>
    <p:bg>
      <p:bgPr>
        <a:solidFill xmlns:a="http://schemas.openxmlformats.org/drawingml/2006/main">
          <a:srgbClr val="F5F6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eyebrow">
            <a:extLst xmlns:a="http://schemas.openxmlformats.org/drawingml/2006/main">
              <a:ext uri="{FF2B5EF4-FFF2-40B4-BE49-F238E27FC236}">
                <a16:creationId xmlns:a16="http://schemas.microsoft.com/office/drawing/2014/main" id="{D83521FC-D524-4EFA-8453-93B40C6D73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815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975" b="1">
                <a:solidFill>
                  <a:srgbClr val="667085"/>
                </a:solidFill>
                <a:latin typeface="NanumSquare"/>
                <a:ea typeface="NanumSquare"/>
                <a:cs typeface="NanumSquare"/>
              </a:defRPr>
            </a:pPr>
            <a:r>
              <a:rPr sz="975" b="1">
                <a:solidFill>
                  <a:srgbClr val="667085"/>
                </a:solidFill>
                <a:latin typeface="NanumSquare"/>
                <a:ea typeface="NanumSquare"/>
                <a:cs typeface="NanumSquare"/>
              </a:rPr>
              <a:t>LEARNING STRATEGY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D9FDFA63-0600-415C-8BFD-E0C4DDDE75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38200"/>
            <a:ext cx="103632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2850" b="1">
                <a:solidFill>
                  <a:srgbClr val="1D1D1F"/>
                </a:solidFill>
                <a:latin typeface="NanumSquare"/>
                <a:ea typeface="NanumSquare"/>
                <a:cs typeface="NanumSquare"/>
              </a:defRPr>
            </a:pPr>
            <a:r>
              <a:rPr sz="2850" b="1">
                <a:solidFill>
                  <a:srgbClr val="1D1D1F"/>
                </a:solidFill>
                <a:latin typeface="NanumSquare"/>
                <a:ea typeface="NanumSquare"/>
                <a:cs typeface="NanumSquare"/>
              </a:rPr>
              <a:t>5개월을 이렇게 쓰면 강해집니다</a:t>
            </a:r>
          </a:p>
        </p:txBody>
      </p:sp>
      <p:sp>
        <p:nvSpPr>
          <p:cNvPr id="3" name="subtitle">
            <a:extLst xmlns:a="http://schemas.openxmlformats.org/drawingml/2006/main">
              <a:ext uri="{FF2B5EF4-FFF2-40B4-BE49-F238E27FC236}">
                <a16:creationId xmlns:a16="http://schemas.microsoft.com/office/drawing/2014/main" id="{76ADE40B-0B67-4099-89AA-3AEB493608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47850"/>
            <a:ext cx="103632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22000"/>
              </a:lnSpc>
              <a:buNone/>
              <a:defRPr sz="1575" b="0">
                <a:solidFill>
                  <a:srgbClr val="667085"/>
                </a:solidFill>
                <a:latin typeface="NanumSquare"/>
                <a:ea typeface="NanumSquare"/>
                <a:cs typeface="NanumSquare"/>
              </a:defRPr>
            </a:pPr>
            <a:r>
              <a:rPr sz="1575" b="0">
                <a:solidFill>
                  <a:srgbClr val="667085"/>
                </a:solidFill>
                <a:latin typeface="NanumSquare"/>
                <a:ea typeface="NanumSquare"/>
                <a:cs typeface="NanumSquare"/>
              </a:rPr>
              <a:t>커리큘럼을 완주하는 동안, 매주 하나씩 포트폴리오의 증거를 쌓으세요.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4B3EE8C-A7D8-49F8-9CAD-6E55C20DC2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2781300"/>
            <a:ext cx="8763000" cy="247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650" b="0">
                <a:solidFill>
                  <a:srgbClr val="1D1D1F"/>
                </a:solidFill>
                <a:latin typeface="NanumSquare"/>
                <a:ea typeface="NanumSquare"/>
                <a:cs typeface="NanumSquare"/>
              </a:defRPr>
            </a:pPr>
            <a:r>
              <a:rPr sz="1650" b="0">
                <a:solidFill>
                  <a:srgbClr val="1D1D1F"/>
                </a:solidFill>
                <a:latin typeface="NanumSquare"/>
                <a:ea typeface="NanumSquare"/>
                <a:cs typeface="NanumSquare"/>
              </a:rPr>
              <a:t>1. 매주 하나의 문제를 한 문장으로 재정의한다.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20000"/>
              </a:lnSpc>
              <a:buNone/>
              <a:defRPr sz="1650" b="0">
                <a:solidFill>
                  <a:srgbClr val="1D1D1F"/>
                </a:solidFill>
                <a:latin typeface="NanumSquare"/>
                <a:ea typeface="NanumSquare"/>
                <a:cs typeface="NanumSquare"/>
              </a:defRPr>
            </a:pPr>
            <a:r>
              <a:rPr sz="1650" b="0">
                <a:solidFill>
                  <a:srgbClr val="1D1D1F"/>
                </a:solidFill>
                <a:latin typeface="NanumSquare"/>
                <a:ea typeface="NanumSquare"/>
                <a:cs typeface="NanumSquare"/>
              </a:rPr>
              <a:t>2. AI가 판단할 기준과 실패 기준을 문서화한다.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20000"/>
              </a:lnSpc>
              <a:buNone/>
              <a:defRPr sz="1650" b="0">
                <a:solidFill>
                  <a:srgbClr val="1D1D1F"/>
                </a:solidFill>
                <a:latin typeface="NanumSquare"/>
                <a:ea typeface="NanumSquare"/>
                <a:cs typeface="NanumSquare"/>
              </a:defRPr>
            </a:pPr>
            <a:r>
              <a:rPr sz="1650" b="0">
                <a:solidFill>
                  <a:srgbClr val="1D1D1F"/>
                </a:solidFill>
                <a:latin typeface="NanumSquare"/>
                <a:ea typeface="NanumSquare"/>
                <a:cs typeface="NanumSquare"/>
              </a:rPr>
              <a:t>3. 생성 결과를 그대로 쓰지 말고 평가셋으로 검증한다.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20000"/>
              </a:lnSpc>
              <a:buNone/>
              <a:defRPr sz="1650" b="0">
                <a:solidFill>
                  <a:srgbClr val="1D1D1F"/>
                </a:solidFill>
                <a:latin typeface="NanumSquare"/>
                <a:ea typeface="NanumSquare"/>
                <a:cs typeface="NanumSquare"/>
              </a:defRPr>
            </a:pPr>
            <a:r>
              <a:rPr sz="1650" b="0">
                <a:solidFill>
                  <a:srgbClr val="1D1D1F"/>
                </a:solidFill>
                <a:latin typeface="NanumSquare"/>
                <a:ea typeface="NanumSquare"/>
                <a:cs typeface="NanumSquare"/>
              </a:rPr>
              <a:t>4. 로그와 사용자 피드백으로 다음 개선안을 만든다.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20000"/>
              </a:lnSpc>
              <a:buNone/>
              <a:defRPr sz="1650" b="0">
                <a:solidFill>
                  <a:srgbClr val="1D1D1F"/>
                </a:solidFill>
                <a:latin typeface="NanumSquare"/>
                <a:ea typeface="NanumSquare"/>
                <a:cs typeface="NanumSquare"/>
              </a:defRPr>
            </a:pPr>
            <a:r>
              <a:rPr sz="1650" b="0">
                <a:solidFill>
                  <a:srgbClr val="1D1D1F"/>
                </a:solidFill>
                <a:latin typeface="NanumSquare"/>
                <a:ea typeface="NanumSquare"/>
                <a:cs typeface="NanumSquare"/>
              </a:rPr>
              <a:t>5. 최종 발표는 기능 시연보다 의사결정의 흐름을 보여준다.</a:t>
            </a:r>
          </a:p>
        </p:txBody>
      </p:sp>
      <p:sp>
        <p:nvSpPr>
          <p:cNvPr id="5" name="footer-left">
            <a:extLst xmlns:a="http://schemas.openxmlformats.org/drawingml/2006/main">
              <a:ext uri="{FF2B5EF4-FFF2-40B4-BE49-F238E27FC236}">
                <a16:creationId xmlns:a16="http://schemas.microsoft.com/office/drawing/2014/main" id="{35204820-DFC0-4FCB-89D0-3C17D23458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476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825" b="0">
                <a:solidFill>
                  <a:srgbClr val="667085"/>
                </a:solidFill>
                <a:latin typeface="NanumSquare"/>
                <a:ea typeface="NanumSquare"/>
                <a:cs typeface="NanumSquare"/>
              </a:defRPr>
            </a:pPr>
            <a:r>
              <a:rPr sz="825" b="0">
                <a:solidFill>
                  <a:srgbClr val="667085"/>
                </a:solidFill>
                <a:latin typeface="NanumSquare"/>
                <a:ea typeface="NanumSquare"/>
                <a:cs typeface="NanumSquare"/>
              </a:rPr>
              <a:t>Goorm 20260701 AI Campus Prism 사전 특강</a:t>
            </a:r>
          </a:p>
        </p:txBody>
      </p:sp>
      <p:sp>
        <p:nvSpPr>
          <p:cNvPr id="6" name="footer-page">
            <a:extLst xmlns:a="http://schemas.openxmlformats.org/drawingml/2006/main">
              <a:ext uri="{FF2B5EF4-FFF2-40B4-BE49-F238E27FC236}">
                <a16:creationId xmlns:a16="http://schemas.microsoft.com/office/drawing/2014/main" id="{5E94EAEA-7E2F-493D-851E-D864EA00CE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6438900"/>
            <a:ext cx="400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lnSpc>
                <a:spcPct val="118000"/>
              </a:lnSpc>
              <a:buNone/>
              <a:defRPr sz="825" b="0">
                <a:solidFill>
                  <a:srgbClr val="667085"/>
                </a:solidFill>
                <a:latin typeface="NanumSquare"/>
                <a:ea typeface="NanumSquare"/>
                <a:cs typeface="NanumSquare"/>
              </a:defRPr>
            </a:pPr>
            <a:r>
              <a:rPr sz="825" b="0">
                <a:solidFill>
                  <a:srgbClr val="667085"/>
                </a:solidFill>
                <a:latin typeface="NanumSquare"/>
                <a:ea typeface="NanumSquare"/>
                <a:cs typeface="NanumSquare"/>
              </a:rPr>
              <a:t>35</a:t>
            </a:r>
          </a:p>
        </p:txBody>
      </p:sp>
    </p:spTree>
    <p:extLst>
      <p:ext uri="{BB962C8B-B14F-4D97-AF65-F5344CB8AC3E}">
        <p14:creationId xmlns:p14="http://schemas.microsoft.com/office/powerpoint/2010/main" val="150919727"/>
      </p:ext>
    </p:extLst>
  </p:cSld>
</p:sld>
</file>

<file path=ppt/slides/slide36.xml><?xml version="1.0" encoding="utf-8"?>
<p:sld xmlns:p="http://schemas.openxmlformats.org/presentationml/2006/main">
  <p:cSld>
    <p:bg>
      <p:bgPr>
        <a:solidFill xmlns:a="http://schemas.openxmlformats.org/drawingml/2006/main">
          <a:srgbClr val="070B1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5E75717-3CB2-4336-B4A9-AC3E7A810D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3340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975" b="1">
                <a:solidFill>
                  <a:srgbClr val="CCCCCC"/>
                </a:solidFill>
                <a:latin typeface="NanumSquare"/>
                <a:ea typeface="NanumSquare"/>
                <a:cs typeface="NanumSquare"/>
              </a:defRPr>
            </a:pPr>
            <a:r>
              <a:rPr sz="975" b="1">
                <a:solidFill>
                  <a:srgbClr val="CCCCCC"/>
                </a:solidFill>
                <a:latin typeface="NanumSquare"/>
                <a:ea typeface="NanumSquare"/>
                <a:cs typeface="NanumSquare"/>
              </a:rPr>
              <a:t>AI CAMPUS PRISM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C43BE5D-6CC3-428F-80E2-35FCFB6A8D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19300"/>
            <a:ext cx="93345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3900" b="1">
                <a:solidFill>
                  <a:srgbClr val="FFFFFF"/>
                </a:solidFill>
                <a:latin typeface="NanumSquare"/>
                <a:ea typeface="NanumSquare"/>
                <a:cs typeface="NanumSquare"/>
              </a:defRPr>
            </a:pPr>
            <a:r>
              <a:rPr sz="3900" b="1">
                <a:solidFill>
                  <a:srgbClr val="FFFFFF"/>
                </a:solidFill>
                <a:latin typeface="NanumSquare"/>
                <a:ea typeface="NanumSquare"/>
                <a:cs typeface="NanumSquare"/>
              </a:rPr>
              <a:t>사전 질문에 답해보겠습니다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1E33297-C82E-4547-8709-44DAC9CAE2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67100"/>
            <a:ext cx="8382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800" b="0">
                <a:solidFill>
                  <a:srgbClr val="D6D6D6"/>
                </a:solidFill>
                <a:latin typeface="NanumSquare"/>
                <a:ea typeface="NanumSquare"/>
                <a:cs typeface="NanumSquare"/>
              </a:defRPr>
            </a:pPr>
            <a:r>
              <a:rPr sz="1800" b="0">
                <a:solidFill>
                  <a:srgbClr val="D6D6D6"/>
                </a:solidFill>
                <a:latin typeface="NanumSquare"/>
                <a:ea typeface="NanumSquare"/>
                <a:cs typeface="NanumSquare"/>
              </a:rPr>
              <a:t>정답처럼 단정하기보다, 앞으로 기업이 무엇을 더 자주 확인하게 될지 기준으로 답합니다.</a:t>
            </a:r>
          </a:p>
        </p:txBody>
      </p:sp>
      <p:sp>
        <p:nvSpPr>
          <p:cNvPr id="4" name="footer-left">
            <a:extLst xmlns:a="http://schemas.openxmlformats.org/drawingml/2006/main">
              <a:ext uri="{FF2B5EF4-FFF2-40B4-BE49-F238E27FC236}">
                <a16:creationId xmlns:a16="http://schemas.microsoft.com/office/drawing/2014/main" id="{D2132D81-66C8-4708-B54C-FDBB35AF7E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476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825" b="0">
                <a:solidFill>
                  <a:srgbClr val="9CA8B8"/>
                </a:solidFill>
                <a:latin typeface="NanumSquare"/>
                <a:ea typeface="NanumSquare"/>
                <a:cs typeface="NanumSquare"/>
              </a:defRPr>
            </a:pPr>
            <a:r>
              <a:rPr sz="825" b="0">
                <a:solidFill>
                  <a:srgbClr val="9CA8B8"/>
                </a:solidFill>
                <a:latin typeface="NanumSquare"/>
                <a:ea typeface="NanumSquare"/>
                <a:cs typeface="NanumSquare"/>
              </a:rPr>
              <a:t>Goorm 20260701 AI Campus Prism 사전 특강</a:t>
            </a:r>
          </a:p>
        </p:txBody>
      </p:sp>
      <p:sp>
        <p:nvSpPr>
          <p:cNvPr id="5" name="footer-page">
            <a:extLst xmlns:a="http://schemas.openxmlformats.org/drawingml/2006/main">
              <a:ext uri="{FF2B5EF4-FFF2-40B4-BE49-F238E27FC236}">
                <a16:creationId xmlns:a16="http://schemas.microsoft.com/office/drawing/2014/main" id="{0C931840-0E38-43DC-8D9B-B1E9FE779A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6438900"/>
            <a:ext cx="400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lnSpc>
                <a:spcPct val="118000"/>
              </a:lnSpc>
              <a:buNone/>
              <a:defRPr sz="825" b="0">
                <a:solidFill>
                  <a:srgbClr val="9CA8B8"/>
                </a:solidFill>
                <a:latin typeface="NanumSquare"/>
                <a:ea typeface="NanumSquare"/>
                <a:cs typeface="NanumSquare"/>
              </a:defRPr>
            </a:pPr>
            <a:r>
              <a:rPr sz="825" b="0">
                <a:solidFill>
                  <a:srgbClr val="9CA8B8"/>
                </a:solidFill>
                <a:latin typeface="NanumSquare"/>
                <a:ea typeface="NanumSquare"/>
                <a:cs typeface="NanumSquare"/>
              </a:rPr>
              <a:t>36</a:t>
            </a:r>
          </a:p>
        </p:txBody>
      </p:sp>
    </p:spTree>
    <p:extLst>
      <p:ext uri="{BB962C8B-B14F-4D97-AF65-F5344CB8AC3E}">
        <p14:creationId xmlns:p14="http://schemas.microsoft.com/office/powerpoint/2010/main" val="2016126304"/>
      </p:ext>
    </p:extLst>
  </p:cSld>
</p:sld>
</file>

<file path=ppt/slides/slide3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eyebrow">
            <a:extLst xmlns:a="http://schemas.openxmlformats.org/drawingml/2006/main">
              <a:ext uri="{FF2B5EF4-FFF2-40B4-BE49-F238E27FC236}">
                <a16:creationId xmlns:a16="http://schemas.microsoft.com/office/drawing/2014/main" id="{43159E4D-8A9A-42B2-87FA-69DB18E62B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815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975" b="1">
                <a:solidFill>
                  <a:srgbClr val="667085"/>
                </a:solidFill>
                <a:latin typeface="NanumSquare"/>
                <a:ea typeface="NanumSquare"/>
                <a:cs typeface="NanumSquare"/>
              </a:defRPr>
            </a:pPr>
            <a:r>
              <a:rPr sz="975" b="1">
                <a:solidFill>
                  <a:srgbClr val="667085"/>
                </a:solidFill>
                <a:latin typeface="NanumSquare"/>
                <a:ea typeface="NanumSquare"/>
                <a:cs typeface="NanumSquare"/>
              </a:rPr>
              <a:t>PRE-Q 01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CC562D03-5419-45B5-9B05-C731523235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38200"/>
            <a:ext cx="103632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2850" b="1">
                <a:solidFill>
                  <a:srgbClr val="1D1D1F"/>
                </a:solidFill>
                <a:latin typeface="NanumSquare"/>
                <a:ea typeface="NanumSquare"/>
                <a:cs typeface="NanumSquare"/>
              </a:defRPr>
            </a:pPr>
            <a:r>
              <a:rPr sz="2850" b="1">
                <a:solidFill>
                  <a:srgbClr val="1D1D1F"/>
                </a:solidFill>
                <a:latin typeface="NanumSquare"/>
                <a:ea typeface="NanumSquare"/>
                <a:cs typeface="NanumSquare"/>
              </a:rPr>
              <a:t>Q1. UX 디자인 전공자는 무엇을 준비해야 하나</a:t>
            </a:r>
          </a:p>
        </p:txBody>
      </p:sp>
      <p:sp>
        <p:nvSpPr>
          <p:cNvPr id="3" name="subtitle">
            <a:extLst xmlns:a="http://schemas.openxmlformats.org/drawingml/2006/main">
              <a:ext uri="{FF2B5EF4-FFF2-40B4-BE49-F238E27FC236}">
                <a16:creationId xmlns:a16="http://schemas.microsoft.com/office/drawing/2014/main" id="{02A5BD0E-84CA-4B70-93FB-45BE82D171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47850"/>
            <a:ext cx="103632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22000"/>
              </a:lnSpc>
              <a:buNone/>
              <a:defRPr sz="1575" b="0">
                <a:solidFill>
                  <a:srgbClr val="667085"/>
                </a:solidFill>
                <a:latin typeface="NanumSquare"/>
                <a:ea typeface="NanumSquare"/>
                <a:cs typeface="NanumSquare"/>
              </a:defRPr>
            </a:pPr>
            <a:r>
              <a:rPr sz="1575" b="0">
                <a:solidFill>
                  <a:srgbClr val="667085"/>
                </a:solidFill>
                <a:latin typeface="NanumSquare"/>
                <a:ea typeface="NanumSquare"/>
                <a:cs typeface="NanumSquare"/>
              </a:rPr>
              <a:t>기업은 ‘툴을 잘 쓰는 사람’보다 ‘불확실한 문제를 검증 가능한 형태로 바꾸는 사람’을 찾습니다.</a:t>
            </a:r>
          </a:p>
        </p:txBody>
      </p:sp>
      <p:sp>
        <p:nvSpPr>
          <p:cNvPr id="4" name="card-1">
            <a:extLst xmlns:a="http://schemas.openxmlformats.org/drawingml/2006/main">
              <a:ext uri="{FF2B5EF4-FFF2-40B4-BE49-F238E27FC236}">
                <a16:creationId xmlns:a16="http://schemas.microsoft.com/office/drawing/2014/main" id="{63FDEEF2-09D4-439F-8AC4-864F783F0D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0"/>
            <a:ext cx="3333750" cy="2362200"/>
          </a:xfrm>
          <a:prstGeom xmlns:a="http://schemas.openxmlformats.org/drawingml/2006/main" prst="roundRect">
            <a:avLst>
              <a:gd name="adj" fmla="val 483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510FE75-C439-49DF-AEA6-5AEC306E01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086100"/>
            <a:ext cx="2876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200" b="1">
                <a:solidFill>
                  <a:srgbClr val="0A2342"/>
                </a:solidFill>
                <a:latin typeface="NanumSquare"/>
                <a:ea typeface="NanumSquare"/>
                <a:cs typeface="NanumSquare"/>
              </a:defRPr>
            </a:pPr>
            <a:r>
              <a:rPr sz="1200" b="1">
                <a:solidFill>
                  <a:srgbClr val="0A2342"/>
                </a:solidFill>
                <a:latin typeface="NanumSquare"/>
                <a:ea typeface="NanumSquare"/>
                <a:cs typeface="NanumSquare"/>
              </a:rPr>
              <a:t>CORE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5DF9C1A-8ACB-4A2E-A4B3-D285A745C9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486150"/>
            <a:ext cx="28765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1D1D1F"/>
                </a:solidFill>
                <a:latin typeface="NanumSquare"/>
                <a:ea typeface="NanumSquare"/>
                <a:cs typeface="NanumSquare"/>
              </a:defRPr>
            </a:pPr>
            <a:r>
              <a:rPr sz="1800" b="1">
                <a:solidFill>
                  <a:srgbClr val="1D1D1F"/>
                </a:solidFill>
                <a:latin typeface="NanumSquare"/>
                <a:ea typeface="NanumSquare"/>
                <a:cs typeface="NanumSquare"/>
              </a:rPr>
              <a:t>문제 정의력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168F537-5A77-4C49-A8D6-73CCA146DC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229100"/>
            <a:ext cx="28765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275" b="0">
                <a:solidFill>
                  <a:srgbClr val="667085"/>
                </a:solidFill>
                <a:latin typeface="NanumSquare"/>
                <a:ea typeface="NanumSquare"/>
                <a:cs typeface="NanumSquare"/>
              </a:defRPr>
            </a:pPr>
            <a:r>
              <a:rPr sz="1275" b="0">
                <a:solidFill>
                  <a:srgbClr val="667085"/>
                </a:solidFill>
                <a:latin typeface="NanumSquare"/>
                <a:ea typeface="NanumSquare"/>
                <a:cs typeface="NanumSquare"/>
              </a:rPr>
              <a:t>사용자 말과 행동을 의도, 제약, 성공 지표로 번역하는 힘</a:t>
            </a:r>
          </a:p>
        </p:txBody>
      </p:sp>
      <p:sp>
        <p:nvSpPr>
          <p:cNvPr id="8" name="card-2">
            <a:extLst xmlns:a="http://schemas.openxmlformats.org/drawingml/2006/main">
              <a:ext uri="{FF2B5EF4-FFF2-40B4-BE49-F238E27FC236}">
                <a16:creationId xmlns:a16="http://schemas.microsoft.com/office/drawing/2014/main" id="{7A4320A8-F04E-4D51-B3B5-4FF31CB65D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2857500"/>
            <a:ext cx="3333750" cy="2362200"/>
          </a:xfrm>
          <a:prstGeom xmlns:a="http://schemas.openxmlformats.org/drawingml/2006/main" prst="roundRect">
            <a:avLst>
              <a:gd name="adj" fmla="val 483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BE3612C-6230-42A0-8FAE-C4283D0591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3086100"/>
            <a:ext cx="2876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200" b="1">
                <a:solidFill>
                  <a:srgbClr val="0A2342"/>
                </a:solidFill>
                <a:latin typeface="NanumSquare"/>
                <a:ea typeface="NanumSquare"/>
                <a:cs typeface="NanumSquare"/>
              </a:defRPr>
            </a:pPr>
            <a:r>
              <a:rPr sz="1200" b="1">
                <a:solidFill>
                  <a:srgbClr val="0A2342"/>
                </a:solidFill>
                <a:latin typeface="NanumSquare"/>
                <a:ea typeface="NanumSquare"/>
                <a:cs typeface="NanumSquare"/>
              </a:rPr>
              <a:t>AI UX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FE420DA-B2DF-432A-8B5A-B473CBEECE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3486150"/>
            <a:ext cx="28765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1D1D1F"/>
                </a:solidFill>
                <a:latin typeface="NanumSquare"/>
                <a:ea typeface="NanumSquare"/>
                <a:cs typeface="NanumSquare"/>
              </a:defRPr>
            </a:pPr>
            <a:r>
              <a:rPr sz="1800" b="1">
                <a:solidFill>
                  <a:srgbClr val="1D1D1F"/>
                </a:solidFill>
                <a:latin typeface="NanumSquare"/>
                <a:ea typeface="NanumSquare"/>
                <a:cs typeface="NanumSquare"/>
              </a:rPr>
              <a:t>신뢰 설계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C6ECC7B-63E5-42C7-80E9-84922815C5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4229100"/>
            <a:ext cx="28765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275" b="0">
                <a:solidFill>
                  <a:srgbClr val="667085"/>
                </a:solidFill>
                <a:latin typeface="NanumSquare"/>
                <a:ea typeface="NanumSquare"/>
                <a:cs typeface="NanumSquare"/>
              </a:defRPr>
            </a:pPr>
            <a:r>
              <a:rPr sz="1275" b="0">
                <a:solidFill>
                  <a:srgbClr val="667085"/>
                </a:solidFill>
                <a:latin typeface="NanumSquare"/>
                <a:ea typeface="NanumSquare"/>
                <a:cs typeface="NanumSquare"/>
              </a:rPr>
              <a:t>근거, 재질문, 오류, 안전 차단, 사람 확인 요청을 설계하는 힘</a:t>
            </a:r>
          </a:p>
        </p:txBody>
      </p:sp>
      <p:sp>
        <p:nvSpPr>
          <p:cNvPr id="12" name="card-3">
            <a:extLst xmlns:a="http://schemas.openxmlformats.org/drawingml/2006/main">
              <a:ext uri="{FF2B5EF4-FFF2-40B4-BE49-F238E27FC236}">
                <a16:creationId xmlns:a16="http://schemas.microsoft.com/office/drawing/2014/main" id="{2D892050-9950-4F9A-9037-9A310B0C2A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2857500"/>
            <a:ext cx="3333750" cy="2362200"/>
          </a:xfrm>
          <a:prstGeom xmlns:a="http://schemas.openxmlformats.org/drawingml/2006/main" prst="roundRect">
            <a:avLst>
              <a:gd name="adj" fmla="val 483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8C4977E-1083-47D2-8367-20CBDD124C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3086100"/>
            <a:ext cx="2876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200" b="1">
                <a:solidFill>
                  <a:srgbClr val="0A2342"/>
                </a:solidFill>
                <a:latin typeface="NanumSquare"/>
                <a:ea typeface="NanumSquare"/>
                <a:cs typeface="NanumSquare"/>
              </a:defRPr>
            </a:pPr>
            <a:r>
              <a:rPr sz="1200" b="1">
                <a:solidFill>
                  <a:srgbClr val="0A2342"/>
                </a:solidFill>
                <a:latin typeface="NanumSquare"/>
                <a:ea typeface="NanumSquare"/>
                <a:cs typeface="NanumSquare"/>
              </a:rPr>
              <a:t>PORTFOLIO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E333958-F583-4A06-AEAF-12F58BD7CD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3486150"/>
            <a:ext cx="28765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1D1D1F"/>
                </a:solidFill>
                <a:latin typeface="NanumSquare"/>
                <a:ea typeface="NanumSquare"/>
                <a:cs typeface="NanumSquare"/>
              </a:defRPr>
            </a:pPr>
            <a:r>
              <a:rPr sz="1800" b="1">
                <a:solidFill>
                  <a:srgbClr val="1D1D1F"/>
                </a:solidFill>
                <a:latin typeface="NanumSquare"/>
                <a:ea typeface="NanumSquare"/>
                <a:cs typeface="NanumSquare"/>
              </a:rPr>
              <a:t>실험 기록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4ED8A7F-612A-4621-9F00-483EC7F4AC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4229100"/>
            <a:ext cx="28765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275" b="0">
                <a:solidFill>
                  <a:srgbClr val="667085"/>
                </a:solidFill>
                <a:latin typeface="NanumSquare"/>
                <a:ea typeface="NanumSquare"/>
                <a:cs typeface="NanumSquare"/>
              </a:defRPr>
            </a:pPr>
            <a:r>
              <a:rPr sz="1275" b="0">
                <a:solidFill>
                  <a:srgbClr val="667085"/>
                </a:solidFill>
                <a:latin typeface="NanumSquare"/>
                <a:ea typeface="NanumSquare"/>
                <a:cs typeface="NanumSquare"/>
              </a:rPr>
              <a:t>프로토타입, UT, 로그, 지표, 개선안을 연결해 설명하는 힘</a:t>
            </a:r>
          </a:p>
        </p:txBody>
      </p:sp>
      <p:sp>
        <p:nvSpPr>
          <p:cNvPr id="16" name="footer-left">
            <a:extLst xmlns:a="http://schemas.openxmlformats.org/drawingml/2006/main">
              <a:ext uri="{FF2B5EF4-FFF2-40B4-BE49-F238E27FC236}">
                <a16:creationId xmlns:a16="http://schemas.microsoft.com/office/drawing/2014/main" id="{8D182652-0064-492D-BFB3-C574086209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476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825" b="0">
                <a:solidFill>
                  <a:srgbClr val="667085"/>
                </a:solidFill>
                <a:latin typeface="NanumSquare"/>
                <a:ea typeface="NanumSquare"/>
                <a:cs typeface="NanumSquare"/>
              </a:defRPr>
            </a:pPr>
            <a:r>
              <a:rPr sz="825" b="0">
                <a:solidFill>
                  <a:srgbClr val="667085"/>
                </a:solidFill>
                <a:latin typeface="NanumSquare"/>
                <a:ea typeface="NanumSquare"/>
                <a:cs typeface="NanumSquare"/>
              </a:rPr>
              <a:t>Goorm 20260701 AI Campus Prism 사전 특강</a:t>
            </a:r>
          </a:p>
        </p:txBody>
      </p:sp>
      <p:sp>
        <p:nvSpPr>
          <p:cNvPr id="17" name="footer-page">
            <a:extLst xmlns:a="http://schemas.openxmlformats.org/drawingml/2006/main">
              <a:ext uri="{FF2B5EF4-FFF2-40B4-BE49-F238E27FC236}">
                <a16:creationId xmlns:a16="http://schemas.microsoft.com/office/drawing/2014/main" id="{349A87B0-DD30-428B-854E-8783210B8E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6438900"/>
            <a:ext cx="400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lnSpc>
                <a:spcPct val="118000"/>
              </a:lnSpc>
              <a:buNone/>
              <a:defRPr sz="825" b="0">
                <a:solidFill>
                  <a:srgbClr val="667085"/>
                </a:solidFill>
                <a:latin typeface="NanumSquare"/>
                <a:ea typeface="NanumSquare"/>
                <a:cs typeface="NanumSquare"/>
              </a:defRPr>
            </a:pPr>
            <a:r>
              <a:rPr sz="825" b="0">
                <a:solidFill>
                  <a:srgbClr val="667085"/>
                </a:solidFill>
                <a:latin typeface="NanumSquare"/>
                <a:ea typeface="NanumSquare"/>
                <a:cs typeface="NanumSquare"/>
              </a:rPr>
              <a:t>37</a:t>
            </a:r>
          </a:p>
        </p:txBody>
      </p:sp>
    </p:spTree>
    <p:extLst>
      <p:ext uri="{BB962C8B-B14F-4D97-AF65-F5344CB8AC3E}">
        <p14:creationId xmlns:p14="http://schemas.microsoft.com/office/powerpoint/2010/main" val="1449413964"/>
      </p:ext>
    </p:extLst>
  </p:cSld>
</p:sld>
</file>

<file path=ppt/slides/slide38.xml><?xml version="1.0" encoding="utf-8"?>
<p:sld xmlns:p="http://schemas.openxmlformats.org/presentationml/2006/main">
  <p:cSld>
    <p:bg>
      <p:bgPr>
        <a:solidFill xmlns:a="http://schemas.openxmlformats.org/drawingml/2006/main">
          <a:srgbClr val="F5F6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eyebrow">
            <a:extLst xmlns:a="http://schemas.openxmlformats.org/drawingml/2006/main">
              <a:ext uri="{FF2B5EF4-FFF2-40B4-BE49-F238E27FC236}">
                <a16:creationId xmlns:a16="http://schemas.microsoft.com/office/drawing/2014/main" id="{551B727C-D547-4DCA-9338-36FDEC37C3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815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975" b="1">
                <a:solidFill>
                  <a:srgbClr val="667085"/>
                </a:solidFill>
                <a:latin typeface="NanumSquare"/>
                <a:ea typeface="NanumSquare"/>
                <a:cs typeface="NanumSquare"/>
              </a:defRPr>
            </a:pPr>
            <a:r>
              <a:rPr sz="975" b="1">
                <a:solidFill>
                  <a:srgbClr val="667085"/>
                </a:solidFill>
                <a:latin typeface="NanumSquare"/>
                <a:ea typeface="NanumSquare"/>
                <a:cs typeface="NanumSquare"/>
              </a:rPr>
              <a:t>PRE-Q 02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371E89F8-D2DF-4B3E-8104-ADDAF3D166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38200"/>
            <a:ext cx="103632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2850" b="1">
                <a:solidFill>
                  <a:srgbClr val="1D1D1F"/>
                </a:solidFill>
                <a:latin typeface="NanumSquare"/>
                <a:ea typeface="NanumSquare"/>
                <a:cs typeface="NanumSquare"/>
              </a:defRPr>
            </a:pPr>
            <a:r>
              <a:rPr sz="2850" b="1">
                <a:solidFill>
                  <a:srgbClr val="1D1D1F"/>
                </a:solidFill>
                <a:latin typeface="NanumSquare"/>
                <a:ea typeface="NanumSquare"/>
                <a:cs typeface="NanumSquare"/>
              </a:rPr>
              <a:t>Q2. 빌더, 디자인+엔지니어링 직무는 주류가 될까</a:t>
            </a:r>
          </a:p>
        </p:txBody>
      </p:sp>
      <p:sp>
        <p:nvSpPr>
          <p:cNvPr id="3" name="subtitle">
            <a:extLst xmlns:a="http://schemas.openxmlformats.org/drawingml/2006/main">
              <a:ext uri="{FF2B5EF4-FFF2-40B4-BE49-F238E27FC236}">
                <a16:creationId xmlns:a16="http://schemas.microsoft.com/office/drawing/2014/main" id="{0AA2CACE-A2FE-43B9-A236-589EDD4322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47850"/>
            <a:ext cx="103632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22000"/>
              </a:lnSpc>
              <a:buNone/>
              <a:defRPr sz="1575" b="0">
                <a:solidFill>
                  <a:srgbClr val="667085"/>
                </a:solidFill>
                <a:latin typeface="NanumSquare"/>
                <a:ea typeface="NanumSquare"/>
                <a:cs typeface="NanumSquare"/>
              </a:defRPr>
            </a:pPr>
            <a:r>
              <a:rPr sz="1575" b="0">
                <a:solidFill>
                  <a:srgbClr val="667085"/>
                </a:solidFill>
                <a:latin typeface="NanumSquare"/>
                <a:ea typeface="NanumSquare"/>
                <a:cs typeface="NanumSquare"/>
              </a:rPr>
              <a:t>정답은 ‘모든 사람이 다 하는 직무’가 아니라, 경계에서 빠르게 검증하는 역할이 커진다는 것입니다.</a:t>
            </a:r>
          </a:p>
        </p:txBody>
      </p:sp>
      <p:sp>
        <p:nvSpPr>
          <p:cNvPr id="4" name="answer">
            <a:extLst xmlns:a="http://schemas.openxmlformats.org/drawingml/2006/main">
              <a:ext uri="{FF2B5EF4-FFF2-40B4-BE49-F238E27FC236}">
                <a16:creationId xmlns:a16="http://schemas.microsoft.com/office/drawing/2014/main" id="{DE3464EF-E2A8-43DC-A7C5-94E96552E0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800350"/>
            <a:ext cx="9715500" cy="2190750"/>
          </a:xfrm>
          <a:prstGeom xmlns:a="http://schemas.openxmlformats.org/drawingml/2006/main" prst="roundRect">
            <a:avLst>
              <a:gd name="adj" fmla="val 521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113807A-01C9-4067-9535-D89C1FA795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3162300"/>
            <a:ext cx="88011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16000"/>
              </a:lnSpc>
              <a:buNone/>
              <a:defRPr sz="2100" b="1">
                <a:solidFill>
                  <a:srgbClr val="1D1D1F"/>
                </a:solidFill>
                <a:latin typeface="NanumSquare"/>
                <a:ea typeface="NanumSquare"/>
                <a:cs typeface="NanumSquare"/>
              </a:defRPr>
            </a:pPr>
            <a:r>
              <a:rPr sz="2100" b="1">
                <a:solidFill>
                  <a:srgbClr val="1D1D1F"/>
                </a:solidFill>
                <a:latin typeface="NanumSquare"/>
                <a:ea typeface="NanumSquare"/>
                <a:cs typeface="NanumSquare"/>
              </a:rPr>
              <a:t>앞으로 강해지는 사람은 한 직무를 버린 사람이 아니라, 자기 전문성을 중심에 두고 옆 직무의 산출물을 읽고 검증할 수 있는 사람입니다.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C8C3AFE-4797-427C-8F1B-FAE2030052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4229100"/>
            <a:ext cx="86868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18000"/>
              </a:lnSpc>
              <a:buNone/>
              <a:defRPr sz="1575" b="0">
                <a:solidFill>
                  <a:srgbClr val="667085"/>
                </a:solidFill>
                <a:latin typeface="NanumSquare"/>
                <a:ea typeface="NanumSquare"/>
                <a:cs typeface="NanumSquare"/>
              </a:defRPr>
            </a:pPr>
            <a:r>
              <a:rPr sz="1575" b="0">
                <a:solidFill>
                  <a:srgbClr val="667085"/>
                </a:solidFill>
                <a:latin typeface="NanumSquare"/>
                <a:ea typeface="NanumSquare"/>
                <a:cs typeface="NanumSquare"/>
              </a:rPr>
              <a:t>디자이너는 코드와 데이터의 제약을, 개발자는 사용자 상태와 신뢰를, PM은 시스템과 운영의 현실을 이해해야 합니다.</a:t>
            </a:r>
          </a:p>
        </p:txBody>
      </p:sp>
      <p:sp>
        <p:nvSpPr>
          <p:cNvPr id="7" name="footer-left">
            <a:extLst xmlns:a="http://schemas.openxmlformats.org/drawingml/2006/main">
              <a:ext uri="{FF2B5EF4-FFF2-40B4-BE49-F238E27FC236}">
                <a16:creationId xmlns:a16="http://schemas.microsoft.com/office/drawing/2014/main" id="{51ECAFD9-E42A-4004-AD19-D867AB053B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476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825" b="0">
                <a:solidFill>
                  <a:srgbClr val="667085"/>
                </a:solidFill>
                <a:latin typeface="NanumSquare"/>
                <a:ea typeface="NanumSquare"/>
                <a:cs typeface="NanumSquare"/>
              </a:defRPr>
            </a:pPr>
            <a:r>
              <a:rPr sz="825" b="0">
                <a:solidFill>
                  <a:srgbClr val="667085"/>
                </a:solidFill>
                <a:latin typeface="NanumSquare"/>
                <a:ea typeface="NanumSquare"/>
                <a:cs typeface="NanumSquare"/>
              </a:rPr>
              <a:t>Goorm 20260701 AI Campus Prism 사전 특강</a:t>
            </a:r>
          </a:p>
        </p:txBody>
      </p:sp>
      <p:sp>
        <p:nvSpPr>
          <p:cNvPr id="8" name="footer-page">
            <a:extLst xmlns:a="http://schemas.openxmlformats.org/drawingml/2006/main">
              <a:ext uri="{FF2B5EF4-FFF2-40B4-BE49-F238E27FC236}">
                <a16:creationId xmlns:a16="http://schemas.microsoft.com/office/drawing/2014/main" id="{3341C0DA-37F0-4F98-8FA2-2B1C629155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6438900"/>
            <a:ext cx="400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lnSpc>
                <a:spcPct val="118000"/>
              </a:lnSpc>
              <a:buNone/>
              <a:defRPr sz="825" b="0">
                <a:solidFill>
                  <a:srgbClr val="667085"/>
                </a:solidFill>
                <a:latin typeface="NanumSquare"/>
                <a:ea typeface="NanumSquare"/>
                <a:cs typeface="NanumSquare"/>
              </a:defRPr>
            </a:pPr>
            <a:r>
              <a:rPr sz="825" b="0">
                <a:solidFill>
                  <a:srgbClr val="667085"/>
                </a:solidFill>
                <a:latin typeface="NanumSquare"/>
                <a:ea typeface="NanumSquare"/>
                <a:cs typeface="NanumSquare"/>
              </a:rPr>
              <a:t>38</a:t>
            </a:r>
          </a:p>
        </p:txBody>
      </p:sp>
    </p:spTree>
    <p:extLst>
      <p:ext uri="{BB962C8B-B14F-4D97-AF65-F5344CB8AC3E}">
        <p14:creationId xmlns:p14="http://schemas.microsoft.com/office/powerpoint/2010/main" val="1862698881"/>
      </p:ext>
    </p:extLst>
  </p:cSld>
</p:sld>
</file>

<file path=ppt/slides/slide3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eyebrow">
            <a:extLst xmlns:a="http://schemas.openxmlformats.org/drawingml/2006/main">
              <a:ext uri="{FF2B5EF4-FFF2-40B4-BE49-F238E27FC236}">
                <a16:creationId xmlns:a16="http://schemas.microsoft.com/office/drawing/2014/main" id="{B9D4FDE9-16EE-4328-98E4-B1831F6C25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815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975" b="1">
                <a:solidFill>
                  <a:srgbClr val="667085"/>
                </a:solidFill>
                <a:latin typeface="NanumSquare"/>
                <a:ea typeface="NanumSquare"/>
                <a:cs typeface="NanumSquare"/>
              </a:defRPr>
            </a:pPr>
            <a:r>
              <a:rPr sz="975" b="1">
                <a:solidFill>
                  <a:srgbClr val="667085"/>
                </a:solidFill>
                <a:latin typeface="NanumSquare"/>
                <a:ea typeface="NanumSquare"/>
                <a:cs typeface="NanumSquare"/>
              </a:rPr>
              <a:t>PRE-Q 03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D8E79C4B-AE85-49DA-A7B1-A91E026EB4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38200"/>
            <a:ext cx="103632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2850" b="1">
                <a:solidFill>
                  <a:srgbClr val="1D1D1F"/>
                </a:solidFill>
                <a:latin typeface="NanumSquare"/>
                <a:ea typeface="NanumSquare"/>
                <a:cs typeface="NanumSquare"/>
              </a:defRPr>
            </a:pPr>
            <a:r>
              <a:rPr sz="2850" b="1">
                <a:solidFill>
                  <a:srgbClr val="1D1D1F"/>
                </a:solidFill>
                <a:latin typeface="NanumSquare"/>
                <a:ea typeface="NanumSquare"/>
                <a:cs typeface="NanumSquare"/>
              </a:rPr>
              <a:t>Q3. AI로 변화하는 직군과 업무 형태</a:t>
            </a:r>
          </a:p>
        </p:txBody>
      </p:sp>
      <p:sp>
        <p:nvSpPr>
          <p:cNvPr id="3" name="subtitle">
            <a:extLst xmlns:a="http://schemas.openxmlformats.org/drawingml/2006/main">
              <a:ext uri="{FF2B5EF4-FFF2-40B4-BE49-F238E27FC236}">
                <a16:creationId xmlns:a16="http://schemas.microsoft.com/office/drawing/2014/main" id="{620C1930-10C7-4446-8FA9-8D7B35B27F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47850"/>
            <a:ext cx="103632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22000"/>
              </a:lnSpc>
              <a:buNone/>
              <a:defRPr sz="1575" b="0">
                <a:solidFill>
                  <a:srgbClr val="667085"/>
                </a:solidFill>
                <a:latin typeface="NanumSquare"/>
                <a:ea typeface="NanumSquare"/>
                <a:cs typeface="NanumSquare"/>
              </a:defRPr>
            </a:pPr>
            <a:r>
              <a:rPr sz="1575" b="0">
                <a:solidFill>
                  <a:srgbClr val="667085"/>
                </a:solidFill>
                <a:latin typeface="NanumSquare"/>
                <a:ea typeface="NanumSquare"/>
                <a:cs typeface="NanumSquare"/>
              </a:rPr>
              <a:t>반복 업무는 줄고, 기준을 세우고 검증하고 운영하는 일이 늘어납니다.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1A9C33A-29F2-4961-8B4F-1FF239C7A9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2590800"/>
            <a:ext cx="762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125" b="1">
                <a:solidFill>
                  <a:srgbClr val="667085"/>
                </a:solidFill>
                <a:latin typeface="NanumSquare"/>
                <a:ea typeface="NanumSquare"/>
                <a:cs typeface="NanumSquare"/>
              </a:defRPr>
            </a:pPr>
            <a:r>
              <a:rPr sz="1125" b="1">
                <a:solidFill>
                  <a:srgbClr val="667085"/>
                </a:solidFill>
                <a:latin typeface="NanumSquare"/>
                <a:ea typeface="NanumSquare"/>
                <a:cs typeface="NanumSquare"/>
              </a:rPr>
              <a:t>Before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458CB8B-5620-4918-8D8A-D1C9AC0CDF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2590800"/>
            <a:ext cx="2476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425" b="0">
                <a:solidFill>
                  <a:srgbClr val="1D1D1F"/>
                </a:solidFill>
                <a:latin typeface="NanumSquare"/>
                <a:ea typeface="NanumSquare"/>
                <a:cs typeface="NanumSquare"/>
              </a:defRPr>
            </a:pPr>
            <a:r>
              <a:rPr sz="1425" b="0">
                <a:solidFill>
                  <a:srgbClr val="1D1D1F"/>
                </a:solidFill>
                <a:latin typeface="NanumSquare"/>
                <a:ea typeface="NanumSquare"/>
                <a:cs typeface="NanumSquare"/>
              </a:rPr>
              <a:t>문서 작성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30814DC-D3B1-49BF-A751-6A57A1657B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2571750"/>
            <a:ext cx="381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18000"/>
              </a:lnSpc>
              <a:buNone/>
              <a:defRPr sz="1800" b="0">
                <a:solidFill>
                  <a:srgbClr val="0A2342"/>
                </a:solidFill>
                <a:latin typeface="NanumSquare"/>
                <a:ea typeface="NanumSquare"/>
                <a:cs typeface="NanumSquare"/>
              </a:defRPr>
            </a:pPr>
            <a:r>
              <a:rPr sz="1800" b="0">
                <a:solidFill>
                  <a:srgbClr val="0A2342"/>
                </a:solidFill>
                <a:latin typeface="NanumSquare"/>
                <a:ea typeface="NanumSquare"/>
                <a:cs typeface="NanumSquare"/>
              </a:rPr>
              <a:t>→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FEF8855-AB65-4A33-BE62-608011659D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3100" y="2590800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125" b="1">
                <a:solidFill>
                  <a:srgbClr val="0A2342"/>
                </a:solidFill>
                <a:latin typeface="NanumSquare"/>
                <a:ea typeface="NanumSquare"/>
                <a:cs typeface="NanumSquare"/>
              </a:defRPr>
            </a:pPr>
            <a:r>
              <a:rPr sz="1125" b="1">
                <a:solidFill>
                  <a:srgbClr val="0A2342"/>
                </a:solidFill>
                <a:latin typeface="NanumSquare"/>
                <a:ea typeface="NanumSquare"/>
                <a:cs typeface="NanumSquare"/>
              </a:rPr>
              <a:t>After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5AFA2CF-7CFB-4D60-9BC8-A68BD2D2F3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590800"/>
            <a:ext cx="3429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425" b="1">
                <a:solidFill>
                  <a:srgbClr val="1D1D1F"/>
                </a:solidFill>
                <a:latin typeface="NanumSquare"/>
                <a:ea typeface="NanumSquare"/>
                <a:cs typeface="NanumSquare"/>
              </a:defRPr>
            </a:pPr>
            <a:r>
              <a:rPr sz="1425" b="1">
                <a:solidFill>
                  <a:srgbClr val="1D1D1F"/>
                </a:solidFill>
                <a:latin typeface="NanumSquare"/>
                <a:ea typeface="NanumSquare"/>
                <a:cs typeface="NanumSquare"/>
              </a:rPr>
              <a:t>정책·평가 기준 작성</a:t>
            </a:r>
          </a:p>
        </p:txBody>
      </p:sp>
      <p:sp>
        <p:nvSpPr>
          <p:cNvPr id="9" name="ba-rule-0">
            <a:extLst xmlns:a="http://schemas.openxmlformats.org/drawingml/2006/main">
              <a:ext uri="{FF2B5EF4-FFF2-40B4-BE49-F238E27FC236}">
                <a16:creationId xmlns:a16="http://schemas.microsoft.com/office/drawing/2014/main" id="{29929FF4-54F3-4E12-8CE8-25F8CD1D0E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2971800"/>
            <a:ext cx="8572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4CC8C2F-3E25-4F31-983A-6EA307B120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3181350"/>
            <a:ext cx="762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125" b="1">
                <a:solidFill>
                  <a:srgbClr val="667085"/>
                </a:solidFill>
                <a:latin typeface="NanumSquare"/>
                <a:ea typeface="NanumSquare"/>
                <a:cs typeface="NanumSquare"/>
              </a:defRPr>
            </a:pPr>
            <a:r>
              <a:rPr sz="1125" b="1">
                <a:solidFill>
                  <a:srgbClr val="667085"/>
                </a:solidFill>
                <a:latin typeface="NanumSquare"/>
                <a:ea typeface="NanumSquare"/>
                <a:cs typeface="NanumSquare"/>
              </a:rPr>
              <a:t>Before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9113260-F595-4076-BC15-2EC38C06ED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3181350"/>
            <a:ext cx="2476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425" b="0">
                <a:solidFill>
                  <a:srgbClr val="1D1D1F"/>
                </a:solidFill>
                <a:latin typeface="NanumSquare"/>
                <a:ea typeface="NanumSquare"/>
                <a:cs typeface="NanumSquare"/>
              </a:defRPr>
            </a:pPr>
            <a:r>
              <a:rPr sz="1425" b="0">
                <a:solidFill>
                  <a:srgbClr val="1D1D1F"/>
                </a:solidFill>
                <a:latin typeface="NanumSquare"/>
                <a:ea typeface="NanumSquare"/>
                <a:cs typeface="NanumSquare"/>
              </a:rPr>
              <a:t>화면 제작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CE1E673-E2F9-4EB3-8B84-7F1EB0CFD1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3162300"/>
            <a:ext cx="381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18000"/>
              </a:lnSpc>
              <a:buNone/>
              <a:defRPr sz="1800" b="0">
                <a:solidFill>
                  <a:srgbClr val="0A2342"/>
                </a:solidFill>
                <a:latin typeface="NanumSquare"/>
                <a:ea typeface="NanumSquare"/>
                <a:cs typeface="NanumSquare"/>
              </a:defRPr>
            </a:pPr>
            <a:r>
              <a:rPr sz="1800" b="0">
                <a:solidFill>
                  <a:srgbClr val="0A2342"/>
                </a:solidFill>
                <a:latin typeface="NanumSquare"/>
                <a:ea typeface="NanumSquare"/>
                <a:cs typeface="NanumSquare"/>
              </a:rPr>
              <a:t>→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A597237-8BFF-4693-B931-28B09DDA9C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3100" y="3181350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125" b="1">
                <a:solidFill>
                  <a:srgbClr val="0A2342"/>
                </a:solidFill>
                <a:latin typeface="NanumSquare"/>
                <a:ea typeface="NanumSquare"/>
                <a:cs typeface="NanumSquare"/>
              </a:defRPr>
            </a:pPr>
            <a:r>
              <a:rPr sz="1125" b="1">
                <a:solidFill>
                  <a:srgbClr val="0A2342"/>
                </a:solidFill>
                <a:latin typeface="NanumSquare"/>
                <a:ea typeface="NanumSquare"/>
                <a:cs typeface="NanumSquare"/>
              </a:rPr>
              <a:t>After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5C27074-C84D-47E7-A3F7-EFFB912E12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3181350"/>
            <a:ext cx="3429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425" b="1">
                <a:solidFill>
                  <a:srgbClr val="1D1D1F"/>
                </a:solidFill>
                <a:latin typeface="NanumSquare"/>
                <a:ea typeface="NanumSquare"/>
                <a:cs typeface="NanumSquare"/>
              </a:defRPr>
            </a:pPr>
            <a:r>
              <a:rPr sz="1425" b="1">
                <a:solidFill>
                  <a:srgbClr val="1D1D1F"/>
                </a:solidFill>
                <a:latin typeface="NanumSquare"/>
                <a:ea typeface="NanumSquare"/>
                <a:cs typeface="NanumSquare"/>
              </a:rPr>
              <a:t>AI 상태·신뢰 흐름 설계</a:t>
            </a:r>
          </a:p>
        </p:txBody>
      </p:sp>
      <p:sp>
        <p:nvSpPr>
          <p:cNvPr id="15" name="ba-rule-1">
            <a:extLst xmlns:a="http://schemas.openxmlformats.org/drawingml/2006/main">
              <a:ext uri="{FF2B5EF4-FFF2-40B4-BE49-F238E27FC236}">
                <a16:creationId xmlns:a16="http://schemas.microsoft.com/office/drawing/2014/main" id="{F7B547A0-DE55-4CC0-88C3-6649FBE843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3562350"/>
            <a:ext cx="8572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EC95009-645E-40B0-900D-6478CEEBEB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3771900"/>
            <a:ext cx="762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125" b="1">
                <a:solidFill>
                  <a:srgbClr val="667085"/>
                </a:solidFill>
                <a:latin typeface="NanumSquare"/>
                <a:ea typeface="NanumSquare"/>
                <a:cs typeface="NanumSquare"/>
              </a:defRPr>
            </a:pPr>
            <a:r>
              <a:rPr sz="1125" b="1">
                <a:solidFill>
                  <a:srgbClr val="667085"/>
                </a:solidFill>
                <a:latin typeface="NanumSquare"/>
                <a:ea typeface="NanumSquare"/>
                <a:cs typeface="NanumSquare"/>
              </a:rPr>
              <a:t>Before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2C6655A-7000-4616-97B5-591CD2CB58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3771900"/>
            <a:ext cx="2476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425" b="0">
                <a:solidFill>
                  <a:srgbClr val="1D1D1F"/>
                </a:solidFill>
                <a:latin typeface="NanumSquare"/>
                <a:ea typeface="NanumSquare"/>
                <a:cs typeface="NanumSquare"/>
              </a:defRPr>
            </a:pPr>
            <a:r>
              <a:rPr sz="1425" b="0">
                <a:solidFill>
                  <a:srgbClr val="1D1D1F"/>
                </a:solidFill>
                <a:latin typeface="NanumSquare"/>
                <a:ea typeface="NanumSquare"/>
                <a:cs typeface="NanumSquare"/>
              </a:rPr>
              <a:t>코드 구현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D590200-7E76-456F-988B-A1BA81BC8E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3752850"/>
            <a:ext cx="381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18000"/>
              </a:lnSpc>
              <a:buNone/>
              <a:defRPr sz="1800" b="0">
                <a:solidFill>
                  <a:srgbClr val="0A2342"/>
                </a:solidFill>
                <a:latin typeface="NanumSquare"/>
                <a:ea typeface="NanumSquare"/>
                <a:cs typeface="NanumSquare"/>
              </a:defRPr>
            </a:pPr>
            <a:r>
              <a:rPr sz="1800" b="0">
                <a:solidFill>
                  <a:srgbClr val="0A2342"/>
                </a:solidFill>
                <a:latin typeface="NanumSquare"/>
                <a:ea typeface="NanumSquare"/>
                <a:cs typeface="NanumSquare"/>
              </a:rPr>
              <a:t>→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0FD3B4B-490B-439E-8E06-42124C2C0A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3100" y="3771900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125" b="1">
                <a:solidFill>
                  <a:srgbClr val="0A2342"/>
                </a:solidFill>
                <a:latin typeface="NanumSquare"/>
                <a:ea typeface="NanumSquare"/>
                <a:cs typeface="NanumSquare"/>
              </a:defRPr>
            </a:pPr>
            <a:r>
              <a:rPr sz="1125" b="1">
                <a:solidFill>
                  <a:srgbClr val="0A2342"/>
                </a:solidFill>
                <a:latin typeface="NanumSquare"/>
                <a:ea typeface="NanumSquare"/>
                <a:cs typeface="NanumSquare"/>
              </a:rPr>
              <a:t>After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BBBF1F0-D5C4-40E2-927E-DB954B46C8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3771900"/>
            <a:ext cx="3429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425" b="1">
                <a:solidFill>
                  <a:srgbClr val="1D1D1F"/>
                </a:solidFill>
                <a:latin typeface="NanumSquare"/>
                <a:ea typeface="NanumSquare"/>
                <a:cs typeface="NanumSquare"/>
              </a:defRPr>
            </a:pPr>
            <a:r>
              <a:rPr sz="1425" b="1">
                <a:solidFill>
                  <a:srgbClr val="1D1D1F"/>
                </a:solidFill>
                <a:latin typeface="NanumSquare"/>
                <a:ea typeface="NanumSquare"/>
                <a:cs typeface="NanumSquare"/>
              </a:rPr>
              <a:t>AI 생성 코드 검증·테스트</a:t>
            </a:r>
          </a:p>
        </p:txBody>
      </p:sp>
      <p:sp>
        <p:nvSpPr>
          <p:cNvPr id="21" name="ba-rule-2">
            <a:extLst xmlns:a="http://schemas.openxmlformats.org/drawingml/2006/main">
              <a:ext uri="{FF2B5EF4-FFF2-40B4-BE49-F238E27FC236}">
                <a16:creationId xmlns:a16="http://schemas.microsoft.com/office/drawing/2014/main" id="{61495B0E-54DF-4B6A-B88D-E9645188ED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4152900"/>
            <a:ext cx="8572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D0D2D0F-0772-4B76-9B84-F91DFC8938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4362450"/>
            <a:ext cx="762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125" b="1">
                <a:solidFill>
                  <a:srgbClr val="667085"/>
                </a:solidFill>
                <a:latin typeface="NanumSquare"/>
                <a:ea typeface="NanumSquare"/>
                <a:cs typeface="NanumSquare"/>
              </a:defRPr>
            </a:pPr>
            <a:r>
              <a:rPr sz="1125" b="1">
                <a:solidFill>
                  <a:srgbClr val="667085"/>
                </a:solidFill>
                <a:latin typeface="NanumSquare"/>
                <a:ea typeface="NanumSquare"/>
                <a:cs typeface="NanumSquare"/>
              </a:rPr>
              <a:t>Before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E0DA76D-6679-4EF4-AA0E-7F3B1BDE1A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4362450"/>
            <a:ext cx="2476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425" b="0">
                <a:solidFill>
                  <a:srgbClr val="1D1D1F"/>
                </a:solidFill>
                <a:latin typeface="NanumSquare"/>
                <a:ea typeface="NanumSquare"/>
                <a:cs typeface="NanumSquare"/>
              </a:defRPr>
            </a:pPr>
            <a:r>
              <a:rPr sz="1425" b="0">
                <a:solidFill>
                  <a:srgbClr val="1D1D1F"/>
                </a:solidFill>
                <a:latin typeface="NanumSquare"/>
                <a:ea typeface="NanumSquare"/>
                <a:cs typeface="NanumSquare"/>
              </a:rPr>
              <a:t>데이터 추출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776D51C-60C0-4869-868B-0C04661E84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4343400"/>
            <a:ext cx="381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18000"/>
              </a:lnSpc>
              <a:buNone/>
              <a:defRPr sz="1800" b="0">
                <a:solidFill>
                  <a:srgbClr val="0A2342"/>
                </a:solidFill>
                <a:latin typeface="NanumSquare"/>
                <a:ea typeface="NanumSquare"/>
                <a:cs typeface="NanumSquare"/>
              </a:defRPr>
            </a:pPr>
            <a:r>
              <a:rPr sz="1800" b="0">
                <a:solidFill>
                  <a:srgbClr val="0A2342"/>
                </a:solidFill>
                <a:latin typeface="NanumSquare"/>
                <a:ea typeface="NanumSquare"/>
                <a:cs typeface="NanumSquare"/>
              </a:rPr>
              <a:t>→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BAE84D4-4C3A-4FB3-805D-5FD55154A3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3100" y="4362450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125" b="1">
                <a:solidFill>
                  <a:srgbClr val="0A2342"/>
                </a:solidFill>
                <a:latin typeface="NanumSquare"/>
                <a:ea typeface="NanumSquare"/>
                <a:cs typeface="NanumSquare"/>
              </a:defRPr>
            </a:pPr>
            <a:r>
              <a:rPr sz="1125" b="1">
                <a:solidFill>
                  <a:srgbClr val="0A2342"/>
                </a:solidFill>
                <a:latin typeface="NanumSquare"/>
                <a:ea typeface="NanumSquare"/>
                <a:cs typeface="NanumSquare"/>
              </a:rPr>
              <a:t>After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70C4AF5-8796-47EC-8A06-C3E9234E3E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4362450"/>
            <a:ext cx="3429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425" b="1">
                <a:solidFill>
                  <a:srgbClr val="1D1D1F"/>
                </a:solidFill>
                <a:latin typeface="NanumSquare"/>
                <a:ea typeface="NanumSquare"/>
                <a:cs typeface="NanumSquare"/>
              </a:defRPr>
            </a:pPr>
            <a:r>
              <a:rPr sz="1425" b="1">
                <a:solidFill>
                  <a:srgbClr val="1D1D1F"/>
                </a:solidFill>
                <a:latin typeface="NanumSquare"/>
                <a:ea typeface="NanumSquare"/>
                <a:cs typeface="NanumSquare"/>
              </a:rPr>
              <a:t>데이터 계약·품질 운영</a:t>
            </a:r>
          </a:p>
        </p:txBody>
      </p:sp>
      <p:sp>
        <p:nvSpPr>
          <p:cNvPr id="27" name="ba-rule-3">
            <a:extLst xmlns:a="http://schemas.openxmlformats.org/drawingml/2006/main">
              <a:ext uri="{FF2B5EF4-FFF2-40B4-BE49-F238E27FC236}">
                <a16:creationId xmlns:a16="http://schemas.microsoft.com/office/drawing/2014/main" id="{673ED16D-E0B6-40FB-85C2-3016091A9D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4743450"/>
            <a:ext cx="8572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473BF3A-6953-41D8-A2E4-66096A5CF3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4953000"/>
            <a:ext cx="762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125" b="1">
                <a:solidFill>
                  <a:srgbClr val="667085"/>
                </a:solidFill>
                <a:latin typeface="NanumSquare"/>
                <a:ea typeface="NanumSquare"/>
                <a:cs typeface="NanumSquare"/>
              </a:defRPr>
            </a:pPr>
            <a:r>
              <a:rPr sz="1125" b="1">
                <a:solidFill>
                  <a:srgbClr val="667085"/>
                </a:solidFill>
                <a:latin typeface="NanumSquare"/>
                <a:ea typeface="NanumSquare"/>
                <a:cs typeface="NanumSquare"/>
              </a:rPr>
              <a:t>Before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0C03C1F-1AED-4633-A580-C4AFE7C6CE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4953000"/>
            <a:ext cx="2476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425" b="0">
                <a:solidFill>
                  <a:srgbClr val="1D1D1F"/>
                </a:solidFill>
                <a:latin typeface="NanumSquare"/>
                <a:ea typeface="NanumSquare"/>
                <a:cs typeface="NanumSquare"/>
              </a:defRPr>
            </a:pPr>
            <a:r>
              <a:rPr sz="1425" b="0">
                <a:solidFill>
                  <a:srgbClr val="1D1D1F"/>
                </a:solidFill>
                <a:latin typeface="NanumSquare"/>
                <a:ea typeface="NanumSquare"/>
                <a:cs typeface="NanumSquare"/>
              </a:rPr>
              <a:t>배포 후 대응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6947D1A0-3363-4B04-9AA5-26C5576293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4933950"/>
            <a:ext cx="381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18000"/>
              </a:lnSpc>
              <a:buNone/>
              <a:defRPr sz="1800" b="0">
                <a:solidFill>
                  <a:srgbClr val="0A2342"/>
                </a:solidFill>
                <a:latin typeface="NanumSquare"/>
                <a:ea typeface="NanumSquare"/>
                <a:cs typeface="NanumSquare"/>
              </a:defRPr>
            </a:pPr>
            <a:r>
              <a:rPr sz="1800" b="0">
                <a:solidFill>
                  <a:srgbClr val="0A2342"/>
                </a:solidFill>
                <a:latin typeface="NanumSquare"/>
                <a:ea typeface="NanumSquare"/>
                <a:cs typeface="NanumSquare"/>
              </a:rPr>
              <a:t>→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C20249BF-35FA-431F-B0C5-9DFBAA0536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3100" y="4953000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125" b="1">
                <a:solidFill>
                  <a:srgbClr val="0A2342"/>
                </a:solidFill>
                <a:latin typeface="NanumSquare"/>
                <a:ea typeface="NanumSquare"/>
                <a:cs typeface="NanumSquare"/>
              </a:defRPr>
            </a:pPr>
            <a:r>
              <a:rPr sz="1125" b="1">
                <a:solidFill>
                  <a:srgbClr val="0A2342"/>
                </a:solidFill>
                <a:latin typeface="NanumSquare"/>
                <a:ea typeface="NanumSquare"/>
                <a:cs typeface="NanumSquare"/>
              </a:rPr>
              <a:t>After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71E72D98-8655-4996-A0D4-607D3BAF4F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4953000"/>
            <a:ext cx="3429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425" b="1">
                <a:solidFill>
                  <a:srgbClr val="1D1D1F"/>
                </a:solidFill>
                <a:latin typeface="NanumSquare"/>
                <a:ea typeface="NanumSquare"/>
                <a:cs typeface="NanumSquare"/>
              </a:defRPr>
            </a:pPr>
            <a:r>
              <a:rPr sz="1425" b="1">
                <a:solidFill>
                  <a:srgbClr val="1D1D1F"/>
                </a:solidFill>
                <a:latin typeface="NanumSquare"/>
                <a:ea typeface="NanumSquare"/>
                <a:cs typeface="NanumSquare"/>
              </a:rPr>
              <a:t>관측성·Runbook·가드레일</a:t>
            </a:r>
          </a:p>
        </p:txBody>
      </p:sp>
      <p:sp>
        <p:nvSpPr>
          <p:cNvPr id="33" name="ba-rule-4">
            <a:extLst xmlns:a="http://schemas.openxmlformats.org/drawingml/2006/main">
              <a:ext uri="{FF2B5EF4-FFF2-40B4-BE49-F238E27FC236}">
                <a16:creationId xmlns:a16="http://schemas.microsoft.com/office/drawing/2014/main" id="{8F4D9FEC-546D-4904-8CBE-8E2C8E550E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5334000"/>
            <a:ext cx="8572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34" name="footer-left">
            <a:extLst xmlns:a="http://schemas.openxmlformats.org/drawingml/2006/main">
              <a:ext uri="{FF2B5EF4-FFF2-40B4-BE49-F238E27FC236}">
                <a16:creationId xmlns:a16="http://schemas.microsoft.com/office/drawing/2014/main" id="{17F56B9A-BDF5-4FCF-BD18-634D53F860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476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825" b="0">
                <a:solidFill>
                  <a:srgbClr val="667085"/>
                </a:solidFill>
                <a:latin typeface="NanumSquare"/>
                <a:ea typeface="NanumSquare"/>
                <a:cs typeface="NanumSquare"/>
              </a:defRPr>
            </a:pPr>
            <a:r>
              <a:rPr sz="825" b="0">
                <a:solidFill>
                  <a:srgbClr val="667085"/>
                </a:solidFill>
                <a:latin typeface="NanumSquare"/>
                <a:ea typeface="NanumSquare"/>
                <a:cs typeface="NanumSquare"/>
              </a:rPr>
              <a:t>Goorm 20260701 AI Campus Prism 사전 특강</a:t>
            </a:r>
          </a:p>
        </p:txBody>
      </p:sp>
      <p:sp>
        <p:nvSpPr>
          <p:cNvPr id="35" name="footer-page">
            <a:extLst xmlns:a="http://schemas.openxmlformats.org/drawingml/2006/main">
              <a:ext uri="{FF2B5EF4-FFF2-40B4-BE49-F238E27FC236}">
                <a16:creationId xmlns:a16="http://schemas.microsoft.com/office/drawing/2014/main" id="{A988E0EC-D50D-400F-94BA-77A7D5E421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6438900"/>
            <a:ext cx="400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lnSpc>
                <a:spcPct val="118000"/>
              </a:lnSpc>
              <a:buNone/>
              <a:defRPr sz="825" b="0">
                <a:solidFill>
                  <a:srgbClr val="667085"/>
                </a:solidFill>
                <a:latin typeface="NanumSquare"/>
                <a:ea typeface="NanumSquare"/>
                <a:cs typeface="NanumSquare"/>
              </a:defRPr>
            </a:pPr>
            <a:r>
              <a:rPr sz="825" b="0">
                <a:solidFill>
                  <a:srgbClr val="667085"/>
                </a:solidFill>
                <a:latin typeface="NanumSquare"/>
                <a:ea typeface="NanumSquare"/>
                <a:cs typeface="NanumSquare"/>
              </a:rPr>
              <a:t>39</a:t>
            </a:r>
          </a:p>
        </p:txBody>
      </p:sp>
    </p:spTree>
    <p:extLst>
      <p:ext uri="{BB962C8B-B14F-4D97-AF65-F5344CB8AC3E}">
        <p14:creationId xmlns:p14="http://schemas.microsoft.com/office/powerpoint/2010/main" val="762187047"/>
      </p:ext>
    </p:extLst>
  </p:cSld>
</p:sld>
</file>

<file path=ppt/slides/slide40.xml><?xml version="1.0" encoding="utf-8"?>
<p:sld xmlns:p="http://schemas.openxmlformats.org/presentationml/2006/main">
  <p:cSld>
    <p:bg>
      <p:bgPr>
        <a:solidFill xmlns:a="http://schemas.openxmlformats.org/drawingml/2006/main">
          <a:srgbClr val="F5F6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eyebrow">
            <a:extLst xmlns:a="http://schemas.openxmlformats.org/drawingml/2006/main">
              <a:ext uri="{FF2B5EF4-FFF2-40B4-BE49-F238E27FC236}">
                <a16:creationId xmlns:a16="http://schemas.microsoft.com/office/drawing/2014/main" id="{F8587B09-26A8-4869-8E71-E2B6DE16B4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815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975" b="1">
                <a:solidFill>
                  <a:srgbClr val="667085"/>
                </a:solidFill>
                <a:latin typeface="NanumSquare"/>
                <a:ea typeface="NanumSquare"/>
                <a:cs typeface="NanumSquare"/>
              </a:defRPr>
            </a:pPr>
            <a:r>
              <a:rPr sz="975" b="1">
                <a:solidFill>
                  <a:srgbClr val="667085"/>
                </a:solidFill>
                <a:latin typeface="NanumSquare"/>
                <a:ea typeface="NanumSquare"/>
                <a:cs typeface="NanumSquare"/>
              </a:rPr>
              <a:t>PRE-Q 04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2D0601BC-14F0-4A28-8BCD-0339852651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38200"/>
            <a:ext cx="103632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2850" b="1">
                <a:solidFill>
                  <a:srgbClr val="1D1D1F"/>
                </a:solidFill>
                <a:latin typeface="NanumSquare"/>
                <a:ea typeface="NanumSquare"/>
                <a:cs typeface="NanumSquare"/>
              </a:defRPr>
            </a:pPr>
            <a:r>
              <a:rPr sz="2850" b="1">
                <a:solidFill>
                  <a:srgbClr val="1D1D1F"/>
                </a:solidFill>
                <a:latin typeface="NanumSquare"/>
                <a:ea typeface="NanumSquare"/>
                <a:cs typeface="NanumSquare"/>
              </a:rPr>
              <a:t>Q4. 패션 플랫폼 취업을 준비한다면</a:t>
            </a:r>
          </a:p>
        </p:txBody>
      </p:sp>
      <p:sp>
        <p:nvSpPr>
          <p:cNvPr id="3" name="subtitle">
            <a:extLst xmlns:a="http://schemas.openxmlformats.org/drawingml/2006/main">
              <a:ext uri="{FF2B5EF4-FFF2-40B4-BE49-F238E27FC236}">
                <a16:creationId xmlns:a16="http://schemas.microsoft.com/office/drawing/2014/main" id="{E8D0B51D-E49D-4095-B01D-876B0685A1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47850"/>
            <a:ext cx="103632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22000"/>
              </a:lnSpc>
              <a:buNone/>
              <a:defRPr sz="1575" b="0">
                <a:solidFill>
                  <a:srgbClr val="667085"/>
                </a:solidFill>
                <a:latin typeface="NanumSquare"/>
                <a:ea typeface="NanumSquare"/>
                <a:cs typeface="NanumSquare"/>
              </a:defRPr>
            </a:pPr>
            <a:r>
              <a:rPr sz="1575" b="0">
                <a:solidFill>
                  <a:srgbClr val="667085"/>
                </a:solidFill>
                <a:latin typeface="NanumSquare"/>
                <a:ea typeface="NanumSquare"/>
                <a:cs typeface="NanumSquare"/>
              </a:rPr>
              <a:t>특정 회사의 정답은 없지만, 플랫폼 기업이 공통적으로 확인하는 역량은 분명합니다.</a:t>
            </a:r>
          </a:p>
        </p:txBody>
      </p:sp>
      <p:sp>
        <p:nvSpPr>
          <p:cNvPr id="4" name="card-1">
            <a:extLst xmlns:a="http://schemas.openxmlformats.org/drawingml/2006/main">
              <a:ext uri="{FF2B5EF4-FFF2-40B4-BE49-F238E27FC236}">
                <a16:creationId xmlns:a16="http://schemas.microsoft.com/office/drawing/2014/main" id="{76AA5F6F-CE43-4342-8377-19F40F138F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0"/>
            <a:ext cx="3333750" cy="2362200"/>
          </a:xfrm>
          <a:prstGeom xmlns:a="http://schemas.openxmlformats.org/drawingml/2006/main" prst="roundRect">
            <a:avLst>
              <a:gd name="adj" fmla="val 483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2B854F3-D283-41EC-ADD1-192F035C60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086100"/>
            <a:ext cx="2876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200" b="1">
                <a:solidFill>
                  <a:srgbClr val="0A2342"/>
                </a:solidFill>
                <a:latin typeface="NanumSquare"/>
                <a:ea typeface="NanumSquare"/>
                <a:cs typeface="NanumSquare"/>
              </a:defRPr>
            </a:pPr>
            <a:r>
              <a:rPr sz="1200" b="1">
                <a:solidFill>
                  <a:srgbClr val="0A2342"/>
                </a:solidFill>
                <a:latin typeface="NanumSquare"/>
                <a:ea typeface="NanumSquare"/>
                <a:cs typeface="NanumSquare"/>
              </a:rPr>
              <a:t>DOMAIN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0A13277-07E4-43C5-BCC3-6FAF30E5C9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486150"/>
            <a:ext cx="28765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1D1D1F"/>
                </a:solidFill>
                <a:latin typeface="NanumSquare"/>
                <a:ea typeface="NanumSquare"/>
                <a:cs typeface="NanumSquare"/>
              </a:defRPr>
            </a:pPr>
            <a:r>
              <a:rPr sz="1800" b="1">
                <a:solidFill>
                  <a:srgbClr val="1D1D1F"/>
                </a:solidFill>
                <a:latin typeface="NanumSquare"/>
                <a:ea typeface="NanumSquare"/>
                <a:cs typeface="NanumSquare"/>
              </a:rPr>
              <a:t>고객·상품 감각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D2BB36B-C53A-4098-8724-F5F0D64F93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229100"/>
            <a:ext cx="28765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275" b="0">
                <a:solidFill>
                  <a:srgbClr val="667085"/>
                </a:solidFill>
                <a:latin typeface="NanumSquare"/>
                <a:ea typeface="NanumSquare"/>
                <a:cs typeface="NanumSquare"/>
              </a:defRPr>
            </a:pPr>
            <a:r>
              <a:rPr sz="1275" b="0">
                <a:solidFill>
                  <a:srgbClr val="667085"/>
                </a:solidFill>
                <a:latin typeface="NanumSquare"/>
                <a:ea typeface="NanumSquare"/>
                <a:cs typeface="NanumSquare"/>
              </a:rPr>
              <a:t>검색, 추천, 리뷰, 재고, 브랜드, 가격의 맥락을 이해</a:t>
            </a:r>
          </a:p>
        </p:txBody>
      </p:sp>
      <p:sp>
        <p:nvSpPr>
          <p:cNvPr id="8" name="card-2">
            <a:extLst xmlns:a="http://schemas.openxmlformats.org/drawingml/2006/main">
              <a:ext uri="{FF2B5EF4-FFF2-40B4-BE49-F238E27FC236}">
                <a16:creationId xmlns:a16="http://schemas.microsoft.com/office/drawing/2014/main" id="{73CA9061-11FF-4D21-8997-DA0B771455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2857500"/>
            <a:ext cx="3333750" cy="2362200"/>
          </a:xfrm>
          <a:prstGeom xmlns:a="http://schemas.openxmlformats.org/drawingml/2006/main" prst="roundRect">
            <a:avLst>
              <a:gd name="adj" fmla="val 483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2589976-9017-4ACB-883E-4C90EFBDAF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3086100"/>
            <a:ext cx="2876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200" b="1">
                <a:solidFill>
                  <a:srgbClr val="0A2342"/>
                </a:solidFill>
                <a:latin typeface="NanumSquare"/>
                <a:ea typeface="NanumSquare"/>
                <a:cs typeface="NanumSquare"/>
              </a:defRPr>
            </a:pPr>
            <a:r>
              <a:rPr sz="1200" b="1">
                <a:solidFill>
                  <a:srgbClr val="0A2342"/>
                </a:solidFill>
                <a:latin typeface="NanumSquare"/>
                <a:ea typeface="NanumSquare"/>
                <a:cs typeface="NanumSquare"/>
              </a:rPr>
              <a:t>DATA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3D1C9C5-6C14-4711-B03E-7DF6CA719D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3486150"/>
            <a:ext cx="28765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1D1D1F"/>
                </a:solidFill>
                <a:latin typeface="NanumSquare"/>
                <a:ea typeface="NanumSquare"/>
                <a:cs typeface="NanumSquare"/>
              </a:defRPr>
            </a:pPr>
            <a:r>
              <a:rPr sz="1800" b="1">
                <a:solidFill>
                  <a:srgbClr val="1D1D1F"/>
                </a:solidFill>
                <a:latin typeface="NanumSquare"/>
                <a:ea typeface="NanumSquare"/>
                <a:cs typeface="NanumSquare"/>
              </a:rPr>
              <a:t>지표와 실험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929BF99-E6B5-4F52-9F08-9242AEDE4D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4229100"/>
            <a:ext cx="28765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275" b="0">
                <a:solidFill>
                  <a:srgbClr val="667085"/>
                </a:solidFill>
                <a:latin typeface="NanumSquare"/>
                <a:ea typeface="NanumSquare"/>
                <a:cs typeface="NanumSquare"/>
              </a:defRPr>
            </a:pPr>
            <a:r>
              <a:rPr sz="1275" b="0">
                <a:solidFill>
                  <a:srgbClr val="667085"/>
                </a:solidFill>
                <a:latin typeface="NanumSquare"/>
                <a:ea typeface="NanumSquare"/>
                <a:cs typeface="NanumSquare"/>
              </a:rPr>
              <a:t>CTR/CVR만이 아니라 저장률, 선택 확신도, 재질문율, 품질 지표를 해석</a:t>
            </a:r>
          </a:p>
        </p:txBody>
      </p:sp>
      <p:sp>
        <p:nvSpPr>
          <p:cNvPr id="12" name="card-3">
            <a:extLst xmlns:a="http://schemas.openxmlformats.org/drawingml/2006/main">
              <a:ext uri="{FF2B5EF4-FFF2-40B4-BE49-F238E27FC236}">
                <a16:creationId xmlns:a16="http://schemas.microsoft.com/office/drawing/2014/main" id="{CFEACEE5-F9C8-49BE-BEE3-35A8E0051B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2857500"/>
            <a:ext cx="3333750" cy="2362200"/>
          </a:xfrm>
          <a:prstGeom xmlns:a="http://schemas.openxmlformats.org/drawingml/2006/main" prst="roundRect">
            <a:avLst>
              <a:gd name="adj" fmla="val 483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2240DF9-11E0-4682-9C8B-F1C047692D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3086100"/>
            <a:ext cx="2876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200" b="1">
                <a:solidFill>
                  <a:srgbClr val="0A2342"/>
                </a:solidFill>
                <a:latin typeface="NanumSquare"/>
                <a:ea typeface="NanumSquare"/>
                <a:cs typeface="NanumSquare"/>
              </a:defRPr>
            </a:pPr>
            <a:r>
              <a:rPr sz="1200" b="1">
                <a:solidFill>
                  <a:srgbClr val="0A2342"/>
                </a:solidFill>
                <a:latin typeface="NanumSquare"/>
                <a:ea typeface="NanumSquare"/>
                <a:cs typeface="NanumSquare"/>
              </a:rPr>
              <a:t>AI NATIVE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855D1EC-396E-4776-8B73-44C35F4C3E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3486150"/>
            <a:ext cx="28765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1D1D1F"/>
                </a:solidFill>
                <a:latin typeface="NanumSquare"/>
                <a:ea typeface="NanumSquare"/>
                <a:cs typeface="NanumSquare"/>
              </a:defRPr>
            </a:pPr>
            <a:r>
              <a:rPr sz="1800" b="1">
                <a:solidFill>
                  <a:srgbClr val="1D1D1F"/>
                </a:solidFill>
                <a:latin typeface="NanumSquare"/>
                <a:ea typeface="NanumSquare"/>
                <a:cs typeface="NanumSquare"/>
              </a:rPr>
              <a:t>도구+검증+운영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F47B9D3-BC0D-4794-AD1C-551B8C3935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4229100"/>
            <a:ext cx="28765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275" b="0">
                <a:solidFill>
                  <a:srgbClr val="667085"/>
                </a:solidFill>
                <a:latin typeface="NanumSquare"/>
                <a:ea typeface="NanumSquare"/>
                <a:cs typeface="NanumSquare"/>
              </a:defRPr>
            </a:pPr>
            <a:r>
              <a:rPr sz="1275" b="0">
                <a:solidFill>
                  <a:srgbClr val="667085"/>
                </a:solidFill>
                <a:latin typeface="NanumSquare"/>
                <a:ea typeface="NanumSquare"/>
                <a:cs typeface="NanumSquare"/>
              </a:rPr>
              <a:t>AI 도구 활용, 코드/프롬프트 리뷰, 평가셋, 로그, 보안 감각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2B01D37-37BF-4421-A11E-E098792D26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5619750"/>
            <a:ext cx="9639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18000"/>
              </a:lnSpc>
              <a:buNone/>
              <a:defRPr sz="1425" b="1">
                <a:solidFill>
                  <a:srgbClr val="0A2342"/>
                </a:solidFill>
                <a:latin typeface="NanumSquare"/>
                <a:ea typeface="NanumSquare"/>
                <a:cs typeface="NanumSquare"/>
              </a:defRPr>
            </a:pPr>
            <a:r>
              <a:rPr sz="1425" b="1">
                <a:solidFill>
                  <a:srgbClr val="0A2342"/>
                </a:solidFill>
                <a:latin typeface="NanumSquare"/>
                <a:ea typeface="NanumSquare"/>
                <a:cs typeface="NanumSquare"/>
              </a:rPr>
              <a:t>면접에서 강한 답: ‘제가 이런 AI 기능을 만들었습니다’보다 ‘이 문제에서 어떤 기준으로 AI를 쓰고, 어떻게 검증했습니다’입니다.</a:t>
            </a:r>
          </a:p>
        </p:txBody>
      </p:sp>
      <p:sp>
        <p:nvSpPr>
          <p:cNvPr id="17" name="footer-left">
            <a:extLst xmlns:a="http://schemas.openxmlformats.org/drawingml/2006/main">
              <a:ext uri="{FF2B5EF4-FFF2-40B4-BE49-F238E27FC236}">
                <a16:creationId xmlns:a16="http://schemas.microsoft.com/office/drawing/2014/main" id="{7907DF33-4349-44FD-ADC4-46AE6CA359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476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825" b="0">
                <a:solidFill>
                  <a:srgbClr val="667085"/>
                </a:solidFill>
                <a:latin typeface="NanumSquare"/>
                <a:ea typeface="NanumSquare"/>
                <a:cs typeface="NanumSquare"/>
              </a:defRPr>
            </a:pPr>
            <a:r>
              <a:rPr sz="825" b="0">
                <a:solidFill>
                  <a:srgbClr val="667085"/>
                </a:solidFill>
                <a:latin typeface="NanumSquare"/>
                <a:ea typeface="NanumSquare"/>
                <a:cs typeface="NanumSquare"/>
              </a:rPr>
              <a:t>Goorm 20260701 AI Campus Prism 사전 특강</a:t>
            </a:r>
          </a:p>
        </p:txBody>
      </p:sp>
      <p:sp>
        <p:nvSpPr>
          <p:cNvPr id="18" name="footer-page">
            <a:extLst xmlns:a="http://schemas.openxmlformats.org/drawingml/2006/main">
              <a:ext uri="{FF2B5EF4-FFF2-40B4-BE49-F238E27FC236}">
                <a16:creationId xmlns:a16="http://schemas.microsoft.com/office/drawing/2014/main" id="{DBB1A601-3ACA-482B-9E02-F0E8E1B33A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6438900"/>
            <a:ext cx="400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lnSpc>
                <a:spcPct val="118000"/>
              </a:lnSpc>
              <a:buNone/>
              <a:defRPr sz="825" b="0">
                <a:solidFill>
                  <a:srgbClr val="667085"/>
                </a:solidFill>
                <a:latin typeface="NanumSquare"/>
                <a:ea typeface="NanumSquare"/>
                <a:cs typeface="NanumSquare"/>
              </a:defRPr>
            </a:pPr>
            <a:r>
              <a:rPr sz="825" b="0">
                <a:solidFill>
                  <a:srgbClr val="667085"/>
                </a:solidFill>
                <a:latin typeface="NanumSquare"/>
                <a:ea typeface="NanumSquare"/>
                <a:cs typeface="NanumSquare"/>
              </a:rPr>
              <a:t>40</a:t>
            </a:r>
          </a:p>
        </p:txBody>
      </p:sp>
    </p:spTree>
    <p:extLst>
      <p:ext uri="{BB962C8B-B14F-4D97-AF65-F5344CB8AC3E}">
        <p14:creationId xmlns:p14="http://schemas.microsoft.com/office/powerpoint/2010/main" val="36392064"/>
      </p:ext>
    </p:extLst>
  </p:cSld>
</p:sld>
</file>

<file path=ppt/slides/slide41.xml><?xml version="1.0" encoding="utf-8"?>
<p:sld xmlns:p="http://schemas.openxmlformats.org/presentationml/2006/main">
  <p:cSld>
    <p:bg>
      <p:bgPr>
        <a:solidFill xmlns:a="http://schemas.openxmlformats.org/drawingml/2006/main">
          <a:srgbClr val="070B1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eyebrow">
            <a:extLst xmlns:a="http://schemas.openxmlformats.org/drawingml/2006/main">
              <a:ext uri="{FF2B5EF4-FFF2-40B4-BE49-F238E27FC236}">
                <a16:creationId xmlns:a16="http://schemas.microsoft.com/office/drawing/2014/main" id="{64619335-16AF-471F-9B9C-45E5BDEAA2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815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975" b="1">
                <a:solidFill>
                  <a:srgbClr val="CCCCCC"/>
                </a:solidFill>
                <a:latin typeface="NanumSquare"/>
                <a:ea typeface="NanumSquare"/>
                <a:cs typeface="NanumSquare"/>
              </a:defRPr>
            </a:pPr>
            <a:r>
              <a:rPr sz="975" b="1">
                <a:solidFill>
                  <a:srgbClr val="CCCCCC"/>
                </a:solidFill>
                <a:latin typeface="NanumSquare"/>
                <a:ea typeface="NanumSquare"/>
                <a:cs typeface="NanumSquare"/>
              </a:rPr>
              <a:t>10-15 MINUTES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7315C946-3FB1-44CF-92E0-165ABB464C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38200"/>
            <a:ext cx="103632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3900" b="1">
                <a:solidFill>
                  <a:srgbClr val="FFFFFF"/>
                </a:solidFill>
                <a:latin typeface="NanumSquare"/>
                <a:ea typeface="NanumSquare"/>
                <a:cs typeface="NanumSquare"/>
              </a:defRPr>
            </a:pPr>
            <a:r>
              <a:rPr sz="3900" b="1">
                <a:solidFill>
                  <a:srgbClr val="FFFFFF"/>
                </a:solidFill>
                <a:latin typeface="NanumSquare"/>
                <a:ea typeface="NanumSquare"/>
                <a:cs typeface="NanumSquare"/>
              </a:rPr>
              <a:t>Live Q&amp;A</a:t>
            </a:r>
          </a:p>
        </p:txBody>
      </p:sp>
      <p:sp>
        <p:nvSpPr>
          <p:cNvPr id="3" name="subtitle">
            <a:extLst xmlns:a="http://schemas.openxmlformats.org/drawingml/2006/main">
              <a:ext uri="{FF2B5EF4-FFF2-40B4-BE49-F238E27FC236}">
                <a16:creationId xmlns:a16="http://schemas.microsoft.com/office/drawing/2014/main" id="{2383DD7B-3C34-4031-A476-D1AC507713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85950"/>
            <a:ext cx="103632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22000"/>
              </a:lnSpc>
              <a:buNone/>
              <a:defRPr sz="1575" b="0">
                <a:solidFill>
                  <a:srgbClr val="D6D6D6"/>
                </a:solidFill>
                <a:latin typeface="NanumSquare"/>
                <a:ea typeface="NanumSquare"/>
                <a:cs typeface="NanumSquare"/>
              </a:defRPr>
            </a:pPr>
            <a:r>
              <a:rPr sz="1575" b="0">
                <a:solidFill>
                  <a:srgbClr val="D6D6D6"/>
                </a:solidFill>
                <a:latin typeface="NanumSquare"/>
                <a:ea typeface="NanumSquare"/>
                <a:cs typeface="NanumSquare"/>
              </a:rPr>
              <a:t>남은 시간은 여러분의 질문으로 채우겠습니다.</a:t>
            </a:r>
          </a:p>
        </p:txBody>
      </p:sp>
      <p:sp>
        <p:nvSpPr>
          <p:cNvPr id="4" name="qa-panel">
            <a:extLst xmlns:a="http://schemas.openxmlformats.org/drawingml/2006/main">
              <a:ext uri="{FF2B5EF4-FFF2-40B4-BE49-F238E27FC236}">
                <a16:creationId xmlns:a16="http://schemas.microsoft.com/office/drawing/2014/main" id="{0114EE74-93CA-45BD-8D0E-A3DDB6F759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2857500"/>
            <a:ext cx="8572500" cy="2476500"/>
          </a:xfrm>
          <a:prstGeom xmlns:a="http://schemas.openxmlformats.org/drawingml/2006/main" prst="roundRect">
            <a:avLst>
              <a:gd name="adj" fmla="val 6154"/>
            </a:avLst>
          </a:prstGeom>
          <a:solidFill xmlns:a="http://schemas.openxmlformats.org/drawingml/2006/main">
            <a:srgbClr val="101827"/>
          </a:solidFill>
          <a:ln xmlns:a="http://schemas.openxmlformats.org/drawingml/2006/main" w="9525">
            <a:solidFill>
              <a:srgbClr val="3B3B3D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0E5BC5D-A6FF-46A2-881E-468D71B91F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3181350"/>
            <a:ext cx="754380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22000"/>
              </a:lnSpc>
              <a:buNone/>
              <a:defRPr sz="1575" b="0">
                <a:solidFill>
                  <a:srgbClr val="FFFFFF"/>
                </a:solidFill>
                <a:latin typeface="NanumSquare"/>
                <a:ea typeface="NanumSquare"/>
                <a:cs typeface="NanumSquare"/>
              </a:defRPr>
            </a:pPr>
            <a:r>
              <a:rPr sz="1575" b="0">
                <a:solidFill>
                  <a:srgbClr val="FFFFFF"/>
                </a:solidFill>
                <a:latin typeface="NanumSquare"/>
                <a:ea typeface="NanumSquare"/>
                <a:cs typeface="NanumSquare"/>
              </a:rPr>
              <a:t>• 지금 지원을 고민하는 이유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22000"/>
              </a:lnSpc>
              <a:buNone/>
              <a:defRPr sz="1575" b="0">
                <a:solidFill>
                  <a:srgbClr val="FFFFFF"/>
                </a:solidFill>
                <a:latin typeface="NanumSquare"/>
                <a:ea typeface="NanumSquare"/>
                <a:cs typeface="NanumSquare"/>
              </a:defRPr>
            </a:pPr>
            <a:r>
              <a:rPr sz="1575" b="0">
                <a:solidFill>
                  <a:srgbClr val="FFFFFF"/>
                </a:solidFill>
                <a:latin typeface="NanumSquare"/>
                <a:ea typeface="NanumSquare"/>
                <a:cs typeface="NanumSquare"/>
              </a:rPr>
              <a:t>• 내 전공/경험과 AI 직무를 연결하는 방법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22000"/>
              </a:lnSpc>
              <a:buNone/>
              <a:defRPr sz="1575" b="0">
                <a:solidFill>
                  <a:srgbClr val="FFFFFF"/>
                </a:solidFill>
                <a:latin typeface="NanumSquare"/>
                <a:ea typeface="NanumSquare"/>
                <a:cs typeface="NanumSquare"/>
              </a:defRPr>
            </a:pPr>
            <a:r>
              <a:rPr sz="1575" b="0">
                <a:solidFill>
                  <a:srgbClr val="FFFFFF"/>
                </a:solidFill>
                <a:latin typeface="NanumSquare"/>
                <a:ea typeface="NanumSquare"/>
                <a:cs typeface="NanumSquare"/>
              </a:rPr>
              <a:t>• 프로젝트 주제, 포트폴리오, 면접 준비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22000"/>
              </a:lnSpc>
              <a:buNone/>
              <a:defRPr sz="1575" b="0">
                <a:solidFill>
                  <a:srgbClr val="FFFFFF"/>
                </a:solidFill>
                <a:latin typeface="NanumSquare"/>
                <a:ea typeface="NanumSquare"/>
                <a:cs typeface="NanumSquare"/>
              </a:defRPr>
            </a:pPr>
            <a:r>
              <a:rPr sz="1575" b="0">
                <a:solidFill>
                  <a:srgbClr val="FFFFFF"/>
                </a:solidFill>
                <a:latin typeface="NanumSquare"/>
                <a:ea typeface="NanumSquare"/>
                <a:cs typeface="NanumSquare"/>
              </a:rPr>
              <a:t>• PM·디자인·개발·데이터·보안 중 어디서 시작할지</a:t>
            </a:r>
          </a:p>
        </p:txBody>
      </p:sp>
      <p:sp>
        <p:nvSpPr>
          <p:cNvPr id="6" name="footer-left">
            <a:extLst xmlns:a="http://schemas.openxmlformats.org/drawingml/2006/main">
              <a:ext uri="{FF2B5EF4-FFF2-40B4-BE49-F238E27FC236}">
                <a16:creationId xmlns:a16="http://schemas.microsoft.com/office/drawing/2014/main" id="{3655D9C6-9653-4D3F-8D6E-83A4A7DF84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476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825" b="0">
                <a:solidFill>
                  <a:srgbClr val="9CA8B8"/>
                </a:solidFill>
                <a:latin typeface="NanumSquare"/>
                <a:ea typeface="NanumSquare"/>
                <a:cs typeface="NanumSquare"/>
              </a:defRPr>
            </a:pPr>
            <a:r>
              <a:rPr sz="825" b="0">
                <a:solidFill>
                  <a:srgbClr val="9CA8B8"/>
                </a:solidFill>
                <a:latin typeface="NanumSquare"/>
                <a:ea typeface="NanumSquare"/>
                <a:cs typeface="NanumSquare"/>
              </a:rPr>
              <a:t>Goorm 20260701 AI Campus Prism 사전 특강</a:t>
            </a:r>
          </a:p>
        </p:txBody>
      </p:sp>
      <p:sp>
        <p:nvSpPr>
          <p:cNvPr id="7" name="footer-page">
            <a:extLst xmlns:a="http://schemas.openxmlformats.org/drawingml/2006/main">
              <a:ext uri="{FF2B5EF4-FFF2-40B4-BE49-F238E27FC236}">
                <a16:creationId xmlns:a16="http://schemas.microsoft.com/office/drawing/2014/main" id="{F917B607-C7D0-4AE1-BB9F-E2E32C9E91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6438900"/>
            <a:ext cx="400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lnSpc>
                <a:spcPct val="118000"/>
              </a:lnSpc>
              <a:buNone/>
              <a:defRPr sz="825" b="0">
                <a:solidFill>
                  <a:srgbClr val="9CA8B8"/>
                </a:solidFill>
                <a:latin typeface="NanumSquare"/>
                <a:ea typeface="NanumSquare"/>
                <a:cs typeface="NanumSquare"/>
              </a:defRPr>
            </a:pPr>
            <a:r>
              <a:rPr sz="825" b="0">
                <a:solidFill>
                  <a:srgbClr val="9CA8B8"/>
                </a:solidFill>
                <a:latin typeface="NanumSquare"/>
                <a:ea typeface="NanumSquare"/>
                <a:cs typeface="NanumSquare"/>
              </a:rPr>
              <a:t>41</a:t>
            </a:r>
          </a:p>
        </p:txBody>
      </p:sp>
    </p:spTree>
    <p:extLst>
      <p:ext uri="{BB962C8B-B14F-4D97-AF65-F5344CB8AC3E}">
        <p14:creationId xmlns:p14="http://schemas.microsoft.com/office/powerpoint/2010/main" val="432513388"/>
      </p:ext>
    </p:extLst>
  </p:cSld>
</p:sld>
</file>

<file path=ppt/slides/slide42.xml><?xml version="1.0" encoding="utf-8"?>
<p:sld xmlns:p="http://schemas.openxmlformats.org/presentationml/2006/main">
  <p:cSld>
    <p:bg>
      <p:bgPr>
        <a:solidFill xmlns:a="http://schemas.openxmlformats.org/drawingml/2006/main">
          <a:srgbClr val="F5F6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eyebrow">
            <a:extLst xmlns:a="http://schemas.openxmlformats.org/drawingml/2006/main">
              <a:ext uri="{FF2B5EF4-FFF2-40B4-BE49-F238E27FC236}">
                <a16:creationId xmlns:a16="http://schemas.microsoft.com/office/drawing/2014/main" id="{B5922B24-648D-454E-9801-232FA377C6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815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975" b="1">
                <a:solidFill>
                  <a:srgbClr val="667085"/>
                </a:solidFill>
                <a:latin typeface="NanumSquare"/>
                <a:ea typeface="NanumSquare"/>
                <a:cs typeface="NanumSquare"/>
              </a:defRPr>
            </a:pPr>
            <a:r>
              <a:rPr sz="975" b="1">
                <a:solidFill>
                  <a:srgbClr val="667085"/>
                </a:solidFill>
                <a:latin typeface="NanumSquare"/>
                <a:ea typeface="NanumSquare"/>
                <a:cs typeface="NanumSquare"/>
              </a:rPr>
              <a:t>TAKEAWAYS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CBCB6365-E6BE-4CDB-B447-9B6B9869E8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38200"/>
            <a:ext cx="103632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3150" b="1">
                <a:solidFill>
                  <a:srgbClr val="1D1D1F"/>
                </a:solidFill>
                <a:latin typeface="NanumSquare"/>
                <a:ea typeface="NanumSquare"/>
                <a:cs typeface="NanumSquare"/>
              </a:defRPr>
            </a:pPr>
            <a:r>
              <a:rPr sz="3150" b="1">
                <a:solidFill>
                  <a:srgbClr val="1D1D1F"/>
                </a:solidFill>
                <a:latin typeface="NanumSquare"/>
                <a:ea typeface="NanumSquare"/>
                <a:cs typeface="NanumSquare"/>
              </a:rPr>
              <a:t>마지막으로 남기고 싶은 세 문장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C9653A9-033E-4514-AACA-01C5F8E1EF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2628900"/>
            <a:ext cx="10096500" cy="2381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800" b="0">
                <a:solidFill>
                  <a:srgbClr val="1D1D1F"/>
                </a:solidFill>
                <a:latin typeface="NanumSquare"/>
                <a:ea typeface="NanumSquare"/>
                <a:cs typeface="NanumSquare"/>
              </a:defRPr>
            </a:pPr>
            <a:r>
              <a:rPr sz="1800" b="0">
                <a:solidFill>
                  <a:srgbClr val="1D1D1F"/>
                </a:solidFill>
                <a:latin typeface="NanumSquare"/>
                <a:ea typeface="NanumSquare"/>
                <a:cs typeface="NanumSquare"/>
              </a:rPr>
              <a:t>1. AI는 사람을 대체하기보다, 사람이 책임질 문제의 층위를 바꿉니다.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20000"/>
              </a:lnSpc>
              <a:buNone/>
              <a:defRPr sz="1800" b="0">
                <a:solidFill>
                  <a:srgbClr val="1D1D1F"/>
                </a:solidFill>
                <a:latin typeface="NanumSquare"/>
                <a:ea typeface="NanumSquare"/>
                <a:cs typeface="NanumSquare"/>
              </a:defRPr>
            </a:pPr>
            <a:r>
              <a:rPr sz="1800" b="0">
                <a:solidFill>
                  <a:srgbClr val="1D1D1F"/>
                </a:solidFill>
                <a:latin typeface="NanumSquare"/>
                <a:ea typeface="NanumSquare"/>
                <a:cs typeface="NanumSquare"/>
              </a:rPr>
              <a:t>2. AI Native 인재는 도구를 많이 아는 사람이 아니라, 문제-데이터-제품-운영을 연결하는 사람입니다.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20000"/>
              </a:lnSpc>
              <a:buNone/>
              <a:defRPr sz="1800" b="0">
                <a:solidFill>
                  <a:srgbClr val="1D1D1F"/>
                </a:solidFill>
                <a:latin typeface="NanumSquare"/>
                <a:ea typeface="NanumSquare"/>
                <a:cs typeface="NanumSquare"/>
              </a:defRPr>
            </a:pPr>
            <a:r>
              <a:rPr sz="1800" b="0">
                <a:solidFill>
                  <a:srgbClr val="1D1D1F"/>
                </a:solidFill>
                <a:latin typeface="NanumSquare"/>
                <a:ea typeface="NanumSquare"/>
                <a:cs typeface="NanumSquare"/>
              </a:rPr>
              <a:t>3. 지금 가장 좋은 준비는 하나의 문제를 끝까지 정의하고, 만들고, 검증하고, 설명해보는 것입니다.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5676684-5C44-4F85-BA89-0238FDDEFA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5391150"/>
            <a:ext cx="9334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575" b="1">
                <a:solidFill>
                  <a:srgbClr val="0A2342"/>
                </a:solidFill>
                <a:latin typeface="NanumSquare"/>
                <a:ea typeface="NanumSquare"/>
                <a:cs typeface="NanumSquare"/>
              </a:defRPr>
            </a:pPr>
            <a:r>
              <a:rPr sz="1575" b="1">
                <a:solidFill>
                  <a:srgbClr val="0A2342"/>
                </a:solidFill>
                <a:latin typeface="NanumSquare"/>
                <a:ea typeface="NanumSquare"/>
                <a:cs typeface="NanumSquare"/>
              </a:rPr>
              <a:t>AI로 문제를 해결한다는 것은, 더 빨리 답하는 것이 아니라</a:t>
            </a:r>
          </a:p>
          <a:p xmlns:a="http://schemas.openxmlformats.org/drawingml/2006/main">
            <a:pPr algn="ctr">
              <a:lnSpc>
                <a:spcPct val="112000"/>
              </a:lnSpc>
              <a:buNone/>
              <a:defRPr sz="1575" b="1">
                <a:solidFill>
                  <a:srgbClr val="0A2342"/>
                </a:solidFill>
                <a:latin typeface="NanumSquare"/>
                <a:ea typeface="NanumSquare"/>
                <a:cs typeface="NanumSquare"/>
              </a:defRPr>
            </a:pPr>
            <a:r>
              <a:rPr sz="1575" b="1">
                <a:solidFill>
                  <a:srgbClr val="0A2342"/>
                </a:solidFill>
                <a:latin typeface="NanumSquare"/>
                <a:ea typeface="NanumSquare"/>
                <a:cs typeface="NanumSquare"/>
              </a:rPr>
              <a:t>더 책임 있게 배울 수 있는 시스템을 만드는 일입니다.</a:t>
            </a:r>
          </a:p>
        </p:txBody>
      </p:sp>
      <p:sp>
        <p:nvSpPr>
          <p:cNvPr id="5" name="footer-left">
            <a:extLst xmlns:a="http://schemas.openxmlformats.org/drawingml/2006/main">
              <a:ext uri="{FF2B5EF4-FFF2-40B4-BE49-F238E27FC236}">
                <a16:creationId xmlns:a16="http://schemas.microsoft.com/office/drawing/2014/main" id="{270FD50D-BEF3-4026-A1D4-F6A8393303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476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825" b="0">
                <a:solidFill>
                  <a:srgbClr val="667085"/>
                </a:solidFill>
                <a:latin typeface="NanumSquare"/>
                <a:ea typeface="NanumSquare"/>
                <a:cs typeface="NanumSquare"/>
              </a:defRPr>
            </a:pPr>
            <a:r>
              <a:rPr sz="825" b="0">
                <a:solidFill>
                  <a:srgbClr val="667085"/>
                </a:solidFill>
                <a:latin typeface="NanumSquare"/>
                <a:ea typeface="NanumSquare"/>
                <a:cs typeface="NanumSquare"/>
              </a:rPr>
              <a:t>Goorm 20260701 AI Campus Prism 사전 특강</a:t>
            </a:r>
          </a:p>
        </p:txBody>
      </p:sp>
      <p:sp>
        <p:nvSpPr>
          <p:cNvPr id="6" name="footer-page">
            <a:extLst xmlns:a="http://schemas.openxmlformats.org/drawingml/2006/main">
              <a:ext uri="{FF2B5EF4-FFF2-40B4-BE49-F238E27FC236}">
                <a16:creationId xmlns:a16="http://schemas.microsoft.com/office/drawing/2014/main" id="{7D93726A-9DAF-41BF-8893-4635041C2A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6438900"/>
            <a:ext cx="400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lnSpc>
                <a:spcPct val="118000"/>
              </a:lnSpc>
              <a:buNone/>
              <a:defRPr sz="825" b="0">
                <a:solidFill>
                  <a:srgbClr val="667085"/>
                </a:solidFill>
                <a:latin typeface="NanumSquare"/>
                <a:ea typeface="NanumSquare"/>
                <a:cs typeface="NanumSquare"/>
              </a:defRPr>
            </a:pPr>
            <a:r>
              <a:rPr sz="825" b="0">
                <a:solidFill>
                  <a:srgbClr val="667085"/>
                </a:solidFill>
                <a:latin typeface="NanumSquare"/>
                <a:ea typeface="NanumSquare"/>
                <a:cs typeface="NanumSquare"/>
              </a:rPr>
              <a:t>42</a:t>
            </a:r>
          </a:p>
        </p:txBody>
      </p:sp>
    </p:spTree>
    <p:extLst>
      <p:ext uri="{BB962C8B-B14F-4D97-AF65-F5344CB8AC3E}">
        <p14:creationId xmlns:p14="http://schemas.microsoft.com/office/powerpoint/2010/main" val="182043426"/>
      </p:ext>
    </p:extLst>
  </p:cSld>
</p:sld>
</file>

<file path=ppt/slides/slide4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eyebrow">
            <a:extLst xmlns:a="http://schemas.openxmlformats.org/drawingml/2006/main">
              <a:ext uri="{FF2B5EF4-FFF2-40B4-BE49-F238E27FC236}">
                <a16:creationId xmlns:a16="http://schemas.microsoft.com/office/drawing/2014/main" id="{C771F981-3A52-435E-A702-B5628ED051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815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975" b="1">
                <a:solidFill>
                  <a:srgbClr val="667085"/>
                </a:solidFill>
                <a:latin typeface="NanumSquare"/>
                <a:ea typeface="NanumSquare"/>
                <a:cs typeface="NanumSquare"/>
              </a:defRPr>
            </a:pPr>
            <a:r>
              <a:rPr sz="975" b="1">
                <a:solidFill>
                  <a:srgbClr val="667085"/>
                </a:solidFill>
                <a:latin typeface="NanumSquare"/>
                <a:ea typeface="NanumSquare"/>
                <a:cs typeface="NanumSquare"/>
              </a:rPr>
              <a:t>APPENDIX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F219F3E3-9D66-4B07-9E76-63688DD76A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38200"/>
            <a:ext cx="103632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2850" b="1">
                <a:solidFill>
                  <a:srgbClr val="1D1D1F"/>
                </a:solidFill>
                <a:latin typeface="NanumSquare"/>
                <a:ea typeface="NanumSquare"/>
                <a:cs typeface="NanumSquare"/>
              </a:defRPr>
            </a:pPr>
            <a:r>
              <a:rPr sz="2850" b="1">
                <a:solidFill>
                  <a:srgbClr val="1D1D1F"/>
                </a:solidFill>
                <a:latin typeface="NanumSquare"/>
                <a:ea typeface="NanumSquare"/>
                <a:cs typeface="NanumSquare"/>
              </a:rPr>
              <a:t>Sources &amp; Reference Links</a:t>
            </a:r>
          </a:p>
        </p:txBody>
      </p:sp>
      <p:sp>
        <p:nvSpPr>
          <p:cNvPr id="3" name="subtitle">
            <a:extLst xmlns:a="http://schemas.openxmlformats.org/drawingml/2006/main">
              <a:ext uri="{FF2B5EF4-FFF2-40B4-BE49-F238E27FC236}">
                <a16:creationId xmlns:a16="http://schemas.microsoft.com/office/drawing/2014/main" id="{1E09D28D-42A0-4A08-A6CA-D81DC7E7C4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47850"/>
            <a:ext cx="103632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22000"/>
              </a:lnSpc>
              <a:buNone/>
              <a:defRPr sz="1575" b="0">
                <a:solidFill>
                  <a:srgbClr val="667085"/>
                </a:solidFill>
                <a:latin typeface="NanumSquare"/>
                <a:ea typeface="NanumSquare"/>
                <a:cs typeface="NanumSquare"/>
              </a:defRPr>
            </a:pPr>
            <a:r>
              <a:rPr sz="1575" b="0">
                <a:solidFill>
                  <a:srgbClr val="667085"/>
                </a:solidFill>
                <a:latin typeface="NanumSquare"/>
                <a:ea typeface="NanumSquare"/>
                <a:cs typeface="NanumSquare"/>
              </a:rPr>
              <a:t>자료 제작에 사용한 로컬 파일과 공식/홈페이지 레퍼런스입니다.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46F038E-0D04-452D-8832-D294AEC51F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647950"/>
            <a:ext cx="4953000" cy="2705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22000"/>
              </a:lnSpc>
              <a:buNone/>
              <a:defRPr sz="1125" b="0">
                <a:solidFill>
                  <a:srgbClr val="1D1D1F"/>
                </a:solidFill>
                <a:latin typeface="NanumSquare"/>
                <a:ea typeface="NanumSquare"/>
                <a:cs typeface="NanumSquare"/>
              </a:defRPr>
            </a:pPr>
            <a:r>
              <a:rPr sz="1125" b="0">
                <a:solidFill>
                  <a:srgbClr val="1D1D1F"/>
                </a:solidFill>
                <a:latin typeface="NanumSquare"/>
                <a:ea typeface="NanumSquare"/>
                <a:cs typeface="NanumSquare"/>
              </a:rPr>
              <a:t>• Local: DESIGN-apple.md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22000"/>
              </a:lnSpc>
              <a:buNone/>
              <a:defRPr sz="1125" b="0">
                <a:solidFill>
                  <a:srgbClr val="1D1D1F"/>
                </a:solidFill>
                <a:latin typeface="NanumSquare"/>
                <a:ea typeface="NanumSquare"/>
                <a:cs typeface="NanumSquare"/>
              </a:defRPr>
            </a:pPr>
            <a:r>
              <a:rPr sz="1125" b="0">
                <a:solidFill>
                  <a:srgbClr val="1D1D1F"/>
                </a:solidFill>
                <a:latin typeface="NanumSquare"/>
                <a:ea typeface="NanumSquare"/>
                <a:cs typeface="NanumSquare"/>
              </a:rPr>
              <a:t>• Local: AI 캠퍼스 커리큘럼_통합본.xlsx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22000"/>
              </a:lnSpc>
              <a:buNone/>
              <a:defRPr sz="1125" b="0">
                <a:solidFill>
                  <a:srgbClr val="1D1D1F"/>
                </a:solidFill>
                <a:latin typeface="NanumSquare"/>
                <a:ea typeface="NanumSquare"/>
                <a:cs typeface="NanumSquare"/>
              </a:defRPr>
            </a:pPr>
            <a:r>
              <a:rPr sz="1125" b="0">
                <a:solidFill>
                  <a:srgbClr val="1D1D1F"/>
                </a:solidFill>
                <a:latin typeface="NanumSquare"/>
                <a:ea typeface="NanumSquare"/>
                <a:cs typeface="NanumSquare"/>
              </a:rPr>
              <a:t>• Local: designs/design-tokens.json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22000"/>
              </a:lnSpc>
              <a:buNone/>
              <a:defRPr sz="1125" b="0">
                <a:solidFill>
                  <a:srgbClr val="1D1D1F"/>
                </a:solidFill>
                <a:latin typeface="NanumSquare"/>
                <a:ea typeface="NanumSquare"/>
                <a:cs typeface="NanumSquare"/>
              </a:defRPr>
            </a:pPr>
            <a:r>
              <a:rPr sz="1125" b="0">
                <a:solidFill>
                  <a:srgbClr val="1D1D1F"/>
                </a:solidFill>
                <a:latin typeface="NanumSquare"/>
                <a:ea typeface="NanumSquare"/>
                <a:cs typeface="NanumSquare"/>
              </a:rPr>
              <a:t>• getdesign.md: https://getdesign.md/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22000"/>
              </a:lnSpc>
              <a:buNone/>
              <a:defRPr sz="1125" b="0">
                <a:solidFill>
                  <a:srgbClr val="1D1D1F"/>
                </a:solidFill>
                <a:latin typeface="NanumSquare"/>
                <a:ea typeface="NanumSquare"/>
                <a:cs typeface="NanumSquare"/>
              </a:defRPr>
            </a:pPr>
            <a:r>
              <a:rPr sz="1125" b="0">
                <a:solidFill>
                  <a:srgbClr val="1D1D1F"/>
                </a:solidFill>
                <a:latin typeface="NanumSquare"/>
                <a:ea typeface="NanumSquare"/>
                <a:cs typeface="NanumSquare"/>
              </a:rPr>
              <a:t>• AI Campus Prism: https://aicampus.goorm.io/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22000"/>
              </a:lnSpc>
              <a:buNone/>
              <a:defRPr sz="1125" b="0">
                <a:solidFill>
                  <a:srgbClr val="1D1D1F"/>
                </a:solidFill>
                <a:latin typeface="NanumSquare"/>
                <a:ea typeface="NanumSquare"/>
                <a:cs typeface="NanumSquare"/>
              </a:defRPr>
            </a:pPr>
            <a:r>
              <a:rPr sz="1125" b="0">
                <a:solidFill>
                  <a:srgbClr val="1D1D1F"/>
                </a:solidFill>
                <a:latin typeface="NanumSquare"/>
                <a:ea typeface="NanumSquare"/>
                <a:cs typeface="NanumSquare"/>
              </a:rPr>
              <a:t>• OpenAI Agents: https://platform.openai.com/docs/guides/agents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245AB9E-E337-4814-9701-412ADF7B40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647950"/>
            <a:ext cx="5143500" cy="3048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22000"/>
              </a:lnSpc>
              <a:buNone/>
              <a:defRPr sz="1125" b="0">
                <a:solidFill>
                  <a:srgbClr val="1D1D1F"/>
                </a:solidFill>
                <a:latin typeface="NanumSquare"/>
                <a:ea typeface="NanumSquare"/>
                <a:cs typeface="NanumSquare"/>
              </a:defRPr>
            </a:pPr>
            <a:r>
              <a:rPr sz="1125" b="0">
                <a:solidFill>
                  <a:srgbClr val="1D1D1F"/>
                </a:solidFill>
                <a:latin typeface="NanumSquare"/>
                <a:ea typeface="NanumSquare"/>
                <a:cs typeface="NanumSquare"/>
              </a:rPr>
              <a:t>• MCP: https://modelcontextprotocol.io/docs/getting-started/intro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22000"/>
              </a:lnSpc>
              <a:buNone/>
              <a:defRPr sz="1125" b="0">
                <a:solidFill>
                  <a:srgbClr val="1D1D1F"/>
                </a:solidFill>
                <a:latin typeface="NanumSquare"/>
                <a:ea typeface="NanumSquare"/>
                <a:cs typeface="NanumSquare"/>
              </a:defRPr>
            </a:pPr>
            <a:r>
              <a:rPr sz="1125" b="0">
                <a:solidFill>
                  <a:srgbClr val="1D1D1F"/>
                </a:solidFill>
                <a:latin typeface="NanumSquare"/>
                <a:ea typeface="NanumSquare"/>
                <a:cs typeface="NanumSquare"/>
              </a:rPr>
              <a:t>• LangGraph: https://docs.langchain.com/oss/python/langgraph/overview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22000"/>
              </a:lnSpc>
              <a:buNone/>
              <a:defRPr sz="1125" b="0">
                <a:solidFill>
                  <a:srgbClr val="1D1D1F"/>
                </a:solidFill>
                <a:latin typeface="NanumSquare"/>
                <a:ea typeface="NanumSquare"/>
                <a:cs typeface="NanumSquare"/>
              </a:defRPr>
            </a:pPr>
            <a:r>
              <a:rPr sz="1125" b="0">
                <a:solidFill>
                  <a:srgbClr val="1D1D1F"/>
                </a:solidFill>
                <a:latin typeface="NanumSquare"/>
                <a:ea typeface="NanumSquare"/>
                <a:cs typeface="NanumSquare"/>
              </a:rPr>
              <a:t>• LlamaIndex: https://developers.llamaindex.ai/python/framework/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22000"/>
              </a:lnSpc>
              <a:buNone/>
              <a:defRPr sz="1125" b="0">
                <a:solidFill>
                  <a:srgbClr val="1D1D1F"/>
                </a:solidFill>
                <a:latin typeface="NanumSquare"/>
                <a:ea typeface="NanumSquare"/>
                <a:cs typeface="NanumSquare"/>
              </a:defRPr>
            </a:pPr>
            <a:r>
              <a:rPr sz="1125" b="0">
                <a:solidFill>
                  <a:srgbClr val="1D1D1F"/>
                </a:solidFill>
                <a:latin typeface="NanumSquare"/>
                <a:ea typeface="NanumSquare"/>
                <a:cs typeface="NanumSquare"/>
              </a:rPr>
              <a:t>• Figma AI: https://www.figma.com/ai/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22000"/>
              </a:lnSpc>
              <a:buNone/>
              <a:defRPr sz="1125" b="0">
                <a:solidFill>
                  <a:srgbClr val="1D1D1F"/>
                </a:solidFill>
                <a:latin typeface="NanumSquare"/>
                <a:ea typeface="NanumSquare"/>
                <a:cs typeface="NanumSquare"/>
              </a:defRPr>
            </a:pPr>
            <a:r>
              <a:rPr sz="1125" b="0">
                <a:solidFill>
                  <a:srgbClr val="1D1D1F"/>
                </a:solidFill>
                <a:latin typeface="NanumSquare"/>
                <a:ea typeface="NanumSquare"/>
                <a:cs typeface="NanumSquare"/>
              </a:rPr>
              <a:t>• Kubernetes: https://kubernetes.io/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22000"/>
              </a:lnSpc>
              <a:buNone/>
              <a:defRPr sz="1125" b="0">
                <a:solidFill>
                  <a:srgbClr val="1D1D1F"/>
                </a:solidFill>
                <a:latin typeface="NanumSquare"/>
                <a:ea typeface="NanumSquare"/>
                <a:cs typeface="NanumSquare"/>
              </a:defRPr>
            </a:pPr>
            <a:r>
              <a:rPr sz="1125" b="0">
                <a:solidFill>
                  <a:srgbClr val="1D1D1F"/>
                </a:solidFill>
                <a:latin typeface="NanumSquare"/>
                <a:ea typeface="NanumSquare"/>
                <a:cs typeface="NanumSquare"/>
              </a:rPr>
              <a:t>• NVIDIA NeMo Guardrails: https://github.com/NVIDIA-NeMo/Guardrails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22000"/>
              </a:lnSpc>
              <a:buNone/>
              <a:defRPr sz="1125" b="0">
                <a:solidFill>
                  <a:srgbClr val="1D1D1F"/>
                </a:solidFill>
                <a:latin typeface="NanumSquare"/>
                <a:ea typeface="NanumSquare"/>
                <a:cs typeface="NanumSquare"/>
              </a:defRPr>
            </a:pPr>
            <a:r>
              <a:rPr sz="1125" b="0">
                <a:solidFill>
                  <a:srgbClr val="1D1D1F"/>
                </a:solidFill>
                <a:latin typeface="NanumSquare"/>
                <a:ea typeface="NanumSquare"/>
                <a:cs typeface="NanumSquare"/>
              </a:rPr>
              <a:t>• Claude Code: https://code.claude.com/docs/en/overview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22000"/>
              </a:lnSpc>
              <a:buNone/>
              <a:defRPr sz="1125" b="0">
                <a:solidFill>
                  <a:srgbClr val="1D1D1F"/>
                </a:solidFill>
                <a:latin typeface="NanumSquare"/>
                <a:ea typeface="NanumSquare"/>
                <a:cs typeface="NanumSquare"/>
              </a:defRPr>
            </a:pPr>
            <a:r>
              <a:rPr sz="1125" b="0">
                <a:solidFill>
                  <a:srgbClr val="1D1D1F"/>
                </a:solidFill>
                <a:latin typeface="NanumSquare"/>
                <a:ea typeface="NanumSquare"/>
                <a:cs typeface="NanumSquare"/>
              </a:rPr>
              <a:t>• Vercel: https://vercel.com/</a:t>
            </a:r>
          </a:p>
        </p:txBody>
      </p:sp>
      <p:sp>
        <p:nvSpPr>
          <p:cNvPr id="6" name="footer-left">
            <a:extLst xmlns:a="http://schemas.openxmlformats.org/drawingml/2006/main">
              <a:ext uri="{FF2B5EF4-FFF2-40B4-BE49-F238E27FC236}">
                <a16:creationId xmlns:a16="http://schemas.microsoft.com/office/drawing/2014/main" id="{57382E62-0EAC-48FD-BC8E-7FD691E853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476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825" b="0">
                <a:solidFill>
                  <a:srgbClr val="667085"/>
                </a:solidFill>
                <a:latin typeface="NanumSquare"/>
                <a:ea typeface="NanumSquare"/>
                <a:cs typeface="NanumSquare"/>
              </a:defRPr>
            </a:pPr>
            <a:r>
              <a:rPr sz="825" b="0">
                <a:solidFill>
                  <a:srgbClr val="667085"/>
                </a:solidFill>
                <a:latin typeface="NanumSquare"/>
                <a:ea typeface="NanumSquare"/>
                <a:cs typeface="NanumSquare"/>
              </a:rPr>
              <a:t>Goorm 20260701 AI Campus Prism 사전 특강</a:t>
            </a:r>
          </a:p>
        </p:txBody>
      </p:sp>
      <p:sp>
        <p:nvSpPr>
          <p:cNvPr id="7" name="footer-page">
            <a:extLst xmlns:a="http://schemas.openxmlformats.org/drawingml/2006/main">
              <a:ext uri="{FF2B5EF4-FFF2-40B4-BE49-F238E27FC236}">
                <a16:creationId xmlns:a16="http://schemas.microsoft.com/office/drawing/2014/main" id="{B264ED07-69A8-49F0-8775-F2D351A9C5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6438900"/>
            <a:ext cx="400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lnSpc>
                <a:spcPct val="118000"/>
              </a:lnSpc>
              <a:buNone/>
              <a:defRPr sz="825" b="0">
                <a:solidFill>
                  <a:srgbClr val="667085"/>
                </a:solidFill>
                <a:latin typeface="NanumSquare"/>
                <a:ea typeface="NanumSquare"/>
                <a:cs typeface="NanumSquare"/>
              </a:defRPr>
            </a:pPr>
            <a:r>
              <a:rPr sz="825" b="0">
                <a:solidFill>
                  <a:srgbClr val="667085"/>
                </a:solidFill>
                <a:latin typeface="NanumSquare"/>
                <a:ea typeface="NanumSquare"/>
                <a:cs typeface="NanumSquare"/>
              </a:rPr>
              <a:t>43</a:t>
            </a:r>
          </a:p>
        </p:txBody>
      </p:sp>
    </p:spTree>
    <p:extLst>
      <p:ext uri="{BB962C8B-B14F-4D97-AF65-F5344CB8AC3E}">
        <p14:creationId xmlns:p14="http://schemas.microsoft.com/office/powerpoint/2010/main" val="83676960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2026-07-01T03:00:34.0010000Z</dcterms:created>
  <dcterms:modified xsi:type="dcterms:W3CDTF">2026-07-01T03:00:34.0010000Z</dcterms:modified>
</coreProperties>
</file>