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29489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430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CODE CLUB  ·  2026.04.27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Native PM으로의 전환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Agentic AI 서비스 기획과 실행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Why  ·  What  ·  How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7261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차성재 (smilesjcha)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0462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Engineer → AI Service PM → Agentic AI side PM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3634740"/>
            <a:ext cx="33832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3707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57800" y="39273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본 발표는 무신사의 공식 입장이 아닌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발표자 개인의 견해입니다.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발표자 한 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4개 산업을 거친 AI 실무자, 지금은 PM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86309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4572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FINANCE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금융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MLOps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AutoML for 은행/카드/보험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40330" y="1371600"/>
            <a:ext cx="186309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40330" y="1371600"/>
            <a:ext cx="4572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3210" y="15087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MEDICAL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23210" y="17373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의료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823210" y="2103120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CVOps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23210" y="237744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대장내시경 실시간 탐지·진단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40580" y="1371600"/>
            <a:ext cx="186309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0580" y="1371600"/>
            <a:ext cx="4572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3460" y="15087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EDUCATION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3460" y="17373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교육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823460" y="2103120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LLMOps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3460" y="237744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영어 첨삭·AICC 학원 상담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40830" y="1371600"/>
            <a:ext cx="186309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40830" y="1371600"/>
            <a:ext cx="4572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3710" y="15087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FASHION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23710" y="17373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패션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823710" y="2103120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Agentic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23710" y="237744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Agentic AI side PM (런칭 전)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Engineer (Backend)  →  AI Service PM  →  Agentic AI PM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  시립대 / 아주대 AI 부문 겸임교수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산업이 바뀌면 AI의 무게중심도 달라진다.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4개 산업 × 4가지 AI Ops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'AI'라도 산업마다 무게중심이 다르다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FINANCE  ·  MLOPS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금융 — MLOps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은행 / 카드 / 보험 대상 AutoML 솔루션.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학습·운영 파이프라인이 핵심.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9728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MEDICAL  ·  CVOPS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의료 — CVOps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대장내시경 실시간 탐지·진단.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프레임 단위 비전 모델과 의사 워크플로우 결합.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76606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6606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032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EDUCATION  ·  LLMOPS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1775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교육 — LLMOps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363474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영어 글쓰기·말하기 채점·첨삭 + 학원 상담 AICC.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프롬프트와 평가 루프 운영이 핵심.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76606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76606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032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FASHION  ·  AGENTIC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1775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패션 — Agentic AI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46320" y="363474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맥락에 따라 행동하는 에이전트 설계.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side PM, 런칭 전 단계.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역할이 바뀐 게 아니라, 표면적이 넓어졌다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Engineer → AI Service PM → Agentic AI PM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548128" cy="169164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Engineer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182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· 인프라 · 파이프라인.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'어떻게 만드는가'에 집중.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7936" y="1417320"/>
            <a:ext cx="2548128" cy="169164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0816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80816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Service PM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80816" y="2331720"/>
            <a:ext cx="2182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· 지표 · 검증.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'무엇을 만드는가'로 확장.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55792" y="1417320"/>
            <a:ext cx="2548128" cy="1691640"/>
          </a:xfrm>
          <a:prstGeom prst="rect">
            <a:avLst/>
          </a:prstGeom>
          <a:solidFill>
            <a:srgbClr val="0E2A4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8672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38672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Agentic AI PM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38672" y="2331720"/>
            <a:ext cx="2182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워크플로우 · 에이전트 · 컨텍스트.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'어떻게 일하게 만드는가'로 한 번 더.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383280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383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PM이 다뤄야 할 표면적이 넓어졌다 — 사람·데이터·도구·에이전트까지.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모두가 AI Native가 되었다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도구가 평등해진 세계 — 그럼 PM은?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377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45720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ENGINEER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개발자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 · Cursor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프롬프팅·리뷰·테스트 자동화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371600"/>
            <a:ext cx="2377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371600"/>
            <a:ext cx="45720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DESIGNER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디자이너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와이어 · 카피 · 이미지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브랜드 톤 학습·반복 생성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371600"/>
            <a:ext cx="2377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371600"/>
            <a:ext cx="45720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LEADERSHIP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리더십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52160" y="22402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요약 · 리서치 보조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의사결정·전략 자료 생성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7863840" cy="7315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291840"/>
            <a:ext cx="4572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2918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그럼 PM은 어디서 차별점을 만드는가?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PM의 본질 — 회사 목표 × 고객 니즈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도구가 평등할수록 '무엇을 풀지'를 가장 잘 아는 사람이 핵심이 된다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371600"/>
            <a:ext cx="2651760" cy="2651760"/>
          </a:xfrm>
          <a:prstGeom prst="ellipse">
            <a:avLst/>
          </a:prstGeom>
          <a:solidFill>
            <a:srgbClr val="DBEAFE">
              <a:alpha val="7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1371600"/>
            <a:ext cx="2651760" cy="2651760"/>
          </a:xfrm>
          <a:prstGeom prst="ellipse">
            <a:avLst/>
          </a:prstGeom>
          <a:solidFill>
            <a:srgbClr val="DBEAFE">
              <a:alpha val="7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463040"/>
            <a:ext cx="-365760" cy="2468880"/>
          </a:xfrm>
          <a:prstGeom prst="ellipse">
            <a:avLst/>
          </a:prstGeom>
          <a:solidFill>
            <a:srgbClr val="93C5FD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회사 목표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전략 · 지표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고객 니즈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시나리오 · 맥락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377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Native PM이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정의하는 문제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도구가 아니라 문제 정의가 PM의 차별점이다.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비일반화 도메인의 시나리오 설계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패션 같은 도메인은 일반 LLM이 모른다 — 시나리오·검증·지표가 PM의 무기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548128" cy="178308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시나리오 정의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182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도메인 맥락에 맞는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사용자 시나리오 도출.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특수 표현·구매 패턴·계절성 반영.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7936" y="1417320"/>
            <a:ext cx="2548128" cy="178308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0816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80816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검증 방식 설계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80816" y="2331720"/>
            <a:ext cx="2182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사람 평가 · A/B · 회귀 셋.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시나리오마다 검증 방법이 다르다.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55792" y="1417320"/>
            <a:ext cx="2548128" cy="1783080"/>
          </a:xfrm>
          <a:prstGeom prst="rect">
            <a:avLst/>
          </a:prstGeom>
          <a:solidFill>
            <a:srgbClr val="0E2A4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8672" y="160020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38672" y="1874520"/>
            <a:ext cx="2182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성공 지표 연결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38672" y="2331720"/>
            <a:ext cx="2182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북극성 지표 · 보조 지표.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 → 측정 가능한 수로.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474720"/>
            <a:ext cx="45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74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도메인이 좁을수록, PM의 디테일이 곧 모델의 디테일이 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End-to-End 로드맵 — 세 개의 페이스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페이스가 다른 세 개의 루프가 동시에 돈다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WEEKLY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1848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1주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0" y="1463040"/>
            <a:ext cx="137160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프롬프트·시나리오 회귀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빠른 검증·피드백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BIWEEKLY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871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2주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011680" y="2331720"/>
            <a:ext cx="2743200" cy="3200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697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· 디자인 · 프로토 한 사이클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리더십 리뷰 1회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QUARTER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3558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분기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011680" y="3200400"/>
            <a:ext cx="5486400" cy="320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 · 로드맵 회고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분기 우선순위 재정의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페이스로만 일하면 디테일이나 방향성 중 하나를 놓친다.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산출물의 경계가 흐려진다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→ Design → Prototype → Engineering, PM이 프로토까지 끌고 간다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883664" cy="182880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문제·시나리오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MD 기반 SSOT.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시나리오·지표 정의.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33472" y="1371600"/>
            <a:ext cx="1883664" cy="182880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554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16352" y="18288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와이어·플로우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6352" y="22860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와이어 + 디자이너 손길.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화면만 우선.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1883664" cy="182880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554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18288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클릭되는 흐름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9744" y="22860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 단일 HTML.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외부 의존 없는 데모.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0256" y="1371600"/>
            <a:ext cx="1883664" cy="1828800"/>
          </a:xfrm>
          <a:prstGeom prst="rect">
            <a:avLst/>
          </a:prstGeom>
          <a:solidFill>
            <a:srgbClr val="0E2A4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554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03136" y="18288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구현·핸드오프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03136" y="22860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사양 + 프로토를 같이 전달.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구현 갭 최소화.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429000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429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PM이 프로토타입까지 들고 가면 — 합의 비용이 줄고, 구현 갭이 좁아진다.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PM의 7단계 사이클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gstack의 Think→Plan→Build→Review→Test→Ship→Reflect를 PM 버전으로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 정리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1356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356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636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Plan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5636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PRD/시나리오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3652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8704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70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2984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Build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2984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프로토+문서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1000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6052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0332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332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3관점 리뷰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3400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40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7680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680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검증·지표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5696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0748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748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5028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Ship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5028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핸드오프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30440" y="2103120"/>
            <a:ext cx="350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680960" y="1691640"/>
            <a:ext cx="822960" cy="8229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2376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Reflect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분기 회고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3520440"/>
            <a:ext cx="45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3520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“혼자서 8명의 전문가를 데리고 일하는 것처럼.”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gstack — Garry Tan (Y Combinator) · github.com/garrytan/gstack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도구 진화 — 코드 옆에서, 맥락 옆으로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VSCode + Claude 확장  →  Claude Desktop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5204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45720" cy="21031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VSCode + Claude 확장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 컨텍스트가 강함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 작업은 IDE에서 어색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맥락이 파일 단위로 끊김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240280"/>
            <a:ext cx="777240" cy="5029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417320"/>
            <a:ext cx="3383280" cy="21031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417320"/>
            <a:ext cx="45720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3C5FD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Claude Desktop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49240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맥락·문서 중심 작업 비중 ↑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Skill / Plugin / MCP 풀 활용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프로젝트별 컨텍스트 영속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 옆 PM에서, 문서·맥락 옆 PM으로.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Skill · Plugin — 마구(harness)를 다듬는 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 자체가 아니라, 도구를 어떻게 묶어 쓰느냐가 일이 되었다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377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45720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TIER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단일 프롬프트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번의 대화 / 한 번의 결과.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재현·재사용 어려움.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417320"/>
            <a:ext cx="2377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417320"/>
            <a:ext cx="45720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TIER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역할별 Skill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PRD-review, scenario-spec,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leadership-summary 등 분리.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417320"/>
            <a:ext cx="2377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417320"/>
            <a:ext cx="45720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TIER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Plugin · MCP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5216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개발자와 함께 정비.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 단위 표준 워크플로우.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429000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429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“Harness engineering = 도구가 아니라 마구를 다듬는 일.”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재인용: gstack — Garry Tan (Y Combinator)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Confluence ↔ Markdown — 양식의 자유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양식이 아니라 내용에 시간을 쓰기 위해, MD를 작업 표준으로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5204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45720" cy="21031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CONFLUENCE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전사 표준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조직 가시성·검색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탭·표·이미지 풍부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리뷰/diff 약함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240280"/>
            <a:ext cx="777240" cy="502920"/>
          </a:xfrm>
          <a:prstGeom prst="left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417320"/>
            <a:ext cx="3383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417320"/>
            <a:ext cx="45720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MARKDOWN  ·  GITHUB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작업 표준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49240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diff · 코멘트 · 히스토리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 문서를 코드처럼 리뷰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버전 관리·자동화 친화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둘 사이를 자유롭게 변환할 수 있어야 한다 — 양식보다 내용이 먼저.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그림이 아니라, 클릭되는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와이어프레임 → Claude Code 프로토타입 → 리더십 리뷰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와이어프레임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468880" cy="137160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Wireframe Sketch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종이 / 피그마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2560320"/>
            <a:ext cx="182880" cy="2743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프로토타입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2011680"/>
            <a:ext cx="2468880" cy="137160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337560" y="20116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Clickable HTML Mock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 · 단일 HTML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560320"/>
            <a:ext cx="182880" cy="2743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리더십 리뷰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5040" y="2011680"/>
            <a:ext cx="2468880" cy="137160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035040" y="20116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Stakeholder 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직접 클릭하며 합의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611880"/>
            <a:ext cx="457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611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그림으로 합의하던 걸 클릭으로 합의하면, 의사결정 속도가 바뀐다.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ai-native-pm — 단일 repo, 다중 PM, 다중 프로젝트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컨텍스트는 공통화, 프로젝트는 분리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42062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45720" cy="2697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ai-native-pm/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          ← 거버넌스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context/           ← 무신사 공통 컨텍스트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company-policies/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domain-knowledge/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external-services/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templates/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evaluation/   ← 3관점 평가 기준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projects/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26Q2_PM-A_Project-X/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26Q2_PM-B_Project-Y/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26Q2_PM-C_Project-Z/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325880"/>
            <a:ext cx="34747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325880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399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공통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Context once, reuse N times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12080" y="187452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번 쌓은 도메인 지식을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프로젝트가 참조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286000"/>
            <a:ext cx="34747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286000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359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분리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Project per PM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283464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PM별·프로젝트별 폴더로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작업 영역 명확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246120"/>
            <a:ext cx="34747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3246120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3319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거버넌스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Skill로 자동 검토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12080" y="379476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리더십·디자인·엔지니어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3관점 평가 자동 실행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ai-native-pm (smilesjcha, 오픈소스) · github.com/smilesjcha/ai-native-pm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3관점 PRD 평가 — 한 PRD를 세 페르소나가 본다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리더십 · 디자이너 · 엔지니어를 Skill로 동시 실행하면 사각지대가 줄어든다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3774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45720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LEADERSHIP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리더십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“이 프로젝트에 투자할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가치가 있는가?”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체크 항목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전략 · 지표 · 우선순위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371600"/>
            <a:ext cx="23774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371600"/>
            <a:ext cx="45720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DESIGNER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디자이너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“이 PRD만으로 와이어를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그릴 수 있는가?”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37560" y="3063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체크 항목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흐름 · 일관성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1371600"/>
            <a:ext cx="23774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371600"/>
            <a:ext cx="45720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ENGINEER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엔지니어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5216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“이 범위를 주어진 기간에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0E2A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만들 수 있는가?”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52160" y="3063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체크 항목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구현 가능성 · 리스크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44119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ai-native-pm 레포의 Skill로 구현 — 한 번에 세 명의 리뷰를 받는다.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거버넌스 — 작은 규약이 큰 마찰을 줄인다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여러 PM이 같은 레포를 쓸 때 필요한 최소 약속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840480" cy="12573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45720" cy="1257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FOLDER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kebab-case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prd/, specs/, wireframes/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3840480" cy="12573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325880"/>
            <a:ext cx="45720" cy="1257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PROJECT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YYQ#_Title-Case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26Q2_Claude-Code-Club-Talk/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766060"/>
            <a:ext cx="3840480" cy="12573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66060"/>
            <a:ext cx="45720" cy="1257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032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SSOT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1775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UPPER.md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3634740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PRD.md · HLD.md · LLD.md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766060"/>
            <a:ext cx="3840480" cy="12573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766060"/>
            <a:ext cx="45720" cy="1257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032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DEPTH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1775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얕은 계층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46320" y="3634740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이해를 위해 단계 줄이기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12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한 장으로 보는 How 스택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 · 문서 · 프로세스 · 거버넌스 — 4축으로 묶기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TOOLS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도구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Desktop · Skills · MCP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 (프로토)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9728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DOCS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문서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MD ↔ Confluence 변환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GitHub 스타일 리뷰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76606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6606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032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PROCESS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1775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프로세스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363474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→ Design → Proto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Engineering 사이클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766060"/>
            <a:ext cx="3840480" cy="1485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766060"/>
            <a:ext cx="45720" cy="1485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032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1775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거버넌스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46320" y="3634740"/>
            <a:ext cx="35661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3관점 평가 · 네이밍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계층 단순화 · 톤 통일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109728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8016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Native PM은 도구가 아니라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마구(harness)를 다듬는 사람.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그리고 이건 진행 중인 실험의 중간 보고입니다.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78638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657600"/>
            <a:ext cx="4572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57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DISCLAIMER  ·  본 발표는 무신사의 공식 입장이 아닌 발표자 개인의 견해입니다.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400" kern="0" dirty="0">
                <a:solidFill>
                  <a:srgbClr val="0B0F14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Q  &amp;  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질문과 의견을 환영합니다.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329184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291840"/>
            <a:ext cx="4572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383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github.com/smilesjcha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ai-native-pm  ·  open source PM workflow repo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PM으로의 전환 — Agentic AI 서비스 기획과 실행</dc:title>
  <dc:subject>PptxGenJS Presentation</dc:subject>
  <dc:creator>차성재 (smilesjcha)</dc:creator>
  <cp:lastModifiedBy>차성재 (smilesjcha)</cp:lastModifiedBy>
  <cp:revision>1</cp:revision>
  <dcterms:created xsi:type="dcterms:W3CDTF">2026-04-26T20:42:28Z</dcterms:created>
  <dcterms:modified xsi:type="dcterms:W3CDTF">2026-04-26T20:42:28Z</dcterms:modified>
</cp:coreProperties>
</file>