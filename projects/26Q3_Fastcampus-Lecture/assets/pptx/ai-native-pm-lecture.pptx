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08" d="100"/>
          <a:sy n="208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5234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80160"/>
            <a:ext cx="91440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 NATIVE 시대,</a:t>
            </a:r>
            <a:endParaRPr lang="en-US" sz="3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 PM의 새로운 무기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글로벌 PM 트렌드  ·  기획 문서 계층  ·  AI 도구 협업  ·  프로토타입 데모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633052"/>
            <a:ext cx="7863840" cy="801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FastCampus  |  2026.04.16  |  				</a:t>
            </a:r>
            <a:r>
              <a:rPr lang="ko-KR" altLang="en-US" sz="13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                                      </a:t>
            </a:r>
            <a:r>
              <a:rPr lang="en-US" sz="13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차성재</a:t>
            </a:r>
            <a:r>
              <a:rPr lang="ko-KR" altLang="en-US" sz="13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endParaRPr lang="en-US" altLang="ko-KR" sz="1300" dirty="0">
              <a:solidFill>
                <a:srgbClr val="FF6B35"/>
              </a:solidFill>
              <a:latin typeface="NanumGothic" pitchFamily="34" charset="0"/>
              <a:ea typeface="NanumGothic" pitchFamily="34" charset="-122"/>
              <a:cs typeface="NanumGothic" pitchFamily="34" charset="-120"/>
            </a:endParaRPr>
          </a:p>
          <a:p>
            <a:pPr marL="0" indent="0" algn="r">
              <a:buNone/>
            </a:pPr>
            <a:r>
              <a:rPr lang="en-US" altLang="ko-KR" sz="13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Agentic AI PM @ </a:t>
            </a:r>
            <a:r>
              <a:rPr lang="ko-KR" altLang="en-US" sz="1300" dirty="0" err="1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무신사</a:t>
            </a:r>
            <a:endParaRPr lang="en-US" altLang="ko-KR" sz="1300" dirty="0">
              <a:solidFill>
                <a:srgbClr val="FF6B35"/>
              </a:solidFill>
              <a:latin typeface="NanumGothic" pitchFamily="34" charset="0"/>
              <a:ea typeface="NanumGothic" pitchFamily="34" charset="-122"/>
              <a:cs typeface="NanumGothic" pitchFamily="34" charset="-120"/>
            </a:endParaRPr>
          </a:p>
          <a:p>
            <a:pPr marL="0" indent="0" algn="r">
              <a:buNone/>
            </a:pPr>
            <a:r>
              <a:rPr lang="en-US" altLang="ko-KR" sz="13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</a:t>
            </a:r>
            <a:r>
              <a:rPr lang="ko-KR" altLang="en-US" sz="13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부문 겸임교수 </a:t>
            </a:r>
            <a:r>
              <a:rPr lang="en-US" altLang="ko-KR" sz="13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@</a:t>
            </a:r>
            <a:r>
              <a:rPr lang="ko-KR" altLang="en-US" sz="13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ko-KR" altLang="en-US" sz="1300" dirty="0" err="1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시립대</a:t>
            </a:r>
            <a:r>
              <a:rPr lang="ko-KR" altLang="en-US" sz="13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altLang="ko-KR" sz="13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&amp;</a:t>
            </a:r>
            <a:r>
              <a:rPr lang="ko-KR" altLang="en-US" sz="13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아주대</a:t>
            </a:r>
            <a:endParaRPr lang="en-US" altLang="ko-KR" sz="1300" dirty="0">
              <a:solidFill>
                <a:srgbClr val="FF6B35"/>
              </a:solidFill>
              <a:latin typeface="NanumGothic" pitchFamily="34" charset="0"/>
              <a:ea typeface="NanumGothic" pitchFamily="34" charset="-122"/>
              <a:cs typeface="NanumGothic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오늘의 여정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374904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🎤  강의  30분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PM의 본질과 고유 역할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3가지 시대: </a:t>
            </a:r>
            <a:b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</a:b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Feature → Product-Led → AI Native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기획 문서 계층과 Why→What→How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도구 협업 마스터 플랜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라이브 데모: PRD + 프로토타입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374904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36576" cy="25603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89204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💻  실습  60분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아이디어 → PRD 재료 (5개 항목)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Manyfast.io로 PRD 초안 생성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Code로 HTML 프로토타입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배포까지 (Replit / Lovable / Vercel)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오늘의 목표:  PRD + 동작하는 프로토타입을 직접 만들어 가기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PM 채용 공고에서</a:t>
            </a:r>
            <a:endParaRPr lang="en-US" sz="36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가장 많이 추가된</a:t>
            </a:r>
            <a:endParaRPr lang="en-US" sz="36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키워드는?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2024  vs  2026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AI, PM 채용의 뉴노멀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ProductBoard PM Hiring Report 기반 분석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678489"/>
              </p:ext>
            </p:extLst>
          </p:nvPr>
        </p:nvGraphicFramePr>
        <p:xfrm>
          <a:off x="1097280" y="1698700"/>
          <a:ext cx="6949440" cy="14173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AI 언급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프로토타이핑 우대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프롬프트 역량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2024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23%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15%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5%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2026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B35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67%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B35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52%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B35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38%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1617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약 3배 증가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출처: PM 채용 트렌드 리포트 2024-2026, 글로벌 채용 플랫폼 데이터 종합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AI가 PM을</a:t>
            </a:r>
            <a:endParaRPr lang="en-US" sz="3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대체하는 게 아닙니다.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" y="2514600"/>
            <a:ext cx="6949440" cy="6858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97280" y="25146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AI를 쓰는 PM이, 안 쓰는 PM을 대체합니다.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그렇다면, PM만의 고유한 역할은 무엇인가?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PM만이 할 수 있는 고유한 역할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개발자도 PRD를 쓸 수 있고, AI가 코드도 만들어주는 시대 — PM의 본질이 더 중요해졌다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34568"/>
            <a:ext cx="457200" cy="50292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6345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634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도메인 이해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16345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실제 산업 현장의 맥락을 파악하고, 현재 상태에서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유의미한 방향성을 정의하는 능력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0160" y="2183208"/>
            <a:ext cx="722376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40080" y="2292936"/>
            <a:ext cx="457200" cy="50292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29293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2929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비즈니스 판단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22929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수익성 · 신규 고객 확장력 · 대표/이사회/투자자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기대치를 종합하여 제품 방향을 결정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80160" y="2841576"/>
            <a:ext cx="722376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40080" y="2951304"/>
            <a:ext cx="457200" cy="50292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295130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9513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제약 조건 내 최적화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83280" y="295130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주어진 예산 · 기간 · 개발 인력 안에서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최대 아웃풋을 내는 현실적 스코프 설계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280160" y="3499944"/>
            <a:ext cx="722376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40080" y="3609672"/>
            <a:ext cx="457200" cy="50292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6096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609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기능 수준의 우선순위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83280" y="360967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기능 하나하나에 P0/P1/P2를 매기고,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무엇을 먼저 만들지 결정하는 판단력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AI는 실행 속도를 높여주지만, 무엇을 실행할지 결정하는 것은 PM이다.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 시대, PM의 본질 = 맥락 설계자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3749040" cy="2743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AI가 잘하는 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시장 데이터 수집 · 경쟁사 분석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구조화 · 기능 명세 초안 작성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프로토타입 코드 생성 (HTML/React)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KPI 프레임워크 제안 · 지표 설계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 시나리오 · 엣지 케이스 도출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3749040" cy="2743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846320" y="1234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PM만이 해야 하는 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"이것을 왜 지금 해야 하는가" 판단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트레이드오프 결정 (범위 vs 일정 vs 품질)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이해관계자 합의와 우선순위 조율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자사 데이터 해석과 비즈니스 판단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Go / No-Go 의사결정과 리스크 관리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AI는 최고의 부사수. 하지만 방향을 정하는 건 PM이다.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PM의 3가지 시대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2514600" cy="2743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2527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Era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Feature PM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~2019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194560"/>
            <a:ext cx="2240280" cy="18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기능 정의자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Jira · Word · PPT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⏱ 분기 단위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143000"/>
            <a:ext cx="2514600" cy="2743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520440" y="12527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Era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1508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Product-Led PM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18928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2020~24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20440" y="2194560"/>
            <a:ext cx="2240280" cy="18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52044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성장 설계자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26060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Notion · Figma · A/B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2880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⏱ 2주 스프린트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143000"/>
            <a:ext cx="2514600" cy="2743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63640" y="12527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Era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1508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 Native PM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63640" y="18928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2025~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2194560"/>
            <a:ext cx="2240280" cy="182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26364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맥락 설계자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26060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· Cursor · Manyfast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880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⏱ 시간~일 단위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Dennis Yang (Chime PM): Claude Code로 20분 만에 프로토타입 → 팀 미팅에서 실제 동작 시연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"Tell"에서 "Show"로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48897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PM의 역할 변화: 문서로 설명하던 시대에서, 만들어서 보여주는 시대로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482170"/>
              </p:ext>
            </p:extLst>
          </p:nvPr>
        </p:nvGraphicFramePr>
        <p:xfrm>
          <a:off x="457200" y="1303177"/>
          <a:ext cx="8229600" cy="18745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시대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기존 방식 (Tell)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새로운 방식 (Show)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Feature PM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PRD 문서로 설명 → 개발팀에 전달 → 분기 후 결과 확인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5E7EB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—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Product-Led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Figma 프로토타입 의뢰 → A/B 테스트 → 2주 스프린트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5E7EB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—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AI Native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5E7EB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—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프롬프트 → PRD → 프로토타입 직접 생성 → 시간 단위 검증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452017"/>
            <a:ext cx="786384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40080" y="3452017"/>
            <a:ext cx="36576" cy="5029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22960" y="3452017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바이브 프로토타이핑 (Vibe Prototyping) — 텍스트 프롬프트만으로 기능적 소프트웨어를 생성하는 새로운 패러다임  (Forbes, 2026)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무엇이 바뀌었나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403496"/>
              </p:ext>
            </p:extLst>
          </p:nvPr>
        </p:nvGraphicFramePr>
        <p:xfrm>
          <a:off x="365760" y="1370683"/>
          <a:ext cx="8412480" cy="23774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구분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Before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After (AI Native)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문서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Word → Notion, 수동 작성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→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AI가 PRD 초안 생성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프로토타입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디자이너/개발자에게 의뢰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→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PM이 직접 AI로 생성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검증 속도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 주 (기획→개발→출시)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→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 시간 (즉시 확인)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PM 역할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기능 전달자 (Tell)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→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맥락 설계자 (Show)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검증 주기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분기 1회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→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주 단위 반복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 Native PM의 3가지 무기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48897"/>
            <a:ext cx="786384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348897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348897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프롬프팅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1348897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코딩이 아니라, AI에게 의도를 정확히 전달하는 능력.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맥락(Context)을 잘 구조화하는 것이 핵심.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26137"/>
            <a:ext cx="786384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" y="2126137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126137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 활용점 정의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2126137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"이 제품에서 AI가 어디서 가치를 만드는가?"를 설계.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대체할 수 있는 작업 vs PM이 판단할 작업을 구분.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903377"/>
            <a:ext cx="786384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2903377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2903377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빠른 검증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2903377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"만들어서 확인하기"를 일상화하는 습관.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→ 프로토타입 → 피드백을 시간 단위로 반복.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코드를 쓸 줄 몰라도 됩니다. AI에게 무엇을 시킬지 알면 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기획 문서의 계층 구조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8424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아래 → 위 참조, 위 → 아래 링크  |  PRD가 SSOT (Single Source of Truth)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55744"/>
            <a:ext cx="411480" cy="3840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65574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88720" y="1610024"/>
            <a:ext cx="7315200" cy="47548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88720" y="1610024"/>
            <a:ext cx="36576" cy="47548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371600" y="161002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2-Pager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1610024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왜 이걸 하는가?  (리더십 승인용)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0855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314112"/>
            <a:ext cx="411480" cy="38404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31411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88720" y="2268392"/>
            <a:ext cx="7315200" cy="475488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88720" y="2268392"/>
            <a:ext cx="36576" cy="4754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371600" y="22683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PRD  (SSOT)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2268392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무엇을, 왜, 누구를 위해 만드는가?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2743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2972480"/>
            <a:ext cx="411480" cy="3840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297248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88720" y="2926760"/>
            <a:ext cx="7315200" cy="47548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188720" y="2926760"/>
            <a:ext cx="36576" cy="47548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371600" y="29267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Specs · HLD · LLD · ADR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0" y="292676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어떻게 보이고, 어떻게 구현하고, 왜 그렇게 결정했는가?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3402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630848"/>
            <a:ext cx="411480" cy="3840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0080" y="363084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88720" y="3585128"/>
            <a:ext cx="7315200" cy="47548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88720" y="3585128"/>
            <a:ext cx="36576" cy="47548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371600" y="35851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Ops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14800" y="358512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어떻게 출시 · 운영 · 모니터링하는가?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참고: Specs = 와이어프레임/UX 흐름  |  HLD = 상위 설계  |  LLD = 상세 설계  |  ADR = 의사결정 기록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PRD의 핵심: Why → What → How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44325"/>
            <a:ext cx="822960" cy="5943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444325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Why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00200" y="1444325"/>
            <a:ext cx="6903720" cy="594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783080" y="1444325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왜 이 문제를 풀어야 하는가?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444325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§3 문제 정의 · 비즈니스 근거 · 데이터 증거 · 사용자 VOC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67285"/>
            <a:ext cx="822960" cy="59436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2267285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What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00200" y="2267285"/>
            <a:ext cx="6903720" cy="594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783080" y="2267285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무엇을 만드는가?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267285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§4-§6 솔루션 · 페르소나 · 범위(In/Out) · 기능 명세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090245"/>
            <a:ext cx="822960" cy="59436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090245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How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00200" y="3090245"/>
            <a:ext cx="6903720" cy="594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783080" y="3090245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어떻게 성공을 측정하는가?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090245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§11 KPI · 실험 설계 · 롤아웃 전략 · Release Gate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Why가 흔들리면, What과 How는 의미가 없다. 항상 Why부터.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PRD 품질 검증: 3가지 관점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90045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Approved 상태 전환을 위한 3-관점 평가 프레임워크  |  각 관점 최소 기준 통과 필수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44325"/>
            <a:ext cx="8074336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444325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👔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1444325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리더십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64365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프로젝트에 투자할 가치가 있는가?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97649" y="1444325"/>
            <a:ext cx="45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전략 정합성 · 문제 정의 명확성 · ROI 합리성 · 시장 적합성 · 우선순위 정당성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267285"/>
            <a:ext cx="8074336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2267285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2267285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디자이너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587325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PRD만으로 와이어프레임을 그릴 수 있는가?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97649" y="2267285"/>
            <a:ext cx="45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시나리오 완전성 · UI/UX 플로우 · 가드레일/예외 · 컴포넌트 명세 · P0/P1 기능 정의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090245"/>
            <a:ext cx="8074336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Text 15"/>
          <p:cNvSpPr/>
          <p:nvPr/>
        </p:nvSpPr>
        <p:spPr>
          <a:xfrm>
            <a:off x="731520" y="3090245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3090245"/>
            <a:ext cx="23004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EM</a:t>
            </a:r>
            <a:r>
              <a:rPr lang="en-US" altLang="ko-KR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(Engineering</a:t>
            </a:r>
            <a:r>
              <a:rPr lang="ko-KR" alt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 </a:t>
            </a:r>
            <a:r>
              <a:rPr lang="en-US" altLang="ko-KR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Manager)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410285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범위를 주어진 기간/리소스로 만들 수 있는가?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97649" y="3090245"/>
            <a:ext cx="45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성공 지표 측정 가능성 · 비용 추정 · 공수 산정(MD/MM) · </a:t>
            </a:r>
            <a:r>
              <a:rPr lang="en-US" sz="1000" dirty="0" err="1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스코프</a:t>
            </a: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실현성</a:t>
            </a:r>
            <a:b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</a:b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· NFR</a:t>
            </a:r>
            <a:r>
              <a:rPr lang="en-US" altLang="ko-KR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(Non Functional Requirements: Scope Out)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각 관점 35점 만점, 23점 이상 통과  |  상세 기준: docs/evaluation/ 참조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AI가 각 단계를 어떻게 바꾸는가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972906"/>
              </p:ext>
            </p:extLst>
          </p:nvPr>
        </p:nvGraphicFramePr>
        <p:xfrm>
          <a:off x="457200" y="1370683"/>
          <a:ext cx="8229600" cy="23774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단계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기존 소요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AI Native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주요 도구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2-Pager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Claude, Gemini Deep Research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PRD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1~2주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수시간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Manyfast, Claude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Wireframe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Claude, Figma AI (Make), v0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Prototype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수십분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Claude, Cursor, Replit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배포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Claude,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Vercel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, Replit, Lovable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전체 흐름: 아이디어 → PRD → 와이어프레임 → 프로토타입 → 배포까지 하루 안에 가능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5개 핵심 입력 — PRD의 씨앗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71349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전체를 쓸 필요 없습니다. 이 5가지만 명확하면 AI가 나머지를 채워줍니다.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502687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50268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466111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서비스명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1466111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뭐라고 부를까?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1466111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직관적이고 기억하기 쉬운 이름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978175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197817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1941599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타겟 유저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1941599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누구를 위한 건가?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1941599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행동 패턴까지 구체적으로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453663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245366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2417087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핵심 문제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34640" y="2417087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어떤 문제를 해결하나?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52160" y="2417087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정량 수치가 있으면 강력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2929151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292915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2892575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 활용점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34640" y="2892575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어디서 가치를 만드나?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52160" y="2892575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대체할 구체적 작업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404639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0080" y="340463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3368063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성공 기준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834640" y="3368063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어떻게 성공을 아나?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852160" y="3368063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측정 가능한 숫자로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934991"/>
            <a:ext cx="7863840" cy="4114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40080" y="3934991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이 5개만 명확하면 AI가 나머지를 채워줍니다  →  실습 Step 1에서 직접 작성!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 도구 협업: 마스터 플랜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533003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하나의 도구가 아닌, 여러 AI 도구를 조합하여 PM 워크플로우를 가속화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87283"/>
            <a:ext cx="7863840" cy="3840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487283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리서치 → PRD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487283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Claude + Gemini Deep Research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77840" y="1487283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시장/경쟁 분석 → 구조화된 PRD 초안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962771"/>
            <a:ext cx="78638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77240" y="1962771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PRD → 와이어프레임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962771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Claude + Figma AI (Make)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1962771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기반 자동 UI 레이아웃 생성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438259"/>
            <a:ext cx="7863840" cy="3840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77240" y="2438259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PRD → 프로토타입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438259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Claude Code + Cursor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77840" y="2438259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PRD에서 동작하는 HTML/React 앱 생성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913747"/>
            <a:ext cx="78638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77240" y="2913747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디자인 → 코드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2913747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Figma + Google Stitch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7840" y="2913747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Figma 디자인을 코드로 변환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389235"/>
            <a:ext cx="7863840" cy="3840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77240" y="3389235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프로토타입 → 배포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3389235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Replit / Lovable / Vercel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3389235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1-click 배포로 외부 공유 가능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핵심: 어떤 도구를 쓰느냐가 아니라, PM이 '무엇을' 지시할지를 아는 것이 경쟁력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실전 도구 조합 예시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03177"/>
            <a:ext cx="786384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34889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Workflow A:  기획 → </a:t>
            </a:r>
            <a:r>
              <a:rPr lang="en-US" sz="1300" dirty="0" err="1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프로토타입</a:t>
            </a:r>
            <a:r>
              <a:rPr lang="en-US" sz="13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 (오늘 실습)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714657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(리서치)  →  Manyfast (PRD)  →  Claude Code (</a:t>
            </a:r>
            <a:r>
              <a:rPr lang="en-US" sz="1200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프로토타입</a:t>
            </a:r>
            <a:r>
              <a:rPr lang="en-US" sz="12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034697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5개 입력 → PRD 초안(~5분) → HTML 생성(~15분) =  </a:t>
            </a:r>
            <a:r>
              <a:rPr lang="en-US" sz="1000" dirty="0" err="1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총</a:t>
            </a: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20분 이내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583337"/>
            <a:ext cx="786384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262905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Workflow B:  디자인 중심 (Figma 활용)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994817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(PRD)  →  Figma AI / Make (와이어프레임)  →  Google Stitch (코드 변환)  →  Lovable (배포)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314857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디자인 시스템이 중요한 B2C 서비스에 적합  |  Figma → 코드 자동 변환으로 개발 공수 절감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데모: 오늘의 점심 메이트 — PRD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70683"/>
            <a:ext cx="475488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370683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🎯  문제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1370683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직장인 12분 × 250일 = 연 50시간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'뭐 먹지?' 고민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992475"/>
            <a:ext cx="47548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1992475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💡  솔루션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992475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기분 + 예산 + 위치 →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맞춤 메뉴 3개 추천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614267"/>
            <a:ext cx="475488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2614267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📊  KPI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2614267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추천 수락률 60%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재사용률 주 3회, NPS 40+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36059"/>
            <a:ext cx="47548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1520" y="3236059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🤖  AI 모델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3236059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Haiku — 월 $15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p95 응답 &lt; 2초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1370683"/>
            <a:ext cx="2834640" cy="2331720"/>
          </a:xfrm>
          <a:prstGeom prst="rect">
            <a:avLst/>
          </a:prstGeom>
          <a:solidFill>
            <a:srgbClr val="E5E7EB"/>
          </a:solidFill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669280" y="1370683"/>
            <a:ext cx="2834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📷  PRD.md 화면 캡처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(§3 문제 정의 + §11 KPI)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📋  화면 공유: PRD.md 라이브 시연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데모: 프로토타입 — 15분 만에 완성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94617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단일 HTML 파일, 외부 API 없음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기분 선택 → 예산 선택 → AI 추천 결과 3개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모바일 반응형, 실제 버튼 동작 포함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6가지 기분 × 3가지 예산 = 54개 메뉴 데이터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수락/거절 피드백 UI 포함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0" y="1303177"/>
            <a:ext cx="3017520" cy="2560320"/>
          </a:xfrm>
          <a:prstGeom prst="rect">
            <a:avLst/>
          </a:prstGeom>
          <a:solidFill>
            <a:srgbClr val="E5E7EB"/>
          </a:solidFill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0" y="1303177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📷  프로토타입 모바일 화면 캡처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(기분 선택 + 추천 결과 화면)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📱  화면 공유: 프로토타입 라이브 시연  |  demo-prototype.html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이제 여러분 차례입니다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91440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아이디어  →  PRD  →  프로토타입  →  배포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60분 안에 직접 체험합니다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3291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완성도가 아닙니다.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과정을 경험하는 것이 목적입니다.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🕐  잠시 쉬고, 19:20에 실습 시작!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91440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WORKSHOP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 아이디어를 60분 만에 프로토타입으로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19:20 ~ 20:20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실습 흐름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260095"/>
            <a:ext cx="1005840" cy="38404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260095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241807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10분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241807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환경 세팅 + 트랙 선택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1241807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Manyfast · Claude · 메모장 준비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790447"/>
            <a:ext cx="1005840" cy="38404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790447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1772159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15분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1772159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아이디어 → PRD 재료 (5개 항목)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1772159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서비스명/타겟/문제/AI활용/성공기준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320799"/>
            <a:ext cx="1005840" cy="38404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320799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2302511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15분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2302511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Manyfast.io → PRD 초안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2302511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생성 + 검수 포인트 확인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2851151"/>
            <a:ext cx="1005840" cy="38404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2851151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2832863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15분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2832863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Claude → HTML 프로토타입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2832863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프롬프트 → 생성 → 확인 → 배포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381503"/>
            <a:ext cx="1005840" cy="3840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3381503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Buffer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28800" y="3363215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5분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51760" y="3363215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저장 + 발표 준비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0" y="3363215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결과물 저장, 엘리베이터 피치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0: 환경 세팅 + 트랙 선택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17259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☐  Manyfast.io 로그인 완료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83019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☐  Claude.ai 또는 Claude Code 접속 완료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48779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☐  메모장 (Notion / Apple Notes / 메모장) 준비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14539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☐  작업 폴더 생성 (선택사항)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17259"/>
            <a:ext cx="3749040" cy="10515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937760" y="1262979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🟢  공통 트랙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83019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강사 주제 따라가기 (오늘의 점심 메이트)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처음 해보는 분 추천!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451699"/>
            <a:ext cx="3749040" cy="10515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54880" y="2451699"/>
            <a:ext cx="36576" cy="10515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983480" y="2497419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🔵  자유 트랙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817459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본인 아이디어로 자율 진행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기능 1개로 좁히기!</a:t>
            </a:r>
            <a:endParaRPr lang="en-US" sz="11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5293414-A5CD-E04E-CF85-73D94D1B71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537"/>
          <a:stretch>
            <a:fillRect/>
          </a:stretch>
        </p:blipFill>
        <p:spPr>
          <a:xfrm>
            <a:off x="640080" y="2634579"/>
            <a:ext cx="2800306" cy="198773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1: 5개 항목 채우기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257457"/>
            <a:ext cx="749808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97280" y="1440337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  서비스명:  ___________________________________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851817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  타겟 유저:  ___________________________________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263297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  핵심 문제:  ___________________________________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674777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4.  AI 활용점:  ___________________________________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086257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5.  성공 기준:  ___________________________________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046377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⏱  10분 안에 채워주세요!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1: 예시 — 오늘의 점심 메이트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361784"/>
            <a:ext cx="749808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1361784"/>
            <a:ext cx="36576" cy="25603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97280" y="154466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1.  서비스명:</a:t>
            </a:r>
            <a:r>
              <a:rPr lang="en-US" sz="14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오늘의 점심 메이트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95614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2.  타겟 유저:</a:t>
            </a:r>
            <a:r>
              <a:rPr lang="en-US" sz="14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점심 메뉴 고민이 많은 직장인 (강남/판교 오피스)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36762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3.  핵심 문제:</a:t>
            </a:r>
            <a:r>
              <a:rPr lang="en-US" sz="14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매일 '뭐 먹지?' 고민에 12분 낭비, 65% 같은 메뉴 반복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77910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4.  AI 활용점:</a:t>
            </a:r>
            <a:r>
              <a:rPr lang="en-US" sz="14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기분/예산 기반 맞춤 메뉴 3개 추천 (Claude Haiku)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19058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5.  성공 기준:</a:t>
            </a:r>
            <a:r>
              <a:rPr lang="en-US" sz="14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추천 수락률 60%, 주간 재사용 3회 이상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1: 짝꿍 피드백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0965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 err="1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옆</a:t>
            </a:r>
            <a:r>
              <a:rPr lang="en-US" sz="28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 </a:t>
            </a:r>
            <a:r>
              <a:rPr lang="en-US" sz="2800" dirty="0" err="1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사람</a:t>
            </a:r>
            <a:r>
              <a:rPr lang="ko-KR" altLang="en-US" sz="28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에게</a:t>
            </a:r>
            <a:r>
              <a:rPr lang="en-US" sz="28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 보여주세요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0" y="2232612"/>
            <a:ext cx="548640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011680" y="23240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"이 서비스를 당장 쓸 것 같나요?"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28269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네 → 좋은 신호! 🎯    |    글쎄 → 핵심 문제 다시 점검 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💡  짝꿍의 첫 반응이 냉담하면, 문제 정의를 더 날카롭게 다듬어보세요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2: Manyfast.io → PRD 초안 생성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94617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  새 프로젝트 생성 (프로젝트명 입력)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  5개 항목을 프로젝트 설명에 붙여넣기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  PRD 생성 실행 (~1분 소요)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4.  핵심 기능 부분만 복사 → </a:t>
            </a:r>
            <a:r>
              <a:rPr lang="en-US" sz="1400" b="1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메모장</a:t>
            </a:r>
            <a:r>
              <a:rPr lang="en-US" altLang="ko-KR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/</a:t>
            </a:r>
            <a:r>
              <a:rPr lang="ko-KR" altLang="en-US" sz="1400" b="1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노션</a:t>
            </a:r>
            <a:r>
              <a:rPr lang="ko-KR" altLang="en-US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등</a:t>
            </a:r>
            <a:r>
              <a:rPr lang="en-US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저장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543457"/>
            <a:ext cx="7863840" cy="5029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7"/>
          <p:cNvSpPr/>
          <p:nvPr/>
        </p:nvSpPr>
        <p:spPr>
          <a:xfrm>
            <a:off x="777240" y="3543457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000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⚠️  PRD 전체 복사 금지 — 핵심 기능 3줄 요약만 저장 (토큰 절감)</a:t>
            </a:r>
            <a:endParaRPr lang="en-US" sz="1200" dirty="0">
              <a:solidFill>
                <a:srgbClr val="FF0000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4533DA6-2910-32F6-C1A8-7045F5B03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281220"/>
            <a:ext cx="3080165" cy="319370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2: PRD 검수 포인트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90045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생성한 PRD를 그대로 쓰지 마세요. PM의 검증이 반드시 필요합니다.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44325"/>
            <a:ext cx="786384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444325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✅  문제 정의에 구체적 수치가 있는가?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736933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✗ </a:t>
            </a:r>
            <a:r>
              <a:rPr lang="en-US" sz="1100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사용자들이 불편해한다</a:t>
            </a: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→   </a:t>
            </a:r>
            <a:r>
              <a:rPr lang="en-US" sz="1100" b="1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</a:t>
            </a:r>
            <a:r>
              <a:rPr lang="en-US" sz="1100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직장인 82%가 매일 12분 소비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221565"/>
            <a:ext cx="786384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" y="2221565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✅  In Scope / Out of Scope가 구분되어 있는가?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514173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✗ </a:t>
            </a:r>
            <a:r>
              <a:rPr lang="en-US" sz="1100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추천 기능 구현</a:t>
            </a: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→   </a:t>
            </a:r>
            <a:r>
              <a:rPr lang="en-US" sz="1100" b="1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</a:t>
            </a:r>
            <a:r>
              <a:rPr lang="en-US" sz="1100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In: 개인 추천 / Out: 그룹, 예약, 결제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98805"/>
            <a:ext cx="786384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2998805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✅  성공 지표에 측정 가능한 숫자가 있는가?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291413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✗ </a:t>
            </a:r>
            <a:r>
              <a:rPr lang="en-US" sz="1100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 만족도 향상</a:t>
            </a: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→   </a:t>
            </a:r>
            <a:r>
              <a:rPr lang="en-US" sz="1100" b="1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</a:t>
            </a:r>
            <a:r>
              <a:rPr lang="en-US" sz="1100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수락률 60%, NPS 40+, WAU 1000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3: Claude → 프로토타입 생성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61784"/>
            <a:ext cx="7863840" cy="237744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544664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 PRD를 기반으로 모바일 웹 UI 프로토타입을
HTML 단일 파일로 만들어줘.
</a:t>
            </a: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[서비스명]: </a:t>
            </a:r>
            <a:r>
              <a:rPr lang="en-US" sz="12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오늘의 점심 메이트
</a:t>
            </a: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[핵심 기능]: </a:t>
            </a:r>
            <a:r>
              <a:rPr lang="en-US" sz="12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기분 선택 → 예산 선택 → 메뉴 3개 추천
</a:t>
            </a: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[조건]: </a:t>
            </a:r>
            <a:r>
              <a:rPr lang="en-US" sz="12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단일 HTML / 모바일 반응형 / 한국어 UI
</a:t>
            </a: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[디자인]: </a:t>
            </a:r>
            <a:r>
              <a:rPr lang="en-US" sz="12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모던 카드형 UI, 따뜻한 컬러 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9221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💡 프롬프트를 복사해서 Claude.ai 또는 Claude Code에 붙여넣기  |  필요시 수정 프롬프트 추가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3: 트러블슈팅</a:t>
            </a:r>
            <a:endParaRPr lang="en-US" sz="2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157086"/>
              </p:ext>
            </p:extLst>
          </p:nvPr>
        </p:nvGraphicFramePr>
        <p:xfrm>
          <a:off x="457200" y="1444325"/>
          <a:ext cx="8229600" cy="217627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문제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해결 방법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HTML 파일이 안 열림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확장자가 .html인지 확인, 브라우저로 드래그 앤 드롭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화면이 하얗게만 나옴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Claude에게 '콘솔 오류 확인해줘' 재요청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디자인이 깨져 보임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'모바일 375px에 맞게 CSS 수정해줘' 재요청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응답이 중간에 끊김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'이어서 작성해줘' 또는 '남은 부분 완성해줘' 입력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기능이 동작하지 않음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'버튼 클릭 이벤트가 작동하도록 JS 수정해줘' 재요청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💡 AI 응답이 마음에 안 들면? → 더 구체적인 지시를 추가하면 됩니다 ("~처럼 바꿔줘")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보너스: 프로토타입 배포하기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432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만든 프로토타입을 외부에 공유하고 싶다면? 1-click 배포 서비스를 활용하세요.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597753"/>
            <a:ext cx="2514600" cy="23774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689193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Replit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00673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HTML 파일 업로드 → 즉시 배포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무료 플랜으로 충분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923633"/>
            <a:ext cx="2240280" cy="18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3015073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추천: 빠른 테스트 공유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597753"/>
            <a:ext cx="2514600" cy="23774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520440" y="1689193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Lovable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2100673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프롬프트 기반 앱 생성 + 자동 배포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디자인까지 담당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0440" y="2923633"/>
            <a:ext cx="2240280" cy="18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520440" y="3015073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추천: 비개발자 친화적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597753"/>
            <a:ext cx="2514600" cy="23774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263640" y="1689193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Vercel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100673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Git 연동 자동 배포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프로덕션 수준 호스팅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2923633"/>
            <a:ext cx="2240280" cy="18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263640" y="3015073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추천: 개발팀 협업 시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오늘 실습에서는 로컬 HTML 파일로 충분합니다. 배포는 선택사항!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오늘 여러분이 만든 것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73736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7472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구조화한 제품 기획서 — Why/What/How 프레임워크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Prototype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15분 만에 만든 동작하는 모바일 웹 데모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Workflow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아이디어 → PRD → 프로토타입 → 배포 반복 프로세스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PM의 역할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154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시대에도 변하지 않는 </a:t>
            </a:r>
            <a:r>
              <a:rPr lang="en-US" sz="1300" dirty="0" err="1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PM의</a:t>
            </a:r>
            <a:r>
              <a:rPr lang="en-US" sz="13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고유</a:t>
            </a:r>
            <a:r>
              <a:rPr lang="en-US" sz="13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역량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91440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AI NATIVE 시대, 여러분은 이미 준비되었습니다.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차성재  |  FastCampus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Q&amp;A  ·  피드백  ·  네트워킹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2469</Words>
  <Application>Microsoft Macintosh PowerPoint</Application>
  <PresentationFormat>화면 슬라이드 쇼(16:9)</PresentationFormat>
  <Paragraphs>445</Paragraphs>
  <Slides>33</Slides>
  <Notes>33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9" baseType="lpstr">
      <vt:lpstr>NanumGothic</vt:lpstr>
      <vt:lpstr>NanumGothic Bold</vt:lpstr>
      <vt:lpstr>NanumGothicExtraBold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NATIVE 시대, AI PM의 새로운 무기</dc:title>
  <dc:subject>PptxGenJS Presentation</dc:subject>
  <dc:creator>차성재</dc:creator>
  <cp:lastModifiedBy>A4794</cp:lastModifiedBy>
  <cp:revision>3</cp:revision>
  <dcterms:created xsi:type="dcterms:W3CDTF">2026-04-16T00:06:00Z</dcterms:created>
  <dcterms:modified xsi:type="dcterms:W3CDTF">2026-04-16T10:29:34Z</dcterms:modified>
</cp:coreProperties>
</file>